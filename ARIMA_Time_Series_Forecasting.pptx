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 ·  Integrated  ·  Moving Average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Residual Analysis to Python Implementation  |  AirPassengers Case Study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926080" cy="640080"/>
          </a:xfrm>
          <a:prstGeom prst="rect">
            <a:avLst/>
          </a:prstGeom>
          <a:solidFill>
            <a:srgbClr val="0A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971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ARIMA ( p , d , q 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ARIMA?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AR, I, MA — the ARIMA(p,d,q) notation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model adequacy — patterns, assumptions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68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&amp; ADF 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series stationary via differencing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77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468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&amp; PACF Plots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834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 and q parameters visually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069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search, AIC/BIC, auto-ARIMA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118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069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AirPassengers dataset — end-to-end code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ARIMA?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(AutoRegressive Integrated Moving Average) combines three statistical components to model and forecast time series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8346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 ( p 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65176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c + φ₁Yₜ₋₁ + φ₂Yₜ₋₂ + ... + φₚYₜ₋ₚ + εₜ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 depends on its own past values (lags). 'p' controls how many past values are used.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2834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6002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6002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 ( d 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331720"/>
            <a:ext cx="265176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Y'ₜ = Yₜ − Yₜ₋₁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9718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applied 'd' times to remove trend and make the series stationary.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60020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600200"/>
            <a:ext cx="28346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002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16002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 ( q 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331720"/>
            <a:ext cx="265176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c + εₜ + θ₁εₜ₋₁ + θ₂εₜ₋₂ + ... + θqεₜ₋q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29718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 depends on past forecast errors (residuals). 'q' is the number of error terms.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ARIMA(p, d, q)  →  p: AR order  |  d: differencing  |  q: MA order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are Residuals?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Observed Value − Predicted Value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reveal whether a model has adequately captured the underlying patterns of a time series.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237744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Standardized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Residual ÷ standard deviation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315468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Studentized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Residual ÷ estimated std. deviation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9319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Pearson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87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Residual ÷ √(expected variance)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Key Assumptions for Residuals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508760"/>
            <a:ext cx="3977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508760"/>
            <a:ext cx="45720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08760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Independence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18288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Residuals must not be correlated with each other. Violations occur in time-ordered or clustered data. Check via residual vs. lag plots.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624328"/>
            <a:ext cx="3977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624328"/>
            <a:ext cx="45720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24328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2670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Normality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294436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Residuals should follow a normal distribution (bell curve). Verify using histograms, QQ-plots, or the Shapiro-Wilk test.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39896"/>
            <a:ext cx="3977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739896"/>
            <a:ext cx="457200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39896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37856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Homoscedasticity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405993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Constant variance across all predicted values. Violations (heteroscedasticity) cause biased estimates. Check fan-shaped residual plots.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Random Pattern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402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 ●   ●      ●  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     ●   ● ●      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scatter randomly around zero with no trend. Model adequately captures data variability. Assumptions of linearity, independence, and constant variance are met.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352544"/>
            <a:ext cx="25603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352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6A34A"/>
                </a:solidFill>
              </a:rPr>
              <a:t>Desired outcome — model is valid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U-Shaped Pattern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2402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429000" y="15727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●●          ●●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      ●    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         ●●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curve systematically — clustering at both ends. Suggests nonlinearity in data or influential outliers. Model may be missing a quadratic or polynomial term.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352544"/>
            <a:ext cx="25603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352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2626"/>
                </a:solidFill>
              </a:rPr>
              <a:t>Consider adding higher-order terms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05840"/>
            <a:ext cx="28346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Funnel / Fan Pattern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5544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2402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0" y="15727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 ●●      ●●●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7706"/>
                </a:solidFill>
              </a:rPr>
              <a:t>     ●●●●●●●●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0175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residuals increases (or decreases) across fitted values. Indicates heteroscedasticity — non-constant variance. May need log transformation or weighted regression.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352544"/>
            <a:ext cx="25603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52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Apply log or variance-stabilizing transform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&amp; the ADF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Stationarity?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requires a stationary time series — one where statistical properties (mean, variance, autocorrelation) remain constant over 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series have trends or seasonality that distort parameter estimation.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7432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1st Order Differencing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Y'ₜ = Yₜ − Yₜ₋₁  —  Removes linear trend (d=1)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2918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64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2nd Order Differencing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Y''ₜ = Y'ₜ − Y'ₜ₋₁  —  Removes quadratic trend (d=2)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84048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130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Seasonal Differencing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Y'ₜ = Yₜ − Yₜ₋ₛ  —  Removes seasonal 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438912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Log Transformation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902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Y'ₜ = log(Yₜ)  —  Stabilizes growing variance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Augmented Dickey-Fuller (ADF) Test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1508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ADF test checks for a unit root — the statistical signature of non-stationarity.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11680"/>
            <a:ext cx="402336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57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has a unit root → Non-stationary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(Alt): 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 root → Stationary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Decision Rule: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246120"/>
            <a:ext cx="18288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p-value ≤ 0.05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Stationary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246120"/>
            <a:ext cx="182880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p-value &gt; 0.05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Difference needed 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0233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86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statsmodels.tsa.stattools import adfuller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adfuller(ts)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print('ADF Stat:', result[0])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print('p-value:', result[1])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&amp; PACF — Identifying p and 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ACF  —  Autocorrelation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Measures correlation of the series with its own lagged values.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2926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3816" y="2212848"/>
            <a:ext cx="2926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16152" y="2337206"/>
            <a:ext cx="292608" cy="49743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18488" y="2468880"/>
            <a:ext cx="2926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20824" y="2600554"/>
            <a:ext cx="292608" cy="23408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0824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23160" y="2702966"/>
            <a:ext cx="292608" cy="13167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25496" y="2798064"/>
            <a:ext cx="29260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27832" y="2834640"/>
            <a:ext cx="292608" cy="51206"/>
          </a:xfrm>
          <a:prstGeom prst="rect">
            <a:avLst/>
          </a:prstGeom>
          <a:solidFill>
            <a:srgbClr val="DC262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30168" y="2834640"/>
            <a:ext cx="29260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3566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8346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4114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→ Determines q (MA order): Look for the lag where ACF cuts off sharply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3639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statsmodels.graphics.tsaplots import plot_acf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plot_acf(ts_diff, lags=20)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611880"/>
            <a:ext cx="41148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39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statsmodels.graphics.tsaplots import plot_acf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plot_acf(ts_diff, lags=20)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297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Pattern Interpretation: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Gradual decay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AR process
</a:t>
            </a:r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Sharp cut-off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MA process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005840"/>
            <a:ext cx="41148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0058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PACF  —  Partial Autocorrelation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Measures direct correlation at each lag, removing intermediate effects.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2103120"/>
            <a:ext cx="292608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94376" y="2578608"/>
            <a:ext cx="29260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94376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96712" y="2746858"/>
            <a:ext cx="292608" cy="8778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96712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99048" y="2798064"/>
            <a:ext cx="292608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01384" y="2834640"/>
            <a:ext cx="292608" cy="29261"/>
          </a:xfrm>
          <a:prstGeom prst="rect">
            <a:avLst/>
          </a:prstGeom>
          <a:solidFill>
            <a:srgbClr val="DC262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01384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03720" y="2820010"/>
            <a:ext cx="292608" cy="1463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06056" y="2834640"/>
            <a:ext cx="292608" cy="7315"/>
          </a:xfrm>
          <a:prstGeom prst="rect">
            <a:avLst/>
          </a:prstGeom>
          <a:solidFill>
            <a:srgbClr val="DC262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06056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08392" y="2812694"/>
            <a:ext cx="292608" cy="2194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08392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110728" y="2834640"/>
            <a:ext cx="292608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10728" y="288036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2834640"/>
            <a:ext cx="3566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75320" y="28346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3200400"/>
            <a:ext cx="4114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004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→ Determines p (AR order): Look for the lag where PACF cuts off sharply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611880"/>
            <a:ext cx="411480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3639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statsmodels.graphics.tsaplots import plot_pacf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plot_pacf(ts_diff, lags=20)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892040" y="4297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Pattern Interpretation: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92040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Sharp cut-off at lag p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Use AR(p)
</a:t>
            </a:r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Gradual decay         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MA process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for ARIMA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Grid Search — Finding Optimal (p, d, q)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120640" cy="25603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4983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itertools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statsmodels.tsa.arima.model import ARIMA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d = q = range(0,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pdq = list(itertools.product(p, d, q))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best_aic, best_params = float("inf"), None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param in pdq: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ARIMA(ts, order=param)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model.fit()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results.aic &lt; best_aic: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best_aic = results.aic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best_params = param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print(f"Best ARIMA{best_params} — AIC: {best_aic:.2f}")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AIC (Akaike Information Criterion) penalizes model complexity — lower is better.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3017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1005840"/>
            <a:ext cx="3017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0058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Selection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463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AIC — Akaike Info Criterion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6642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Lower = Better; balances fit &amp; complexity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9320" y="18836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BIC — Bayesian Info Criterion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20848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Stricter penalty on # parameters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8932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RMSE — Root Mean Squared Error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Measures forecast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3017520"/>
            <a:ext cx="3017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3017520"/>
            <a:ext cx="3017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0175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auto_arima (pmdarima)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3456432"/>
            <a:ext cx="301752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3493008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pmdarima import auto_arima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auto_arima(ts,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start_p=1, start_q=1,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max_p=3, max_q=3,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d=None, seasonal=False,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stepwise=True, trace=True)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AirPassengers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The classic benchmark dataset for time series — monthly international airline passengers (1949–1960)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Monthly Observations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50876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1949–60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Time Period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196596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Seasonal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Pattern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508760"/>
            <a:ext cx="19659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5361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Growing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2084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Trend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271953"/>
            <a:ext cx="55349" cy="34576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436" y="4253430"/>
            <a:ext cx="55349" cy="36429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553" y="4210209"/>
            <a:ext cx="55349" cy="407511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669" y="4219471"/>
            <a:ext cx="55349" cy="39824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785" y="4244168"/>
            <a:ext cx="55349" cy="37355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9902" y="4200948"/>
            <a:ext cx="55349" cy="41677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018" y="4160814"/>
            <a:ext cx="55349" cy="45690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135" y="4160814"/>
            <a:ext cx="55349" cy="45690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251" y="4197860"/>
            <a:ext cx="55349" cy="419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367" y="4250343"/>
            <a:ext cx="55349" cy="36737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5484" y="4296651"/>
            <a:ext cx="55349" cy="3210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0600" y="4253430"/>
            <a:ext cx="55349" cy="36429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5716" y="4262692"/>
            <a:ext cx="55349" cy="35502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0833" y="4228732"/>
            <a:ext cx="55349" cy="38898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5949" y="4182424"/>
            <a:ext cx="55349" cy="43529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1065" y="4200948"/>
            <a:ext cx="55349" cy="41677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16182" y="4231820"/>
            <a:ext cx="55349" cy="385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81298" y="4157727"/>
            <a:ext cx="55349" cy="45999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46415" y="4092896"/>
            <a:ext cx="55349" cy="524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11531" y="4092896"/>
            <a:ext cx="55349" cy="52482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6647" y="4129942"/>
            <a:ext cx="55349" cy="48777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1764" y="4207122"/>
            <a:ext cx="55349" cy="41059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6880" y="4265779"/>
            <a:ext cx="55349" cy="351941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1996" y="4185512"/>
            <a:ext cx="55349" cy="43220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37113" y="4170076"/>
            <a:ext cx="55349" cy="44764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2229" y="4154640"/>
            <a:ext cx="55349" cy="46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7345" y="4068198"/>
            <a:ext cx="55349" cy="54952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32462" y="4114506"/>
            <a:ext cx="55349" cy="50321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97578" y="4086721"/>
            <a:ext cx="55349" cy="53099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62695" y="4068198"/>
            <a:ext cx="55349" cy="54952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27811" y="4003367"/>
            <a:ext cx="55349" cy="61435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2927" y="4003367"/>
            <a:ext cx="55349" cy="61435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58044" y="4049675"/>
            <a:ext cx="55349" cy="56804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23160" y="4117593"/>
            <a:ext cx="55349" cy="50012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8276" y="4166988"/>
            <a:ext cx="55349" cy="45073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3393" y="4105244"/>
            <a:ext cx="55349" cy="51247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18509" y="4089808"/>
            <a:ext cx="55349" cy="527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83625" y="4062024"/>
            <a:ext cx="55349" cy="55569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8742" y="4021890"/>
            <a:ext cx="55349" cy="59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13858" y="4058936"/>
            <a:ext cx="55349" cy="55878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78975" y="4052762"/>
            <a:ext cx="55349" cy="56495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44091" y="3944710"/>
            <a:ext cx="55349" cy="67301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09207" y="3907663"/>
            <a:ext cx="55349" cy="71005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74324" y="3870617"/>
            <a:ext cx="55349" cy="74710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39440" y="3972495"/>
            <a:ext cx="55349" cy="64522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4556" y="4028064"/>
            <a:ext cx="55349" cy="58965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69673" y="4086721"/>
            <a:ext cx="55349" cy="53099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34789" y="4018803"/>
            <a:ext cx="55349" cy="59891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99905" y="4012628"/>
            <a:ext cx="55349" cy="60509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65022" y="4012628"/>
            <a:ext cx="55349" cy="60509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30138" y="3889140"/>
            <a:ext cx="55349" cy="72858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95255" y="3892227"/>
            <a:ext cx="55349" cy="72549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60371" y="3910751"/>
            <a:ext cx="55349" cy="7069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25487" y="3867530"/>
            <a:ext cx="55349" cy="75019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90604" y="3802699"/>
            <a:ext cx="55349" cy="815021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55720" y="3778001"/>
            <a:ext cx="55349" cy="83971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20836" y="3886053"/>
            <a:ext cx="55349" cy="73166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85953" y="3966320"/>
            <a:ext cx="55349" cy="651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051069" y="4062024"/>
            <a:ext cx="55349" cy="55569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6185" y="3997192"/>
            <a:ext cx="55349" cy="62052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81302" y="3987931"/>
            <a:ext cx="55349" cy="62978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46418" y="4037326"/>
            <a:ext cx="55349" cy="58039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11535" y="3892227"/>
            <a:ext cx="55349" cy="72549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76651" y="3916925"/>
            <a:ext cx="55349" cy="70079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41767" y="3895315"/>
            <a:ext cx="55349" cy="72240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06884" y="3802699"/>
            <a:ext cx="55349" cy="815021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0" y="3685385"/>
            <a:ext cx="55349" cy="93233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37116" y="3713170"/>
            <a:ext cx="55349" cy="90455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02233" y="3818135"/>
            <a:ext cx="55349" cy="79958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67349" y="3910751"/>
            <a:ext cx="55349" cy="7069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32465" y="3991018"/>
            <a:ext cx="55349" cy="62670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7582" y="3910751"/>
            <a:ext cx="55349" cy="7069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962698" y="3870617"/>
            <a:ext cx="55349" cy="74710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27815" y="3898402"/>
            <a:ext cx="55349" cy="71931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92931" y="3793437"/>
            <a:ext cx="55349" cy="82428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158047" y="3787263"/>
            <a:ext cx="55349" cy="83045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23164" y="3784175"/>
            <a:ext cx="55349" cy="83354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288280" y="3645251"/>
            <a:ext cx="55349" cy="9724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53396" y="3493978"/>
            <a:ext cx="55349" cy="112374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18513" y="3546461"/>
            <a:ext cx="55349" cy="107125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83629" y="3654513"/>
            <a:ext cx="55349" cy="96320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548745" y="3771826"/>
            <a:ext cx="55349" cy="84589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13862" y="3886053"/>
            <a:ext cx="55349" cy="73166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78978" y="3759478"/>
            <a:ext cx="55349" cy="85824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44095" y="3740954"/>
            <a:ext cx="55349" cy="87676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09211" y="3762565"/>
            <a:ext cx="55349" cy="85515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74327" y="3639077"/>
            <a:ext cx="55349" cy="97864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39444" y="3651426"/>
            <a:ext cx="55349" cy="96629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04560" y="3635990"/>
            <a:ext cx="55349" cy="98173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69676" y="3463106"/>
            <a:ext cx="55349" cy="115461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134793" y="3342705"/>
            <a:ext cx="55349" cy="127501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199909" y="3367403"/>
            <a:ext cx="55349" cy="125031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65025" y="3521763"/>
            <a:ext cx="55349" cy="109595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330142" y="3673036"/>
            <a:ext cx="55349" cy="94468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395258" y="3781088"/>
            <a:ext cx="55349" cy="83663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60375" y="3673036"/>
            <a:ext cx="55349" cy="94468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25491" y="3645251"/>
            <a:ext cx="55349" cy="97246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90607" y="3688472"/>
            <a:ext cx="55349" cy="929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655724" y="3518676"/>
            <a:ext cx="55349" cy="109904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720840" y="3543374"/>
            <a:ext cx="55349" cy="107434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785956" y="3521763"/>
            <a:ext cx="55349" cy="109595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51073" y="3314921"/>
            <a:ext cx="55349" cy="130279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916189" y="3182171"/>
            <a:ext cx="55349" cy="143554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81305" y="3175996"/>
            <a:ext cx="55349" cy="144172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46422" y="3358141"/>
            <a:ext cx="55349" cy="125957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111538" y="3509414"/>
            <a:ext cx="55349" cy="110830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176655" y="3660687"/>
            <a:ext cx="55349" cy="95703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41771" y="3577333"/>
            <a:ext cx="55349" cy="104038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306887" y="3506327"/>
            <a:ext cx="55349" cy="111139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72004" y="3561897"/>
            <a:ext cx="55349" cy="105582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37120" y="3364316"/>
            <a:ext cx="55349" cy="1253404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502236" y="3395188"/>
            <a:ext cx="55349" cy="122253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67353" y="3321095"/>
            <a:ext cx="55349" cy="129662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32469" y="3160560"/>
            <a:ext cx="55349" cy="1457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697585" y="2925933"/>
            <a:ext cx="55349" cy="169178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762702" y="2891974"/>
            <a:ext cx="55349" cy="172574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827818" y="3188345"/>
            <a:ext cx="55349" cy="142937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92935" y="3361229"/>
            <a:ext cx="55349" cy="1256491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958051" y="3500153"/>
            <a:ext cx="55349" cy="111756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023167" y="3367403"/>
            <a:ext cx="55349" cy="1250317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088284" y="3330357"/>
            <a:ext cx="55349" cy="128736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53400" y="3410624"/>
            <a:ext cx="55349" cy="1207096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218516" y="3324182"/>
            <a:ext cx="55349" cy="1293538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283633" y="3194520"/>
            <a:ext cx="55349" cy="1423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48749" y="3160560"/>
            <a:ext cx="55349" cy="1457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413865" y="2966067"/>
            <a:ext cx="55349" cy="1651653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78982" y="2697480"/>
            <a:ext cx="55349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44098" y="2746875"/>
            <a:ext cx="55349" cy="1870845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609215" y="3049421"/>
            <a:ext cx="55349" cy="156829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674331" y="3194520"/>
            <a:ext cx="55349" cy="1423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739447" y="3413711"/>
            <a:ext cx="55349" cy="1204009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804564" y="3284048"/>
            <a:ext cx="55349" cy="1333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Monthly Airline Passengers (1949–1960)  — Clear upward trend and seasonal spikes visible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Steps 1–3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 Libraries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statsmodels.tsa.arima.model import ARIMA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statsmodels.tsa.stattools import adfuller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statsmodels.graphics.tsaplots import plot_acf, plot_pacf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warnings, itertools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warnings.filterwarnings('ignore')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88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&amp; Explore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AirPassengers dataset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pd.read_csv('AirPassengers.csv',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index_col='Month',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parse_dates=True)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df['#Passengers']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the raw time series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ts.plot(title='Monthly Airline Passengers')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788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Stationarity Check (ADF)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adfuller(ts)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print(f'ADF Statistic: {result[0]:.4f}')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print(f'p-value:       {result[1]:.4f}')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p-value &gt; 0.05 → apply differencing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ts_diff = ts.diff().dropna()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Re-test after differencing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adfuller(ts_diff)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print(f'After diff — p-value: {result2[1]:.4f}')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Steps 4–6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ACF &amp; PACF Plots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figsize=(10, 6))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ACF → determines 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plot_acf(ts_diff, lags=30, ax=axes[0])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axes[0].set_title('ACF — MA order (q)')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PACF → determines p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plot_pacf(ts_diff, lags=30, ax=axes[1])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axes[1].set_title('PACF — AR order (p)')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88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Fit ARIMA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Based on ACF/PACF: ARIMA(2,1,2)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ARIMA(ts, order=(2, 1, 2))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model.fit()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model summary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print(results.summary())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Residual diagnostics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 = results.resid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residuals.plot(title='Residuals')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residual ACF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plot_acf(residuals)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7889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Step 06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0058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Forecast &amp; Evaluate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44752"/>
            <a:ext cx="2788920" cy="34930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508760"/>
            <a:ext cx="263347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Forecast 24 months ahead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= results.get_forecast(steps=24)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mean_forecast = forecast.predicted_mean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conf_int = forecast.conf_int()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results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5))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ts.plot(label='Historical')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mean_forecast.plot(label='Forecast',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color='red')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plt.fill_between(conf_int.index,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conf_int.iloc[:, 0],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conf_int.iloc[:, 1],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color='pink', alpha=0.3)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to SARIMA &amp; SARIMAX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AirPassengers dataset has strong seasonality (period=12). ARIMA alone is insufficient — we need SARIMA.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SARIMA  (p, d, q)  ×  (P, D, Q)ₛ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p,d,q: Non-seasonal  |  P,D,Q: Seasonal  |  s: Seasonal period (12 for monthly)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502920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23160"/>
            <a:ext cx="4754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statsmodels.tsa.statespace.sarimax import SARIMAX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SARIMA(1,1,1)(1,1,1,12)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SARIMAX(ts,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order=(1, 1, 1),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seasonal_order=(1, 1, 1, 12))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model.fit(disp=False)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print(results.summary())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24-month forecast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= results.get_forecast(steps=24)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mean_fc = forecast.predicted_mean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= forecast.conf_int()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2331720"/>
            <a:ext cx="3291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331720"/>
            <a:ext cx="3291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331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Seasonal Parameters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816352"/>
            <a:ext cx="411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163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8712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Seasonal AR order — lags from same season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319272"/>
            <a:ext cx="411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3192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374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Seasonal differencing — removes seasonality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822192"/>
            <a:ext cx="411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8221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Seasonal MA order — seasonal error terms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325112"/>
            <a:ext cx="411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3251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4379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Season length (12=monthly, 4=quarterly)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</a:rPr>
              <a:t>Tip: For AirPassengers → SARIMA(2,1,1)(0,1,1,12) is often cited as optimal. Use AIC to compare candidates.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051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ARIMA = AR + I + MA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35331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Three components capture past values, trends via differencing, and error corrections.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21808" y="1051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Stationarity is Required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1808" y="135331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Apply ADF test; use differencing (d) until p-value ≤ 0.05.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5740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574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2148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ACF → q,  PACF → 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" y="2450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Sharp cut-off in PACF gives p; sharp cut-off in ACF gives q.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574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2148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Residuals Must Be White Noise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2450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Random, normal, independent residuals confirm a well-fitted model.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5468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5468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1546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6968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Use AIC for Model Selection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" y="35478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Grid search over (p,d,q) combinations and select the lowest AIC.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41605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54680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546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Seasonal Data → SARIMA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21808" y="35478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Extend with seasonal order (P,D,Q,s) for patterns like AirPassengers.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ARIMA: The Foundation of Classical Time Series Forecasting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ARIMA Time Series Forecasting</dc:title>
  <dc:subject>PptxGenJS Presentation</dc:subject>
  <dc:creator>PptxGenJS</dc:creator>
  <cp:lastModifiedBy>PptxGenJS</cp:lastModifiedBy>
  <cp:revision>1</cp:revision>
  <dcterms:created xsi:type="dcterms:W3CDTF">2026-04-06T08:08:27Z</dcterms:created>
  <dcterms:modified xsi:type="dcterms:W3CDTF">2026-04-06T08:08:27Z</dcterms:modified>
</cp:coreProperties>
</file>