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7" r:id="rId3"/>
    <p:sldId id="288" r:id="rId4"/>
    <p:sldId id="289" r:id="rId5"/>
    <p:sldId id="290" r:id="rId6"/>
    <p:sldId id="291" r:id="rId7"/>
    <p:sldId id="298" r:id="rId8"/>
    <p:sldId id="299" r:id="rId9"/>
    <p:sldId id="300" r:id="rId10"/>
    <p:sldId id="301" r:id="rId11"/>
    <p:sldId id="302" r:id="rId12"/>
    <p:sldId id="303" r:id="rId13"/>
    <p:sldId id="294" r:id="rId14"/>
    <p:sldId id="295" r:id="rId15"/>
    <p:sldId id="292" r:id="rId16"/>
    <p:sldId id="304" r:id="rId17"/>
    <p:sldId id="305" r:id="rId18"/>
    <p:sldId id="306" r:id="rId19"/>
    <p:sldId id="307" r:id="rId20"/>
    <p:sldId id="293" r:id="rId21"/>
    <p:sldId id="296" r:id="rId22"/>
    <p:sldId id="29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CD68-BB23-45A4-855E-932F86CDE7A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D68A-C182-4116-9CBB-20949B26B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1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D68A-C182-4116-9CBB-20949B26BB4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50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</a:rPr>
              <a:t>Lecture 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2F54-F51E-B9BD-ABA7-245D2DFC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Bivariate Analysis?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0DC75-F9FF-2D0D-6154-0B8A0DEC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refers to the statistical analysis of two variables to determine the relationship between them.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one variable influences another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correlation or association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patterns and trends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relationships: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vs Spending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hours vs Marks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 budget vs Sales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5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42FC-CCEA-6586-C741-16340407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Bivariate Relationships: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AF91DC-46C2-7631-C4A4-1851E903A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647788"/>
              </p:ext>
            </p:extLst>
          </p:nvPr>
        </p:nvGraphicFramePr>
        <p:xfrm>
          <a:off x="838200" y="1965960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914330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23127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9433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Variable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252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 vs 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 vs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Scatter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538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Categorical vs 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Gender vs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Box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5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Categorical vs 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Gender vs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Bar Plot / Cross Tab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551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23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0471-7688-96BC-DF1B-5B741FBD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(Numerical vs Numerical):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E2AC-3FC1-2406-AFB2-8E5E8E49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shows relationship between two numerical variables.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Study Hours vs Marks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EC996-FDA8-AB80-2D4A-FCC459A6F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66" y="3124871"/>
            <a:ext cx="4020111" cy="1752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B7B54-FED5-3AB0-A48C-9E7CCA0BD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068" y="3595425"/>
            <a:ext cx="1914792" cy="1047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3D2450-6F86-3597-2DF9-7C4BBE7BDA68}"/>
              </a:ext>
            </a:extLst>
          </p:cNvPr>
          <p:cNvSpPr txBox="1"/>
          <p:nvPr/>
        </p:nvSpPr>
        <p:spPr>
          <a:xfrm>
            <a:off x="7963342" y="2998823"/>
            <a:ext cx="4020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information about: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47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8A34-59C3-546F-FC6E-ECADA563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Using Seaborn: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131F5E-D07D-87E0-C9F6-D6BB4B200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549" y="2323799"/>
            <a:ext cx="4848902" cy="1333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89B54B-F005-E9D7-A348-8D315426620C}"/>
              </a:ext>
            </a:extLst>
          </p:cNvPr>
          <p:cNvSpPr txBox="1"/>
          <p:nvPr/>
        </p:nvSpPr>
        <p:spPr>
          <a:xfrm>
            <a:off x="1203158" y="4094292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Better visualization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Additional statistical features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6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9A95-1B14-BC1E-DF94-48CF3E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Plot (Trend Analysis):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64A1-0E4F-AD7E-19AB-962657600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plot is useful for showing trends between two variables.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Sales over time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15FAD-5E30-DEDF-B623-EC8EB5C3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03" y="3250883"/>
            <a:ext cx="336279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8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5DFE-E486-D97D-DB49-388EF5F1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 (Categorical vs Numerical):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F40A-FA35-CEE6-1892-1EEDB5C6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Violin Plot is used to visualize the distribution of a numerical variable across different categories.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features of: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Density Estimation (KDE)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violin shape represents the probability density of the data.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plots help to: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distributions across categories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multimodal distributions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spread and density of data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4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2A0E-2678-E666-D291-94DF8663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a Violin Plot: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1E6E8-9D89-398A-E401-C24218E60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violin plot displays: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of the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Interquartile range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distribution of the variable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section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Higher data density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section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Lower data density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7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9E4DA3-18DC-45B3-503A-11B420828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0943" y="1068620"/>
            <a:ext cx="5830114" cy="2667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1220EC-879F-9213-6AD6-F4751DFB2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416" y="4104960"/>
            <a:ext cx="729716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8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2294D1-C129-939A-188F-EF6334E6B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117" y="1009312"/>
            <a:ext cx="5191850" cy="2419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423938-DBDB-40C8-C4B7-E0D28CF302CE}"/>
              </a:ext>
            </a:extLst>
          </p:cNvPr>
          <p:cNvSpPr txBox="1"/>
          <p:nvPr/>
        </p:nvSpPr>
        <p:spPr>
          <a:xfrm>
            <a:off x="5506453" y="332921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violin plot we can observe: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salary for each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salary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of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of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outliers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violin is wider → more observations in that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distributions differ → categories have different data patterns</a:t>
            </a:r>
          </a:p>
        </p:txBody>
      </p:sp>
    </p:spTree>
    <p:extLst>
      <p:ext uri="{BB962C8B-B14F-4D97-AF65-F5344CB8AC3E}">
        <p14:creationId xmlns:p14="http://schemas.microsoft.com/office/powerpoint/2010/main" val="191019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07F5-5944-A87C-BC69-C388B387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 vs Box Plot: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A8FF2C-CC1F-B6C9-A593-4E280F223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28215"/>
              </p:ext>
            </p:extLst>
          </p:nvPr>
        </p:nvGraphicFramePr>
        <p:xfrm>
          <a:off x="838200" y="1996031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365277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605837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63277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Box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Violin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088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06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quartiles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6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density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075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distribution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Detailed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84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96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0385-6335-03F6-61A5-C83B9E66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Violin Plot: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3AEB-F4BB-93E2-CFB1-27F07688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full data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box plot and density plot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comparing multiple categories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multimodal distributions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526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0FEF-E04A-E3C7-B2C6-F3FEE21D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(Categorical vs Numerical):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83E66-07F4-C474-9B33-B75F3E63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compares distribution of numerical values across categories.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Salary by Gender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31DF9-49D5-F971-3B91-50DAA07DC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43" y="3027947"/>
            <a:ext cx="5106113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0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6AC2-85A2-704A-699F-CC85DAD5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 (Categorical vs Numerical):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D4CE-0733-8D43-5FEE-6AE38F77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 shows average values across categories.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by department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A3A5F-F309-15E3-2747-145C0BF1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33" y="3215372"/>
            <a:ext cx="5620534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6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56FAB-43A8-7CA5-2166-14C795D7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CEC67-5C2B-9918-1A1C-E04788E72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87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measures strength of relationship between variables.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of correlation coefficient: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C6389-EF73-2168-A53E-A3214A92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01" y="2510723"/>
            <a:ext cx="5239481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E187E-11A0-58AE-DDCA-97E138F0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024" y="4581002"/>
            <a:ext cx="4001058" cy="504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23704-6F67-EE7D-211C-CB8AAE9A1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207" y="4581002"/>
            <a:ext cx="1114581" cy="390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0ECE60-BB50-FE37-5A8B-C515B6F66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259" y="5537031"/>
            <a:ext cx="5239481" cy="981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0C3842-E4C0-FD59-53D9-95C484BA2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2135" y="2675758"/>
            <a:ext cx="393437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65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4567-888F-83BB-F052-503B619C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correlation between study hours and marks.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E18F74-1456-21FD-3F4C-B850FAA38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407878"/>
              </p:ext>
            </p:extLst>
          </p:nvPr>
        </p:nvGraphicFramePr>
        <p:xfrm>
          <a:off x="838200" y="1890223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438676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36266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Hours 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79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85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74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90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342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134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98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10C6E8-A8BF-0C41-2AA2-80DDF3EA6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652225"/>
              </p:ext>
            </p:extLst>
          </p:nvPr>
        </p:nvGraphicFramePr>
        <p:xfrm>
          <a:off x="838200" y="1055335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2449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199229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99969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63729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6814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77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72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145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4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558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8894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190853-4FB1-90B4-DAEF-FB6CF4AD3194}"/>
                  </a:ext>
                </a:extLst>
              </p:cNvPr>
              <p:cNvSpPr txBox="1"/>
              <p:nvPr/>
            </p:nvSpPr>
            <p:spPr>
              <a:xfrm>
                <a:off x="931794" y="3334697"/>
                <a:ext cx="6097656" cy="3329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∑X=15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nary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245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12575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ar-AE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810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190853-4FB1-90B4-DAEF-FB6CF4AD3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94" y="3334697"/>
                <a:ext cx="6097656" cy="3329373"/>
              </a:xfrm>
              <a:prstGeom prst="rect">
                <a:avLst/>
              </a:prstGeom>
              <a:blipFill>
                <a:blip r:embed="rId2"/>
                <a:stretch>
                  <a:fillRect l="-900" t="-9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71339A-648B-1D3A-6457-9B6DBC6EF817}"/>
                  </a:ext>
                </a:extLst>
              </p:cNvPr>
              <p:cNvSpPr txBox="1"/>
              <p:nvPr/>
            </p:nvSpPr>
            <p:spPr>
              <a:xfrm>
                <a:off x="5752271" y="3513987"/>
                <a:ext cx="60976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Numerator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810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245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4050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3675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71339A-648B-1D3A-6457-9B6DBC6EF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71" y="3513987"/>
                <a:ext cx="6097656" cy="923330"/>
              </a:xfrm>
              <a:prstGeom prst="rect">
                <a:avLst/>
              </a:prstGeom>
              <a:blipFill>
                <a:blip r:embed="rId3"/>
                <a:stretch>
                  <a:fillRect l="-900" t="-3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939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124B4A-E2CB-7F23-2D9C-EC5662058DE2}"/>
                  </a:ext>
                </a:extLst>
              </p:cNvPr>
              <p:cNvSpPr txBox="1"/>
              <p:nvPr/>
            </p:nvSpPr>
            <p:spPr>
              <a:xfrm>
                <a:off x="1749287" y="1490871"/>
                <a:ext cx="7397197" cy="2384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Denominator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part: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55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275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part: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12575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245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62875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60025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2850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2850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142500</m:t>
                          </m:r>
                        </m:e>
                      </m:ra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142500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377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124B4A-E2CB-7F23-2D9C-EC566205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87" y="1490871"/>
                <a:ext cx="7397197" cy="2384755"/>
              </a:xfrm>
              <a:prstGeom prst="rect">
                <a:avLst/>
              </a:prstGeom>
              <a:blipFill>
                <a:blip r:embed="rId2"/>
                <a:stretch>
                  <a:fillRect l="-742" t="-15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56A1D4B-8470-141D-F5FC-27986455C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130" y="4128706"/>
            <a:ext cx="153373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9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0771-1675-98D9-D6EF-BC793E93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Correlation: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54038A-BFD1-7F3B-41A0-56464E213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10327"/>
              </p:ext>
            </p:extLst>
          </p:nvPr>
        </p:nvGraphicFramePr>
        <p:xfrm>
          <a:off x="838200" y="1800771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311180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2162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358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099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798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418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9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425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6913-9EE0-81F1-0BBC-20409205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for Correlation: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05CD-3644-B598-912D-DD561C504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visualizes correlation between multiple variables.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45177-E8A5-64E5-AC35-81F3E7323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286" y="2685946"/>
            <a:ext cx="3953427" cy="1486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27FF5-1086-F03F-D138-B419DA7EE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154" y="4710223"/>
            <a:ext cx="3505689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9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2E0A-5284-0406-BABD-48425149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Bivariate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B7290-DBBA-1BD0-DC68-CAB8B2F7B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relationships between variables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correlations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patterns and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feature selection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predictive modeling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57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27B0-30CA-D73A-7F63-385E2DC6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Bivariate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5DF6B-4591-C2EB-F317-F6188162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is used in: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forecasting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feature selection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880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606</Words>
  <Application>Microsoft Office PowerPoint</Application>
  <PresentationFormat>Widescreen</PresentationFormat>
  <Paragraphs>180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Office Theme</vt:lpstr>
      <vt:lpstr>UNIT-3</vt:lpstr>
      <vt:lpstr>What is Bivariate Analysis?</vt:lpstr>
      <vt:lpstr>Types of Bivariate Relationships:</vt:lpstr>
      <vt:lpstr>Scatter Plot (Numerical vs Numerical):</vt:lpstr>
      <vt:lpstr>Scatter Plot Using Seaborn:</vt:lpstr>
      <vt:lpstr>Line Plot (Trend Analysis):</vt:lpstr>
      <vt:lpstr>Violin Plot (Categorical vs Numerical):</vt:lpstr>
      <vt:lpstr>Structure of a Violin Plot:</vt:lpstr>
      <vt:lpstr>PowerPoint Presentation</vt:lpstr>
      <vt:lpstr>PowerPoint Presentation</vt:lpstr>
      <vt:lpstr>Violin Plot vs Box Plot:</vt:lpstr>
      <vt:lpstr>Advantages of Violin Plot:</vt:lpstr>
      <vt:lpstr>Box Plot (Categorical vs Numerical):</vt:lpstr>
      <vt:lpstr>Bar Plot (Categorical vs Numerical):</vt:lpstr>
      <vt:lpstr>Correlation Analysis:</vt:lpstr>
      <vt:lpstr>Find the correlation between study hours and marks.</vt:lpstr>
      <vt:lpstr>PowerPoint Presentation</vt:lpstr>
      <vt:lpstr>PowerPoint Presentation</vt:lpstr>
      <vt:lpstr>Find Correlation:</vt:lpstr>
      <vt:lpstr>Heatmap for Correlation:</vt:lpstr>
      <vt:lpstr>Advantages of Bivariate Analysis:</vt:lpstr>
      <vt:lpstr>Applications of Bivariate Analysis: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144</cp:revision>
  <dcterms:created xsi:type="dcterms:W3CDTF">2026-02-03T03:25:19Z</dcterms:created>
  <dcterms:modified xsi:type="dcterms:W3CDTF">2026-03-10T03:28:03Z</dcterms:modified>
</cp:coreProperties>
</file>