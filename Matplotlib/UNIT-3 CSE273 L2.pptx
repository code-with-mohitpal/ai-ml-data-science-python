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76" r:id="rId5"/>
    <p:sldId id="279" r:id="rId6"/>
    <p:sldId id="280" r:id="rId7"/>
    <p:sldId id="281" r:id="rId8"/>
    <p:sldId id="286" r:id="rId9"/>
    <p:sldId id="282" r:id="rId10"/>
    <p:sldId id="290" r:id="rId11"/>
    <p:sldId id="291" r:id="rId12"/>
    <p:sldId id="292" r:id="rId13"/>
    <p:sldId id="293" r:id="rId14"/>
    <p:sldId id="287" r:id="rId15"/>
    <p:sldId id="288" r:id="rId16"/>
    <p:sldId id="289" r:id="rId17"/>
    <p:sldId id="283" r:id="rId18"/>
    <p:sldId id="284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CD68-BB23-45A4-855E-932F86CDE7A0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D68A-C182-4116-9CBB-20949B26B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1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</a:rPr>
              <a:t>Lecture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0179-DBC9-BFB5-BBB6-E85FE5E2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6957-C585-01C2-EE2C-53BC4584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4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means analyzing one variable at a time.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frequency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patterns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count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11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F29A-6A4D-6C4B-8743-6B87CC0F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Plots in Univariate Analysis: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4EA4-3CAA-65F4-A6FE-488ADF79C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numerical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categorical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36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51BD-6D71-281C-B176-ED7219D9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Histogram?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9CCB-ABA4-C4CD-8E99-67C009D7F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shows the distribution of numerical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data into bins and shows frequency.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0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F45C-0324-1793-E9C7-03569C62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Matplotlib: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0E2D6BF-1DD2-3A9C-A1BE-B8E236821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82847" cy="3041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88E1A8-02AD-702D-718F-2830632B2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713" y="2679396"/>
            <a:ext cx="5126737" cy="10637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898646-ED35-E7D9-357E-DFADB555A0DD}"/>
              </a:ext>
            </a:extLst>
          </p:cNvPr>
          <p:cNvSpPr txBox="1"/>
          <p:nvPr/>
        </p:nvSpPr>
        <p:spPr>
          <a:xfrm>
            <a:off x="2674012" y="4815534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histogram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→ normal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skewed → high values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skewed → low values present</a:t>
            </a:r>
          </a:p>
        </p:txBody>
      </p:sp>
    </p:spTree>
    <p:extLst>
      <p:ext uri="{BB962C8B-B14F-4D97-AF65-F5344CB8AC3E}">
        <p14:creationId xmlns:p14="http://schemas.microsoft.com/office/powerpoint/2010/main" val="205662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2D4D-3B44-B450-6624-5E7BC30F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Using Seaborn: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F8413-7A21-6D39-3165-AC5564BD1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5312" y="1690688"/>
            <a:ext cx="5201376" cy="1695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040BEB-FB6E-374F-0602-22E875F5EF37}"/>
              </a:ext>
            </a:extLst>
          </p:cNvPr>
          <p:cNvSpPr txBox="1"/>
          <p:nvPr/>
        </p:nvSpPr>
        <p:spPr>
          <a:xfrm>
            <a:off x="838200" y="3788608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visualization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Density Estimation (KDE)</a:t>
            </a:r>
          </a:p>
        </p:txBody>
      </p:sp>
    </p:spTree>
    <p:extLst>
      <p:ext uri="{BB962C8B-B14F-4D97-AF65-F5344CB8AC3E}">
        <p14:creationId xmlns:p14="http://schemas.microsoft.com/office/powerpoint/2010/main" val="157386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32F0-2004-755F-927D-E68BD04C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(Outlier Detection):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C37E3-EFB3-EF5C-8F8E-8BD36AD76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visualizes: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Quartiles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BA8C9-4659-0926-F310-2AD38DC9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722" y="4160068"/>
            <a:ext cx="571579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2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8109-1481-D1D6-A755-96CB259B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Univariate Analysis: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B2D6E-EF7B-7084-8629-6F948A64A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interpret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variable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outliers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data cleaning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data for further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35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075A-650C-DEFB-FC07-114EF503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Using Seaborn: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91F519-FF23-52EE-C601-26FBF9267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180" y="1690688"/>
            <a:ext cx="5477639" cy="1448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966DC-AA80-B85C-D79B-7715C4BACFF6}"/>
              </a:ext>
            </a:extLst>
          </p:cNvPr>
          <p:cNvSpPr txBox="1"/>
          <p:nvPr/>
        </p:nvSpPr>
        <p:spPr>
          <a:xfrm>
            <a:off x="1331494" y="3429000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components: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(25%)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(75%)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</p:txBody>
      </p:sp>
    </p:spTree>
    <p:extLst>
      <p:ext uri="{BB962C8B-B14F-4D97-AF65-F5344CB8AC3E}">
        <p14:creationId xmlns:p14="http://schemas.microsoft.com/office/powerpoint/2010/main" val="419808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4FA2-1572-DACE-7F36-8819E83E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30A0-9CF8-57D3-9B00-83CA9554C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dataset: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2, 4, 5, 6, 8, 9, 10, 12, 30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93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E7474A-272E-2ABB-79D0-D52AEA89A3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021" y="1122947"/>
                <a:ext cx="10583779" cy="50540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Arrange Data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2, 4, 5, 6, 8, 9, 10, 12, 30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Median (Q2)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values = 9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 position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9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E7474A-272E-2ABB-79D0-D52AEA89A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021" y="1122947"/>
                <a:ext cx="10583779" cy="5054016"/>
              </a:xfrm>
              <a:blipFill>
                <a:blip r:embed="rId2"/>
                <a:stretch>
                  <a:fillRect l="-1151" t="-2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66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086BA-AC92-117B-3E9A-EBEC6FA48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7530" y="1398242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First Quartile (Q1)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half: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2, 4, 5, 6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  <m:r>
                      <a:rPr lang="en-IN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Third Quartile (Q3)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 half: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9, 10, 12, 30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10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12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11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086BA-AC92-117B-3E9A-EBEC6FA48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530" y="1398242"/>
                <a:ext cx="10515600" cy="4351338"/>
              </a:xfrm>
              <a:blipFill>
                <a:blip r:embed="rId2"/>
                <a:stretch>
                  <a:fillRect l="-1159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20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F751E-45CC-96F7-F11D-18225AE18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8382" y="1398243"/>
                <a:ext cx="652512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Interquartile Range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𝐼𝑄𝑅</m:t>
                    </m:r>
                    <m:r>
                      <a:rPr lang="en-IN"/>
                      <m:t>=</m:t>
                    </m:r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−</m:t>
                    </m:r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/>
                      <m:t>𝐼𝑄𝑅</m:t>
                    </m:r>
                    <m:r>
                      <a:rPr lang="en-IN"/>
                      <m:t>=</m:t>
                    </m:r>
                    <m:r>
                      <a:rPr lang="en-IN"/>
                      <m:t>11</m:t>
                    </m:r>
                    <m:r>
                      <a:rPr lang="en-IN"/>
                      <m:t>−</m:t>
                    </m:r>
                    <m:r>
                      <a:rPr lang="en-IN"/>
                      <m:t>4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r>
                      <a:rPr lang="en-IN"/>
                      <m:t>=</m:t>
                    </m:r>
                    <m:r>
                      <a:rPr lang="en-IN"/>
                      <m:t>6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6: Outlier Limits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limit: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  <m:r>
                      <a:rPr lang="en-IN"/>
                      <m:t>−</m:t>
                    </m:r>
                    <m:r>
                      <a:rPr lang="en-IN"/>
                      <m:t>1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𝐼𝑄𝑅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  <m:r>
                      <a:rPr lang="ar-AE"/>
                      <m:t>−</m:t>
                    </m:r>
                    <m:r>
                      <a:rPr lang="ar-AE"/>
                      <m:t>9</m:t>
                    </m:r>
                    <m:r>
                      <a:rPr lang="ar-AE"/>
                      <m:t>.</m:t>
                    </m:r>
                    <m:r>
                      <a:rPr lang="ar-AE"/>
                      <m:t>75</m:t>
                    </m:r>
                    <m:r>
                      <a:rPr lang="ar-AE"/>
                      <m:t>=−</m:t>
                    </m:r>
                    <m:r>
                      <a:rPr lang="ar-AE"/>
                      <m:t>5</m:t>
                    </m:r>
                    <m:r>
                      <a:rPr lang="ar-AE"/>
                      <m:t>.</m:t>
                    </m:r>
                    <m:r>
                      <a:rPr lang="ar-AE"/>
                      <m:t>25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 limit: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+</m:t>
                    </m:r>
                    <m:r>
                      <a:rPr lang="en-IN"/>
                      <m:t>1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𝐼𝑄𝑅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11</m:t>
                    </m:r>
                    <m:r>
                      <a:rPr lang="ar-AE"/>
                      <m:t>+</m:t>
                    </m:r>
                    <m:r>
                      <a:rPr lang="ar-AE"/>
                      <m:t>9</m:t>
                    </m:r>
                    <m:r>
                      <a:rPr lang="ar-AE"/>
                      <m:t>.</m:t>
                    </m:r>
                    <m:r>
                      <a:rPr lang="ar-AE"/>
                      <m:t>75</m:t>
                    </m:r>
                    <m:r>
                      <a:rPr lang="ar-AE"/>
                      <m:t>=</m:t>
                    </m:r>
                    <m:r>
                      <a:rPr lang="ar-AE"/>
                      <m:t>20</m:t>
                    </m:r>
                    <m:r>
                      <a:rPr lang="ar-AE"/>
                      <m:t>.</m:t>
                    </m:r>
                    <m:r>
                      <a:rPr lang="ar-AE"/>
                      <m:t>75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F751E-45CC-96F7-F11D-18225AE18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8382" y="1398243"/>
                <a:ext cx="6525126" cy="4351338"/>
              </a:xfrm>
              <a:blipFill>
                <a:blip r:embed="rId2"/>
                <a:stretch>
                  <a:fillRect l="-196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CCB51E1-1BED-4C36-44D7-0AB6C23EBEE9}"/>
              </a:ext>
            </a:extLst>
          </p:cNvPr>
          <p:cNvSpPr txBox="1"/>
          <p:nvPr/>
        </p:nvSpPr>
        <p:spPr>
          <a:xfrm>
            <a:off x="6932455" y="253995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greater than 20.75 are outliers.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value 30 &gt; 20.75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is an outlier</a:t>
            </a:r>
          </a:p>
        </p:txBody>
      </p:sp>
    </p:spTree>
    <p:extLst>
      <p:ext uri="{BB962C8B-B14F-4D97-AF65-F5344CB8AC3E}">
        <p14:creationId xmlns:p14="http://schemas.microsoft.com/office/powerpoint/2010/main" val="173733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C66D-1724-DB50-8953-DFDA17C0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3D49-BCC5-CDC5-34D3-E5E87E398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data: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5, 7, 8, 12, 13, 14, 18, 21, 23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469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EA695-8538-6270-AC5D-63E38FFA9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53" y="1042737"/>
                <a:ext cx="10647947" cy="51342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Arrange Data (Ascending)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Already sorted: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5, 7, 8, 12, 13, 14, 18, 21, 23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Find Median (Q2)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values = 9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 position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𝑛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9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Find First Quartile (Q1)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half = 5, 7, 8, 12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 = Median of lower half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7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8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7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EA695-8538-6270-AC5D-63E38FFA9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53" y="1042737"/>
                <a:ext cx="10647947" cy="5134226"/>
              </a:xfrm>
              <a:blipFill>
                <a:blip r:embed="rId2"/>
                <a:stretch>
                  <a:fillRect l="-1202" t="-28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710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A3CDF-98A0-AAB0-E394-AFE573C91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2105" y="930442"/>
                <a:ext cx="10551695" cy="52465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Find Third Quartile (Q3)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 half = 14, 18, 21, 23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Q3 = Median of upper half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18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21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19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Find Minimum and Maximum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Interquartile Range (IQR)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𝐼𝑄𝑅</m:t>
                    </m:r>
                    <m:r>
                      <a:rPr lang="en-IN"/>
                      <m:t>=</m:t>
                    </m:r>
                    <m:r>
                      <a:rPr lang="en-IN" i="1"/>
                      <m:t>𝑄</m:t>
                    </m:r>
                    <m:r>
                      <a:rPr lang="en-IN"/>
                      <m:t>3</m:t>
                    </m:r>
                    <m:r>
                      <a:rPr lang="en-IN"/>
                      <m:t>−</m:t>
                    </m:r>
                    <m:r>
                      <a:rPr lang="en-IN" i="1"/>
                      <m:t>𝑄</m:t>
                    </m:r>
                    <m:r>
                      <a:rPr lang="en-IN"/>
                      <m:t>1</m:t>
                    </m:r>
                    <m:r>
                      <a:rPr lang="en-IN"/>
                      <m:t>=</m:t>
                    </m:r>
                    <m:r>
                      <a:rPr lang="en-IN"/>
                      <m:t>19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r>
                      <a:rPr lang="en-IN"/>
                      <m:t>−</m:t>
                    </m:r>
                    <m:r>
                      <a:rPr lang="en-IN"/>
                      <m:t>7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r>
                      <a:rPr lang="en-IN"/>
                      <m:t>=</m:t>
                    </m:r>
                    <m:r>
                      <a:rPr lang="en-IN"/>
                      <m:t>12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A3CDF-98A0-AAB0-E394-AFE573C91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2105" y="930442"/>
                <a:ext cx="10551695" cy="5246521"/>
              </a:xfrm>
              <a:blipFill>
                <a:blip r:embed="rId2"/>
                <a:stretch>
                  <a:fillRect l="-1213" t="-2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AF2DD41-5FE9-4A06-C866-D947D8EE8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891" y="5284531"/>
            <a:ext cx="5506218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7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C240-9EFC-EDD0-862E-E2538EF8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 (Categorical Variable):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3444-5D0F-89C1-481F-2FEF7800A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 shows frequency of categories.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910D1-D02A-61ED-2095-586AC903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2781209"/>
            <a:ext cx="5934903" cy="1295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29BE90-BC08-7F1E-1875-39E9A980E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43" y="4426691"/>
            <a:ext cx="4563112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31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6D4B-7CBE-6A68-5829-2E5178CD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E3CD-6DA0-D625-D68F-C4F654D1E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visualize categorical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B2D8D-B657-CC0E-1301-8E168D40A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2628788"/>
            <a:ext cx="7230484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58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DE52-A57C-702B-8600-F0DD019D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Plot: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D2BF7-28D4-47FF-F91F-E14BD01E8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plot shows probability distribution of numerical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90388-C023-07EF-FDB2-69061804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97" y="2781209"/>
            <a:ext cx="4525006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26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558</Words>
  <Application>Microsoft Office PowerPoint</Application>
  <PresentationFormat>Widescreen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UNIT-3</vt:lpstr>
      <vt:lpstr>Univariate Analysis:</vt:lpstr>
      <vt:lpstr>Types of Plots in Univariate Analysis:</vt:lpstr>
      <vt:lpstr>What is Histogram?</vt:lpstr>
      <vt:lpstr>Histogram Using Matplotlib:</vt:lpstr>
      <vt:lpstr>Histogram Using Seaborn:</vt:lpstr>
      <vt:lpstr>Box Plot (Outlier Detection):</vt:lpstr>
      <vt:lpstr>Advantages of Univariate Analysis:</vt:lpstr>
      <vt:lpstr>Box Plot Using Seaborn:</vt:lpstr>
      <vt:lpstr>Example 1:</vt:lpstr>
      <vt:lpstr>PowerPoint Presentation</vt:lpstr>
      <vt:lpstr>PowerPoint Presentation</vt:lpstr>
      <vt:lpstr>PowerPoint Presentation</vt:lpstr>
      <vt:lpstr>Example 2:</vt:lpstr>
      <vt:lpstr>PowerPoint Presentation</vt:lpstr>
      <vt:lpstr>PowerPoint Presentation</vt:lpstr>
      <vt:lpstr>Count Plot (Categorical Variable):</vt:lpstr>
      <vt:lpstr>Bar Chart:</vt:lpstr>
      <vt:lpstr>Density Plot: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138</cp:revision>
  <dcterms:created xsi:type="dcterms:W3CDTF">2026-02-03T03:25:19Z</dcterms:created>
  <dcterms:modified xsi:type="dcterms:W3CDTF">2026-03-05T06:52:17Z</dcterms:modified>
</cp:coreProperties>
</file>