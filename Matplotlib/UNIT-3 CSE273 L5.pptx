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sldIdLst>
    <p:sldId id="256" r:id="rId2"/>
    <p:sldId id="314" r:id="rId3"/>
    <p:sldId id="315" r:id="rId4"/>
    <p:sldId id="316" r:id="rId5"/>
    <p:sldId id="317" r:id="rId6"/>
    <p:sldId id="318" r:id="rId7"/>
    <p:sldId id="319" r:id="rId8"/>
    <p:sldId id="320" r:id="rId9"/>
    <p:sldId id="321" r:id="rId10"/>
    <p:sldId id="323" r:id="rId11"/>
    <p:sldId id="324" r:id="rId12"/>
    <p:sldId id="325" r:id="rId13"/>
    <p:sldId id="326" r:id="rId14"/>
    <p:sldId id="327" r:id="rId15"/>
    <p:sldId id="328" r:id="rId16"/>
    <p:sldId id="329" r:id="rId17"/>
    <p:sldId id="330" r:id="rId18"/>
    <p:sldId id="331" r:id="rId19"/>
    <p:sldId id="336" r:id="rId20"/>
    <p:sldId id="337" r:id="rId21"/>
    <p:sldId id="338" r:id="rId22"/>
    <p:sldId id="339" r:id="rId23"/>
    <p:sldId id="340" r:id="rId24"/>
    <p:sldId id="332" r:id="rId25"/>
    <p:sldId id="333" r:id="rId26"/>
    <p:sldId id="334" r:id="rId27"/>
    <p:sldId id="335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91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7ACD68-BB23-45A4-855E-932F86CDE7A0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F4D68A-C182-4116-9CBB-20949B26BB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15133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1C691-B71C-B16F-740B-C6B046C73F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322FCD-5E7D-96D3-71DB-C7E0453709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809009-43D1-D6AD-119F-A339769A72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EB34D-70E4-42F3-B80C-AFFB83C18278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712803-8D56-E371-B9E1-EC32FBC630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15DD64-164B-EA17-6F97-4803C74147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70A91-3529-4511-8071-C94B63F127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18753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EE1A03-6B61-27EE-0C82-6E9C3D6517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659076-7A3B-32FA-D8EF-C90333D6E7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05F62-30A1-F0B4-13C7-7666FC5BEA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EB34D-70E4-42F3-B80C-AFFB83C18278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FE27E9-8FAE-20A4-C877-5573E32CC5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AD7B3B-939B-F301-F7F0-64D21C95A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70A91-3529-4511-8071-C94B63F127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46783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FC85D3-E979-860C-2F1E-B8E11B91BE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E73B8D-F5BC-BD4D-9243-6F6C76B320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15DD49-B07A-01CE-7F9B-E37EFEB0D1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EB34D-70E4-42F3-B80C-AFFB83C18278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CFAD08-C2E2-3503-83F8-FC0E732BFB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9EB1E-6E27-5F09-DFC2-2C31020BCB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70A91-3529-4511-8071-C94B63F127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50162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A49FB8-160D-B437-3D56-7C0B26EF9A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47DA7B-1DE9-BD86-B305-F7AE2C176A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C776D2-CBEF-2C07-AD67-1B229468BF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C94306-76DC-D7DC-11AE-0202771082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EB34D-70E4-42F3-B80C-AFFB83C18278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0909CB-F9CB-8864-D91A-39064BE355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4ED193-683D-E43D-0084-9239458982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70A91-3529-4511-8071-C94B63F127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72347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2A6E66-3487-9F6E-0265-9E3DD28B6E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4A744D-8F1B-0D69-A086-86CB04F880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E24857-DE0D-D8E4-19EC-2A93D67544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0AA62F6-F08A-21FF-9C8A-959A63415D2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C993D43-6362-4763-21A0-29448A935A0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CEA50AD-0F74-3D5A-A54C-C3B11E7538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EB34D-70E4-42F3-B80C-AFFB83C18278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13A0773-0C25-C7B5-0A0B-166D76EFE6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5CA8785-D608-7935-1F55-D1644A3ACA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70A91-3529-4511-8071-C94B63F127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33355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3152F0-DEFA-0B9A-615C-0C9E7C504C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A05B510-2B5D-15F3-CBFB-C009829EC3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EB34D-70E4-42F3-B80C-AFFB83C18278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27A4D2-5E62-8FCC-416C-ECBBD10968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47B2DB-6659-DC9E-F97A-9A45B23D2A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70A91-3529-4511-8071-C94B63F127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67487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AC9B511-DDCB-FB63-2E90-BCB9D28875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EB34D-70E4-42F3-B80C-AFFB83C18278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519D4CF-595E-AF33-CBDD-8F8F51CD6A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6BD0C4-3AE9-B7C7-E9CF-426F481414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70A91-3529-4511-8071-C94B63F127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52794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45E5B-C46D-9F50-D314-346905DCFC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AAA220-EC5D-3270-C106-1EEF08B07A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4DDE5B-FCCD-4F7C-36D6-39D2DFC818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148E22-179D-033C-3A2B-9B682911A5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EB34D-70E4-42F3-B80C-AFFB83C18278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85E20D-538E-5776-1602-583BDAEE9B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5A090-A818-C5C2-D712-BFC1681ED3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70A91-3529-4511-8071-C94B63F127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74455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0F40FA-75AB-C49C-0F20-03FF8A9D9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7AEB998-334B-8EA3-E13B-1672299481E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DF47D7-F45F-56F7-A1EF-29523CBD9B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AB9B6F-AD1C-4E20-36CB-3E457637C0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EB34D-70E4-42F3-B80C-AFFB83C18278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5C834D-4379-EFAE-A7CA-89993618C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B29619-36FB-44B7-03A4-B71AB2B1CF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70A91-3529-4511-8071-C94B63F127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49587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CF5A9C-F4B7-A9BD-1328-E6EC865C38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5A93B2-7576-03F0-613E-7DC89651E8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C37A46-8285-ECAC-097E-970291F146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EB34D-70E4-42F3-B80C-AFFB83C18278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AC08FE-BC8A-790E-B4DB-4DE6FB6BB4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477AC5-8E25-5655-C41A-50E2851A5C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70A91-3529-4511-8071-C94B63F127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32554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4F56BF5-8187-EA56-2DE7-5FBE8328576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19AB51-708E-5062-4985-A040FEA196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3B914B-87DF-08E9-CE24-6EE1986BE0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EB34D-70E4-42F3-B80C-AFFB83C18278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98F0BF-87D2-C9A9-A891-D8159EC9F5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E34E8-ACBD-8677-4D3A-55C36622A2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70A91-3529-4511-8071-C94B63F127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27941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902DAE5-E63B-ED1F-ECAF-F154E4098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9A1D73-27A7-7E69-099E-F183B75C6B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C53A1A-9DCF-695C-9011-6A0B267EE89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EEB34D-70E4-42F3-B80C-AFFB83C18278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B8C3B9-8622-B352-296B-74DFC14FD8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7BD412-84B2-ACEF-E6D6-C8DF03F96A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070A91-3529-4511-8071-C94B63F127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2724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D4D572-1E62-C362-6FF6-C38D82E9B65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UNIT-3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00F1E4F-B5EF-1634-7C52-4A395C84368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>
                <a:latin typeface="Times New Roman"/>
              </a:rPr>
              <a:t>Lecture 5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2019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93524-63EC-AC8D-8F5C-B678FCB931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Distribution Analysis: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0CD072-40F5-2BEE-200C-0CB86621A9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7207"/>
            <a:ext cx="10515600" cy="4351338"/>
          </a:xfrm>
        </p:spPr>
        <p:txBody>
          <a:bodyPr>
            <a:normAutofit/>
          </a:bodyPr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Distribution Analysis examines how values of a variable are spread across a dataset.</a:t>
            </a:r>
          </a:p>
          <a:p>
            <a:pPr marL="0" indent="0"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helps to understand: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Shape of data distribution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Central tendency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Variability of data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Presence of skewness and outliers</a:t>
            </a:r>
          </a:p>
          <a:p>
            <a:pPr marL="0" indent="0"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Distribution analysis is an important step in Exploratory Data Analysis (EDA).</a:t>
            </a: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5714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B45BA6-9BB3-3AEE-4251-CF3823D960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Distribution Analysis is Important: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BE4507-63AA-35AC-C661-2FA9062F03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Distribution analysis helps to: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 data patterns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 skewness in data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outliers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 normal distribution assumptions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Choose appropriate machine learning models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12774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283A3E-0829-E9EE-6ED1-6E395E9F34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 of Distribution Shapes: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4B426F-38C6-F69B-4415-1C3EA66199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Common distribution patterns include: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 Distribution: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Symmetrical distribution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Mean = Median = Mode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Right Skewed Distribution: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Tail extends toward right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Mean &gt; Median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Left Skewed Distribution: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Tail extends toward left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Mean &lt; Median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99965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1B3D94-3BF4-E9B4-1BCE-5692104AEA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Methods Used for Distribution Analysis: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68512A-D3E9-8F8B-3102-05AF09A8DB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Common visualization techniques: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Histogram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Density Plot (KDE):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sns.kdeplot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(data),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sns.kdeplot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df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["Salary"])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Box Plot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Violin Plot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Distribution Plot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29280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5EAA12-CF0A-1126-D599-379A80419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Distribution Plot: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DD9441-DD43-EC51-6036-371A08D68E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Distribution Plot combines: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Histogram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KDE curve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gives both frequency and density information.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8BBC4CE-4FE5-9DCF-C53F-E1136D15FD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9650" y="4397009"/>
            <a:ext cx="2915057" cy="43821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606888E-E7F5-BFC4-5728-0AEDD68248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8622" y="4244619"/>
            <a:ext cx="3711262" cy="118120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9967DC6-191C-A001-6BCA-483E50D49A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0856" y="5086933"/>
            <a:ext cx="3115110" cy="838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70942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26BE7B-75B7-51B7-194A-E051A7CCD6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Skewness: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C0A9A6-2739-6602-988F-48C9E6D0EC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Skewness measures the asymmetry of a probability distribution around its mean.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 indicates whether data values are stretched more toward the left or the right side, affecting the distribution’s overall balance.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understand the direction of extreme values.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Influences the difference between mean, median and mode.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Useful in identifying required transformations for modelling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52349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CC1D9D6-F55B-DC8F-0EEB-0786453E8F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0258" y="2052445"/>
            <a:ext cx="7411484" cy="2753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8296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6B3B46-880B-DDC9-CCDD-730F608F32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Kurtosis: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A007C5-F275-5529-A8A9-5AB3075C42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Kurtosis measures how sharp the peak of a distribution is and how heavy or light its tails are compared to a normal distribution.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 shows how much of the data lies close to the center and how much appears in the extreme ends.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Higher kurtosis implies more extreme outliers.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Lower kurtosis implies fewer extreme values and smoother tails.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Excess kurtosis (kurtosis − 3) is commonly used for interpretation.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21936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9975D9-FDF6-97C6-C2F1-FEBB6E81E7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 of Kurtosis: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BD605E6-35B1-8958-28A8-666014ED2A5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81049" y="1838103"/>
            <a:ext cx="5029902" cy="3181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57367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2CFE3F-2D50-7224-F5AC-2C89960E2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Mesokurtic Distribution: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E667E8-B220-9DAB-6255-B31D5E1D74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Kurtosis ≈ 3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Similar to normal distribution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Moderate tails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Normally distributed data.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38058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71780-A7E1-E0DE-9F5E-15F473701F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Leptokurtic Distribution: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512370-4288-16CE-D649-06C7D9D6D6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Kurtosis &gt; 3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Heavy tails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 outliers present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Characteristics: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Sharper peak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Higher probability of extreme values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40602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0F13A1-6D44-7BAF-9705-B920C8A0B2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Platykurtic Distribution: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A31F41-3B6A-F0F7-BEB0-E08AAFA082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Kurtosis &lt; 3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Light tails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Fewer outliers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Characteristics: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Flatter peak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 evenly spread data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13197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2268A62-D76E-ADF6-4911-86C3FFEB21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5598" y="1547861"/>
            <a:ext cx="6620799" cy="289600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22375B5-E64B-BD8F-514E-C7CCFDCD4F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3892" y="4889034"/>
            <a:ext cx="1524213" cy="600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38801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E03320C-CE28-858C-5504-16EC7730A1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1470" y="1714303"/>
            <a:ext cx="5449060" cy="2819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99428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317FDA-72AF-28AB-003A-001201099E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Detecting Patterns in Data: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2438F5-EB50-E2A3-83C9-6A045ABA50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pattern refers to a regular relationship or structure within the data.</a:t>
            </a:r>
          </a:p>
          <a:p>
            <a:pPr marL="0" indent="0" algn="just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Pattern detection helps to: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relationships between variables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 data behavior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 predictive modeling</a:t>
            </a:r>
          </a:p>
          <a:p>
            <a:pPr marL="0" indent="0" algn="just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patterns: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Linear relationships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Seasonal patterns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Cyclical trends</a:t>
            </a: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30233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DE5E8D-6493-BC5F-6C06-E672847824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Detecting Patterns Using Visualization: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63A8EF-5B6C-25FD-B937-EE4D00534E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Scatter plots help identify patterns between variables.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6E366AB-338A-F4DC-474B-C26C678570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6259" y="2657367"/>
            <a:ext cx="5239481" cy="1543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25294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888153-6B4B-C0CB-A145-441CEFFEA9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Detecting Anomalies (Outliers):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408B86-53B1-89D0-91B4-212A5A3C61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anomaly or outlier is a data point that significantly differs from other observations.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Outliers may indicate: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errors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Rare events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Fraudulent activity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observations</a:t>
            </a: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1E11982-EA3D-FF74-93C8-363CE684D5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3015325"/>
            <a:ext cx="4582164" cy="127652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C7953ED-F1B0-2D62-F936-6C9062ECA6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900" y="4807650"/>
            <a:ext cx="3970364" cy="426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74759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6595AD-4657-881E-D2C1-8D09CB45D8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 of Anomalies: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DF90A8-A448-7B4C-3002-2EFB944D57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Point Anomaly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single data point that is very different from others.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Daily temperature: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30, 31, 32,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60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29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Here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60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point anomaly.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737458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DE3D4B-3307-81C5-7212-81F38598DA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70859"/>
            <a:ext cx="10515600" cy="435133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Contextual Anomaly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observation that is abnormal in a specific context.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Temperature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30°C in summer → normal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Temperature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30°C in winter → anomaly</a:t>
            </a:r>
          </a:p>
          <a:p>
            <a:pPr marL="0" indent="0">
              <a:buNone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Collective Anomaly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 of observations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together behave abnormally.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 traffic suddenly spikes for several minutes.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890749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92CB01-EC6E-7049-E0E8-08874018A0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Methods to Detect Anomalies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D92961-5EC2-01F7-0352-DD6F86036B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Statistical Methods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Z-score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IQR (Interquartile Range)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420366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BE791F-AFFD-7DF4-9A26-55071CD1BA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Z-Score Method: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1F7A025-0321-D5AD-AC97-3A37735D404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Measures how far a data point is from the mean in terms of standard deviation.</a:t>
                </a:r>
              </a:p>
              <a:p>
                <a:pPr marL="0" indent="0">
                  <a:buNone/>
                </a:pP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Formula:</a:t>
                </a:r>
              </a:p>
              <a:p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𝑍</m:t>
                    </m:r>
                    <m:r>
                      <a:rPr lang="en-IN" b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i="1"/>
                        </m:ctrlPr>
                      </m:fPr>
                      <m:num>
                        <m:r>
                          <a:rPr lang="ar-AE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ar-AE" b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num>
                      <m:den>
                        <m:r>
                          <a:rPr lang="ar-AE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den>
                    </m:f>
                  </m:oMath>
                </a14:m>
                <a:endParaRPr lang="ar-AE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Rule:</a:t>
                </a:r>
              </a:p>
              <a:p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If |Z| &gt; 3, the observation is considered an anomaly.</a:t>
                </a:r>
              </a:p>
              <a:p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Example:</a:t>
                </a:r>
                <a:b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If mean = 50 and standard deviation = 5, a value like 70 may be an anomaly.</a:t>
                </a:r>
              </a:p>
              <a:p>
                <a:endParaRPr lang="en-I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1F7A025-0321-D5AD-AC97-3A37735D404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381" b="-308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0933500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2C4F1A-9522-85B6-FC52-F6175F1C3C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Interquartile Range (IQR) Method: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6E855BA-73A2-9907-CCFF-964E5BAA713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This method uses </a:t>
                </a:r>
                <a:r>
                  <a:rPr lang="en-I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quartiles</a:t>
                </a: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to detect outliers.</a:t>
                </a:r>
              </a:p>
              <a:p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Steps:</a:t>
                </a:r>
              </a:p>
              <a:p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Calculate </a:t>
                </a:r>
                <a:r>
                  <a:rPr lang="en-I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Q1 (25th percentile)</a:t>
                </a:r>
                <a:endParaRPr lang="en-I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Calculate </a:t>
                </a:r>
                <a:r>
                  <a:rPr lang="en-I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Q3 (75th percentile)</a:t>
                </a:r>
                <a:endParaRPr lang="en-I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IN" i="1"/>
                      <m:t>𝐼𝑄𝑅</m:t>
                    </m:r>
                    <m:r>
                      <a:rPr lang="en-IN"/>
                      <m:t>=</m:t>
                    </m:r>
                    <m:r>
                      <a:rPr lang="en-IN" i="1"/>
                      <m:t>𝑄</m:t>
                    </m:r>
                    <m:r>
                      <a:rPr lang="en-IN"/>
                      <m:t>3</m:t>
                    </m:r>
                    <m:r>
                      <a:rPr lang="en-IN"/>
                      <m:t>−</m:t>
                    </m:r>
                    <m:r>
                      <a:rPr lang="en-IN" i="1"/>
                      <m:t>𝑄</m:t>
                    </m:r>
                    <m:r>
                      <a:rPr lang="en-IN"/>
                      <m:t>1</m:t>
                    </m:r>
                  </m:oMath>
                </a14:m>
                <a:endParaRPr lang="en-I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Outlier rule:</a:t>
                </a:r>
              </a:p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IN" b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Lower</m:t>
                    </m:r>
                    <m:r>
                      <m:rPr>
                        <m:nor/>
                      </m:rPr>
                      <a:rPr lang="en-IN" b="0" i="1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IN" b="0" i="1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limit</m:t>
                    </m:r>
                    <m:r>
                      <a:rPr lang="en-IN"/>
                      <m:t>=</m:t>
                    </m:r>
                    <m:r>
                      <a:rPr lang="en-IN" i="1"/>
                      <m:t>𝑄</m:t>
                    </m:r>
                    <m:r>
                      <a:rPr lang="en-IN"/>
                      <m:t>1</m:t>
                    </m:r>
                    <m:r>
                      <a:rPr lang="en-IN"/>
                      <m:t>−</m:t>
                    </m:r>
                    <m:r>
                      <a:rPr lang="en-IN"/>
                      <m:t>1</m:t>
                    </m:r>
                    <m:r>
                      <a:rPr lang="en-IN"/>
                      <m:t>.</m:t>
                    </m:r>
                    <m:r>
                      <a:rPr lang="en-IN"/>
                      <m:t>5</m:t>
                    </m:r>
                    <m:d>
                      <m:dPr>
                        <m:ctrlPr>
                          <a:rPr lang="ar-AE" i="1"/>
                        </m:ctrlPr>
                      </m:dPr>
                      <m:e>
                        <m:r>
                          <a:rPr lang="ar-AE" i="1"/>
                          <m:t>𝐼𝑄𝑅</m:t>
                        </m:r>
                      </m:e>
                    </m:d>
                  </m:oMath>
                </a14:m>
                <a:endParaRPr lang="ar-AE" b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IN" b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Upper</m:t>
                    </m:r>
                    <m:r>
                      <m:rPr>
                        <m:nor/>
                      </m:rPr>
                      <a:rPr lang="en-IN" b="0" i="1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IN" b="0" i="1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limit</m:t>
                    </m:r>
                    <m:r>
                      <a:rPr lang="en-IN"/>
                      <m:t>=</m:t>
                    </m:r>
                    <m:r>
                      <a:rPr lang="en-IN" i="1"/>
                      <m:t>𝑄</m:t>
                    </m:r>
                    <m:r>
                      <a:rPr lang="en-IN"/>
                      <m:t>3</m:t>
                    </m:r>
                    <m:r>
                      <a:rPr lang="en-IN"/>
                      <m:t>+</m:t>
                    </m:r>
                    <m:r>
                      <a:rPr lang="en-IN"/>
                      <m:t>1</m:t>
                    </m:r>
                    <m:r>
                      <a:rPr lang="en-IN"/>
                      <m:t>.</m:t>
                    </m:r>
                    <m:r>
                      <a:rPr lang="en-IN"/>
                      <m:t>5</m:t>
                    </m:r>
                    <m:d>
                      <m:dPr>
                        <m:ctrlPr>
                          <a:rPr lang="ar-AE" i="1"/>
                        </m:ctrlPr>
                      </m:dPr>
                      <m:e>
                        <m:r>
                          <a:rPr lang="ar-AE" i="1"/>
                          <m:t>𝐼𝑄𝑅</m:t>
                        </m:r>
                      </m:e>
                    </m:d>
                  </m:oMath>
                </a14:m>
                <a:endParaRPr lang="ar-AE" b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Values outside this range are </a:t>
                </a:r>
                <a:r>
                  <a:rPr lang="en-I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anomalies</a:t>
                </a: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endParaRPr lang="en-I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6E855BA-73A2-9907-CCFF-964E5BAA713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3361" b="-294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674690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94F50-0F0F-3C0F-0CF9-2D1B2228A2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Detecting Trends: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B3F99B-DD00-43F7-A415-B4A281CB62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trend represents a long-term increase or decrease in data over time.</a:t>
            </a:r>
          </a:p>
          <a:p>
            <a:pPr marL="0" indent="0" algn="just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Common trends include: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Increasing trend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Decreasing trend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Seasonal trend</a:t>
            </a:r>
          </a:p>
          <a:p>
            <a:pPr marL="0" indent="0" algn="just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Trend detection is widely used in: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Sales forecasting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Stock market analysis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Climate studies</a:t>
            </a: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323069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BBE23A2-5087-5752-0AFD-A14A613D99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591" y="1860602"/>
            <a:ext cx="5058818" cy="2673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926092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CA9112-CE0E-B45D-D438-B1ACA411A5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 with EDA Workflow: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8681FF-E974-BE7A-E96D-AB71979192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Distribution analysis is an important step within the Exploratory Data Analysis (EDA) workflow.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Typical EDA workflow includes: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transformation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Distribution analysis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Relationship analysis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selection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</a:t>
            </a: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216817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3F06A9-0E89-5273-1674-AA6596181C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Role of Distribution Analysis in EDA: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2E87BA-642B-875E-B62A-DCAB0D5FC0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Distribution analysis helps to: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 data structure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 skewness and kurtosis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anomalies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Prepare data for machine learning models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provides insights before building predictive models.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56825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470</TotalTime>
  <Words>811</Words>
  <Application>Microsoft Office PowerPoint</Application>
  <PresentationFormat>Widescreen</PresentationFormat>
  <Paragraphs>151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3" baseType="lpstr">
      <vt:lpstr>Arial</vt:lpstr>
      <vt:lpstr>Calibri</vt:lpstr>
      <vt:lpstr>Calibri Light</vt:lpstr>
      <vt:lpstr>Cambria Math</vt:lpstr>
      <vt:lpstr>Times New Roman</vt:lpstr>
      <vt:lpstr>Office Theme</vt:lpstr>
      <vt:lpstr>UNIT-3</vt:lpstr>
      <vt:lpstr>Distribution Analysis:</vt:lpstr>
      <vt:lpstr>Why Distribution Analysis is Important:</vt:lpstr>
      <vt:lpstr>Types of Distribution Shapes:</vt:lpstr>
      <vt:lpstr>Methods Used for Distribution Analysis:</vt:lpstr>
      <vt:lpstr>Distribution Plot:</vt:lpstr>
      <vt:lpstr>Skewness:</vt:lpstr>
      <vt:lpstr>PowerPoint Presentation</vt:lpstr>
      <vt:lpstr>Kurtosis:</vt:lpstr>
      <vt:lpstr>Types of Kurtosis:</vt:lpstr>
      <vt:lpstr>Mesokurtic Distribution:</vt:lpstr>
      <vt:lpstr>Leptokurtic Distribution:</vt:lpstr>
      <vt:lpstr>Platykurtic Distribution:</vt:lpstr>
      <vt:lpstr>PowerPoint Presentation</vt:lpstr>
      <vt:lpstr>PowerPoint Presentation</vt:lpstr>
      <vt:lpstr>Detecting Patterns in Data:</vt:lpstr>
      <vt:lpstr>Detecting Patterns Using Visualization:</vt:lpstr>
      <vt:lpstr>Detecting Anomalies (Outliers):</vt:lpstr>
      <vt:lpstr>Types of Anomalies:</vt:lpstr>
      <vt:lpstr>PowerPoint Presentation</vt:lpstr>
      <vt:lpstr>Methods to Detect Anomalies</vt:lpstr>
      <vt:lpstr>Z-Score Method:</vt:lpstr>
      <vt:lpstr>Interquartile Range (IQR) Method:</vt:lpstr>
      <vt:lpstr>Detecting Trends:</vt:lpstr>
      <vt:lpstr>PowerPoint Presentation</vt:lpstr>
      <vt:lpstr>Integration with EDA Workflow:</vt:lpstr>
      <vt:lpstr>Role of Distribution Analysis in EDA: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Ramanjot Kaur</dc:creator>
  <cp:lastModifiedBy>Ramanjot Kaur</cp:lastModifiedBy>
  <cp:revision>140</cp:revision>
  <dcterms:created xsi:type="dcterms:W3CDTF">2026-02-03T03:25:19Z</dcterms:created>
  <dcterms:modified xsi:type="dcterms:W3CDTF">2026-03-10T03:37:46Z</dcterms:modified>
</cp:coreProperties>
</file>