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67"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950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655473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19687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539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54056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62215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78477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892276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8378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3459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4423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27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833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126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2764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6"/>
        </a:solidFill>
        <a:effectLst/>
      </p:bgPr>
    </p:bg>
    <p:spTree>
      <p:nvGrpSpPr>
        <p:cNvPr id="1" name=""/>
        <p:cNvGrpSpPr/>
        <p:nvPr/>
      </p:nvGrpSpPr>
      <p:grpSpPr>
        <a:xfrm>
          <a:off x="0" y="0"/>
          <a:ext cx="0" cy="0"/>
          <a:chOff x="0" y="0"/>
          <a:chExt cx="0" cy="0"/>
        </a:xfrm>
      </p:grpSpPr>
      <p:sp>
        <p:nvSpPr>
          <p:cNvPr id="2" name="Shape 0"/>
          <p:cNvSpPr/>
          <p:nvPr/>
        </p:nvSpPr>
        <p:spPr>
          <a:xfrm>
            <a:off x="6217920" y="-1371600"/>
            <a:ext cx="5486400" cy="5486400"/>
          </a:xfrm>
          <a:prstGeom prst="ellipse">
            <a:avLst/>
          </a:prstGeom>
          <a:solidFill>
            <a:srgbClr val="00D4B8">
              <a:alpha val="10000"/>
            </a:srgbClr>
          </a:solidFill>
          <a:ln/>
        </p:spPr>
      </p:sp>
      <p:sp>
        <p:nvSpPr>
          <p:cNvPr id="3" name="Shape 1"/>
          <p:cNvSpPr/>
          <p:nvPr/>
        </p:nvSpPr>
        <p:spPr>
          <a:xfrm>
            <a:off x="-1371600" y="2926080"/>
            <a:ext cx="4572000" cy="4572000"/>
          </a:xfrm>
          <a:prstGeom prst="ellipse">
            <a:avLst/>
          </a:prstGeom>
          <a:solidFill>
            <a:srgbClr val="FF6B35">
              <a:alpha val="10000"/>
            </a:srgbClr>
          </a:solidFill>
          <a:ln/>
        </p:spPr>
      </p:sp>
      <p:sp>
        <p:nvSpPr>
          <p:cNvPr id="4" name="Shape 2"/>
          <p:cNvSpPr/>
          <p:nvPr/>
        </p:nvSpPr>
        <p:spPr>
          <a:xfrm>
            <a:off x="0" y="0"/>
            <a:ext cx="91440" cy="5143500"/>
          </a:xfrm>
          <a:prstGeom prst="rect">
            <a:avLst/>
          </a:prstGeom>
          <a:solidFill>
            <a:srgbClr val="00D4B8"/>
          </a:solidFill>
          <a:ln/>
        </p:spPr>
      </p:sp>
      <p:sp>
        <p:nvSpPr>
          <p:cNvPr id="5" name="Text 3"/>
          <p:cNvSpPr/>
          <p:nvPr/>
        </p:nvSpPr>
        <p:spPr>
          <a:xfrm>
            <a:off x="365760" y="640080"/>
            <a:ext cx="8229600" cy="1097280"/>
          </a:xfrm>
          <a:prstGeom prst="rect">
            <a:avLst/>
          </a:prstGeom>
          <a:noFill/>
          <a:ln/>
        </p:spPr>
        <p:txBody>
          <a:bodyPr wrap="square" lIns="0" tIns="0" rIns="0" bIns="0" rtlCol="0" anchor="ctr"/>
          <a:lstStyle/>
          <a:p>
            <a:pPr marL="0" indent="0">
              <a:buNone/>
            </a:pPr>
            <a:r>
              <a:rPr lang="en-US" sz="6400" b="1" kern="0" spc="1000" dirty="0">
                <a:solidFill>
                  <a:srgbClr val="F0F4F8"/>
                </a:solidFill>
                <a:latin typeface="Calibri" pitchFamily="34" charset="0"/>
                <a:ea typeface="Calibri" pitchFamily="34" charset="-122"/>
                <a:cs typeface="Calibri" pitchFamily="34" charset="-120"/>
              </a:rPr>
              <a:t>REGRESSION</a:t>
            </a:r>
            <a:endParaRPr lang="en-US" sz="6400" dirty="0"/>
          </a:p>
        </p:txBody>
      </p:sp>
      <p:sp>
        <p:nvSpPr>
          <p:cNvPr id="6" name="Text 4"/>
          <p:cNvSpPr/>
          <p:nvPr/>
        </p:nvSpPr>
        <p:spPr>
          <a:xfrm>
            <a:off x="365760" y="1737360"/>
            <a:ext cx="8229600" cy="365760"/>
          </a:xfrm>
          <a:prstGeom prst="rect">
            <a:avLst/>
          </a:prstGeom>
          <a:noFill/>
          <a:ln/>
        </p:spPr>
        <p:txBody>
          <a:bodyPr wrap="square" lIns="0" tIns="0" rIns="0" bIns="0" rtlCol="0" anchor="ctr"/>
          <a:lstStyle/>
          <a:p>
            <a:pPr marL="0" indent="0">
              <a:buNone/>
            </a:pPr>
            <a:r>
              <a:rPr lang="en-US" sz="1800" dirty="0">
                <a:solidFill>
                  <a:srgbClr val="00D4B8"/>
                </a:solidFill>
                <a:latin typeface="Calibri" pitchFamily="34" charset="0"/>
                <a:ea typeface="Calibri" pitchFamily="34" charset="-122"/>
                <a:cs typeface="Calibri" pitchFamily="34" charset="-120"/>
              </a:rPr>
              <a:t>A Complete Visual Guide with Python</a:t>
            </a:r>
            <a:endParaRPr lang="en-US" sz="1800" dirty="0"/>
          </a:p>
        </p:txBody>
      </p:sp>
      <p:sp>
        <p:nvSpPr>
          <p:cNvPr id="7" name="Shape 5"/>
          <p:cNvSpPr/>
          <p:nvPr/>
        </p:nvSpPr>
        <p:spPr>
          <a:xfrm>
            <a:off x="365760" y="2212848"/>
            <a:ext cx="8412480" cy="27432"/>
          </a:xfrm>
          <a:prstGeom prst="rect">
            <a:avLst/>
          </a:prstGeom>
          <a:solidFill>
            <a:srgbClr val="4A6080"/>
          </a:solidFill>
          <a:ln/>
        </p:spPr>
      </p:sp>
      <p:sp>
        <p:nvSpPr>
          <p:cNvPr id="8" name="Shape 6"/>
          <p:cNvSpPr/>
          <p:nvPr/>
        </p:nvSpPr>
        <p:spPr>
          <a:xfrm>
            <a:off x="457200" y="2377440"/>
            <a:ext cx="64008" cy="246888"/>
          </a:xfrm>
          <a:prstGeom prst="rect">
            <a:avLst/>
          </a:prstGeom>
          <a:solidFill>
            <a:srgbClr val="FF6B35"/>
          </a:solidFill>
          <a:ln/>
        </p:spPr>
      </p:sp>
      <p:sp>
        <p:nvSpPr>
          <p:cNvPr id="9" name="Text 7"/>
          <p:cNvSpPr/>
          <p:nvPr/>
        </p:nvSpPr>
        <p:spPr>
          <a:xfrm>
            <a:off x="640080" y="2395728"/>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01  Regression vs Classification</a:t>
            </a:r>
            <a:endParaRPr lang="en-US" sz="1100" dirty="0"/>
          </a:p>
        </p:txBody>
      </p:sp>
      <p:sp>
        <p:nvSpPr>
          <p:cNvPr id="10" name="Shape 8"/>
          <p:cNvSpPr/>
          <p:nvPr/>
        </p:nvSpPr>
        <p:spPr>
          <a:xfrm>
            <a:off x="457200" y="2734056"/>
            <a:ext cx="64008" cy="246888"/>
          </a:xfrm>
          <a:prstGeom prst="rect">
            <a:avLst/>
          </a:prstGeom>
          <a:solidFill>
            <a:srgbClr val="FF6B35"/>
          </a:solidFill>
          <a:ln/>
        </p:spPr>
      </p:sp>
      <p:sp>
        <p:nvSpPr>
          <p:cNvPr id="11" name="Text 9"/>
          <p:cNvSpPr/>
          <p:nvPr/>
        </p:nvSpPr>
        <p:spPr>
          <a:xfrm>
            <a:off x="640080" y="2752344"/>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02  Bias-Variance Tradeoff</a:t>
            </a:r>
            <a:endParaRPr lang="en-US" sz="1100" dirty="0"/>
          </a:p>
        </p:txBody>
      </p:sp>
      <p:sp>
        <p:nvSpPr>
          <p:cNvPr id="12" name="Shape 10"/>
          <p:cNvSpPr/>
          <p:nvPr/>
        </p:nvSpPr>
        <p:spPr>
          <a:xfrm>
            <a:off x="457200" y="3090672"/>
            <a:ext cx="64008" cy="246888"/>
          </a:xfrm>
          <a:prstGeom prst="rect">
            <a:avLst/>
          </a:prstGeom>
          <a:solidFill>
            <a:srgbClr val="FF6B35"/>
          </a:solidFill>
          <a:ln/>
        </p:spPr>
      </p:sp>
      <p:sp>
        <p:nvSpPr>
          <p:cNvPr id="13" name="Text 11"/>
          <p:cNvSpPr/>
          <p:nvPr/>
        </p:nvSpPr>
        <p:spPr>
          <a:xfrm>
            <a:off x="640080" y="3108960"/>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03  Simple Linear Regression</a:t>
            </a:r>
            <a:endParaRPr lang="en-US" sz="1100" dirty="0"/>
          </a:p>
        </p:txBody>
      </p:sp>
      <p:sp>
        <p:nvSpPr>
          <p:cNvPr id="14" name="Shape 12"/>
          <p:cNvSpPr/>
          <p:nvPr/>
        </p:nvSpPr>
        <p:spPr>
          <a:xfrm>
            <a:off x="457200" y="3447288"/>
            <a:ext cx="64008" cy="246888"/>
          </a:xfrm>
          <a:prstGeom prst="rect">
            <a:avLst/>
          </a:prstGeom>
          <a:solidFill>
            <a:srgbClr val="FF6B35"/>
          </a:solidFill>
          <a:ln/>
        </p:spPr>
      </p:sp>
      <p:sp>
        <p:nvSpPr>
          <p:cNvPr id="15" name="Text 13"/>
          <p:cNvSpPr/>
          <p:nvPr/>
        </p:nvSpPr>
        <p:spPr>
          <a:xfrm>
            <a:off x="640080" y="3465576"/>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04  Multiple Linear Regression</a:t>
            </a:r>
            <a:endParaRPr lang="en-US" sz="1100" dirty="0"/>
          </a:p>
        </p:txBody>
      </p:sp>
      <p:sp>
        <p:nvSpPr>
          <p:cNvPr id="16" name="Shape 14"/>
          <p:cNvSpPr/>
          <p:nvPr/>
        </p:nvSpPr>
        <p:spPr>
          <a:xfrm>
            <a:off x="457200" y="3803904"/>
            <a:ext cx="64008" cy="246888"/>
          </a:xfrm>
          <a:prstGeom prst="rect">
            <a:avLst/>
          </a:prstGeom>
          <a:solidFill>
            <a:srgbClr val="FF6B35"/>
          </a:solidFill>
          <a:ln/>
        </p:spPr>
      </p:sp>
      <p:sp>
        <p:nvSpPr>
          <p:cNvPr id="17" name="Text 15"/>
          <p:cNvSpPr/>
          <p:nvPr/>
        </p:nvSpPr>
        <p:spPr>
          <a:xfrm>
            <a:off x="640080" y="3822192"/>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05  Coefficient Interpretation</a:t>
            </a:r>
            <a:endParaRPr lang="en-US" sz="1100" dirty="0"/>
          </a:p>
        </p:txBody>
      </p:sp>
      <p:sp>
        <p:nvSpPr>
          <p:cNvPr id="18" name="Shape 16"/>
          <p:cNvSpPr/>
          <p:nvPr/>
        </p:nvSpPr>
        <p:spPr>
          <a:xfrm>
            <a:off x="4754880" y="2377440"/>
            <a:ext cx="64008" cy="246888"/>
          </a:xfrm>
          <a:prstGeom prst="rect">
            <a:avLst/>
          </a:prstGeom>
          <a:solidFill>
            <a:srgbClr val="FF6B35"/>
          </a:solidFill>
          <a:ln/>
        </p:spPr>
      </p:sp>
      <p:sp>
        <p:nvSpPr>
          <p:cNvPr id="19" name="Text 17"/>
          <p:cNvSpPr/>
          <p:nvPr/>
        </p:nvSpPr>
        <p:spPr>
          <a:xfrm>
            <a:off x="4937760" y="2395728"/>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06  Regularized Regression</a:t>
            </a:r>
            <a:endParaRPr lang="en-US" sz="1100" dirty="0"/>
          </a:p>
        </p:txBody>
      </p:sp>
      <p:sp>
        <p:nvSpPr>
          <p:cNvPr id="20" name="Shape 18"/>
          <p:cNvSpPr/>
          <p:nvPr/>
        </p:nvSpPr>
        <p:spPr>
          <a:xfrm>
            <a:off x="4754880" y="2734056"/>
            <a:ext cx="64008" cy="246888"/>
          </a:xfrm>
          <a:prstGeom prst="rect">
            <a:avLst/>
          </a:prstGeom>
          <a:solidFill>
            <a:srgbClr val="FF6B35"/>
          </a:solidFill>
          <a:ln/>
        </p:spPr>
      </p:sp>
      <p:sp>
        <p:nvSpPr>
          <p:cNvPr id="21" name="Text 19"/>
          <p:cNvSpPr/>
          <p:nvPr/>
        </p:nvSpPr>
        <p:spPr>
          <a:xfrm>
            <a:off x="4937760" y="2752344"/>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07  Effect of Regularization</a:t>
            </a:r>
            <a:endParaRPr lang="en-US" sz="1100" dirty="0"/>
          </a:p>
        </p:txBody>
      </p:sp>
      <p:sp>
        <p:nvSpPr>
          <p:cNvPr id="22" name="Shape 20"/>
          <p:cNvSpPr/>
          <p:nvPr/>
        </p:nvSpPr>
        <p:spPr>
          <a:xfrm>
            <a:off x="4754880" y="3090672"/>
            <a:ext cx="64008" cy="246888"/>
          </a:xfrm>
          <a:prstGeom prst="rect">
            <a:avLst/>
          </a:prstGeom>
          <a:solidFill>
            <a:srgbClr val="FF6B35"/>
          </a:solidFill>
          <a:ln/>
        </p:spPr>
      </p:sp>
      <p:sp>
        <p:nvSpPr>
          <p:cNvPr id="23" name="Text 21"/>
          <p:cNvSpPr/>
          <p:nvPr/>
        </p:nvSpPr>
        <p:spPr>
          <a:xfrm>
            <a:off x="4937760" y="3108960"/>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08  Polynomial Feature Expansion</a:t>
            </a:r>
            <a:endParaRPr lang="en-US" sz="1100" dirty="0"/>
          </a:p>
        </p:txBody>
      </p:sp>
      <p:sp>
        <p:nvSpPr>
          <p:cNvPr id="24" name="Shape 22"/>
          <p:cNvSpPr/>
          <p:nvPr/>
        </p:nvSpPr>
        <p:spPr>
          <a:xfrm>
            <a:off x="4754880" y="3447288"/>
            <a:ext cx="64008" cy="246888"/>
          </a:xfrm>
          <a:prstGeom prst="rect">
            <a:avLst/>
          </a:prstGeom>
          <a:solidFill>
            <a:srgbClr val="FF6B35"/>
          </a:solidFill>
          <a:ln/>
        </p:spPr>
      </p:sp>
      <p:sp>
        <p:nvSpPr>
          <p:cNvPr id="25" name="Text 23"/>
          <p:cNvSpPr/>
          <p:nvPr/>
        </p:nvSpPr>
        <p:spPr>
          <a:xfrm>
            <a:off x="4937760" y="3465576"/>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09  Tree-Based Regression</a:t>
            </a:r>
            <a:endParaRPr lang="en-US" sz="1100" dirty="0"/>
          </a:p>
        </p:txBody>
      </p:sp>
      <p:sp>
        <p:nvSpPr>
          <p:cNvPr id="26" name="Shape 24"/>
          <p:cNvSpPr/>
          <p:nvPr/>
        </p:nvSpPr>
        <p:spPr>
          <a:xfrm>
            <a:off x="4754880" y="3803904"/>
            <a:ext cx="64008" cy="246888"/>
          </a:xfrm>
          <a:prstGeom prst="rect">
            <a:avLst/>
          </a:prstGeom>
          <a:solidFill>
            <a:srgbClr val="FF6B35"/>
          </a:solidFill>
          <a:ln/>
        </p:spPr>
      </p:sp>
      <p:sp>
        <p:nvSpPr>
          <p:cNvPr id="27" name="Text 25"/>
          <p:cNvSpPr/>
          <p:nvPr/>
        </p:nvSpPr>
        <p:spPr>
          <a:xfrm>
            <a:off x="4937760" y="3822192"/>
            <a:ext cx="4114800" cy="246888"/>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10  Time-Series Regression</a:t>
            </a:r>
            <a:endParaRPr lang="en-US" sz="1100" dirty="0"/>
          </a:p>
        </p:txBody>
      </p:sp>
      <p:sp>
        <p:nvSpPr>
          <p:cNvPr id="28" name="Text 26"/>
          <p:cNvSpPr/>
          <p:nvPr/>
        </p:nvSpPr>
        <p:spPr>
          <a:xfrm>
            <a:off x="365760" y="4754880"/>
            <a:ext cx="8412480" cy="256032"/>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Graphs  ·  Mathematical Intuition  ·  Real-Life Examples  ·  Simple Python Code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00D4B8"/>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1. Regression vs Classification</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00D4B8"/>
                </a:solidFill>
                <a:latin typeface="Calibri" pitchFamily="34" charset="0"/>
                <a:ea typeface="Calibri" pitchFamily="34" charset="-122"/>
                <a:cs typeface="Calibri" pitchFamily="34" charset="-120"/>
              </a:rPr>
              <a:t>Understanding what kind of answer you're predicting</a:t>
            </a:r>
            <a:endParaRPr lang="en-US" sz="1200" dirty="0"/>
          </a:p>
        </p:txBody>
      </p:sp>
      <p:sp>
        <p:nvSpPr>
          <p:cNvPr id="6" name="Shape 4"/>
          <p:cNvSpPr/>
          <p:nvPr/>
        </p:nvSpPr>
        <p:spPr>
          <a:xfrm>
            <a:off x="274320" y="1078992"/>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Regression Output</a:t>
            </a:r>
            <a:endParaRPr lang="en-US" sz="850" dirty="0"/>
          </a:p>
        </p:txBody>
      </p:sp>
      <p:sp>
        <p:nvSpPr>
          <p:cNvPr id="9" name="Text 7"/>
          <p:cNvSpPr/>
          <p:nvPr/>
        </p:nvSpPr>
        <p:spPr>
          <a:xfrm>
            <a:off x="384048" y="1316736"/>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ŷ ∈ ℝ   →   continuous number (e.g., price, temperature)</a:t>
            </a:r>
            <a:endParaRPr lang="en-US" sz="1100" dirty="0"/>
          </a:p>
        </p:txBody>
      </p:sp>
      <p:sp>
        <p:nvSpPr>
          <p:cNvPr id="10" name="Shape 8"/>
          <p:cNvSpPr/>
          <p:nvPr/>
        </p:nvSpPr>
        <p:spPr>
          <a:xfrm>
            <a:off x="274320" y="1755648"/>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11" name="Shape 9"/>
          <p:cNvSpPr/>
          <p:nvPr/>
        </p:nvSpPr>
        <p:spPr>
          <a:xfrm>
            <a:off x="274320" y="1755648"/>
            <a:ext cx="45720" cy="566928"/>
          </a:xfrm>
          <a:prstGeom prst="rect">
            <a:avLst/>
          </a:prstGeom>
          <a:solidFill>
            <a:srgbClr val="FF6B35"/>
          </a:solidFill>
          <a:ln/>
        </p:spPr>
      </p:sp>
      <p:sp>
        <p:nvSpPr>
          <p:cNvPr id="12" name="Text 10"/>
          <p:cNvSpPr/>
          <p:nvPr/>
        </p:nvSpPr>
        <p:spPr>
          <a:xfrm>
            <a:off x="384048" y="1783080"/>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Classification Output</a:t>
            </a:r>
            <a:endParaRPr lang="en-US" sz="850" dirty="0"/>
          </a:p>
        </p:txBody>
      </p:sp>
      <p:sp>
        <p:nvSpPr>
          <p:cNvPr id="13" name="Text 11"/>
          <p:cNvSpPr/>
          <p:nvPr/>
        </p:nvSpPr>
        <p:spPr>
          <a:xfrm>
            <a:off x="384048" y="1993392"/>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ŷ ∈ {C₁, C₂,...}  →  a class label (e.g., Yes/No, Cat/Dog)</a:t>
            </a:r>
            <a:endParaRPr lang="en-US" sz="1100" dirty="0"/>
          </a:p>
        </p:txBody>
      </p:sp>
      <p:pic>
        <p:nvPicPr>
          <p:cNvPr id="14" name="Image 0" descr="preencoded.png"/>
          <p:cNvPicPr>
            <a:picLocks noChangeAspect="1"/>
          </p:cNvPicPr>
          <p:nvPr/>
        </p:nvPicPr>
        <p:blipFill>
          <a:blip r:embed="rId3"/>
          <a:stretch>
            <a:fillRect/>
          </a:stretch>
        </p:blipFill>
        <p:spPr>
          <a:xfrm>
            <a:off x="280583" y="2429423"/>
            <a:ext cx="8595360" cy="2395728"/>
          </a:xfrm>
          <a:prstGeom prst="rect">
            <a:avLst/>
          </a:prstGeom>
        </p:spPr>
      </p:pic>
      <p:sp>
        <p:nvSpPr>
          <p:cNvPr id="15" name="Shape 12"/>
          <p:cNvSpPr/>
          <p:nvPr/>
        </p:nvSpPr>
        <p:spPr>
          <a:xfrm>
            <a:off x="274320" y="4828032"/>
            <a:ext cx="8595360" cy="1143000"/>
          </a:xfrm>
          <a:prstGeom prst="rect">
            <a:avLst/>
          </a:prstGeom>
          <a:solidFill>
            <a:srgbClr val="0A1628"/>
          </a:solidFill>
          <a:ln/>
          <a:effectLst>
            <a:outerShdw blurRad="101600" dist="38100" dir="8100000" algn="bl" rotWithShape="0">
              <a:srgbClr val="000000">
                <a:alpha val="35000"/>
              </a:srgbClr>
            </a:outerShdw>
          </a:effectLst>
        </p:spPr>
      </p:sp>
      <p:sp>
        <p:nvSpPr>
          <p:cNvPr id="16" name="Shape 13"/>
          <p:cNvSpPr/>
          <p:nvPr/>
        </p:nvSpPr>
        <p:spPr>
          <a:xfrm>
            <a:off x="274320" y="4828032"/>
            <a:ext cx="8595360" cy="237744"/>
          </a:xfrm>
          <a:prstGeom prst="rect">
            <a:avLst/>
          </a:prstGeom>
          <a:solidFill>
            <a:srgbClr val="060E1C"/>
          </a:solidFill>
          <a:ln/>
        </p:spPr>
      </p:sp>
      <p:sp>
        <p:nvSpPr>
          <p:cNvPr id="17" name="Shape 14"/>
          <p:cNvSpPr/>
          <p:nvPr/>
        </p:nvSpPr>
        <p:spPr>
          <a:xfrm>
            <a:off x="338328" y="4882896"/>
            <a:ext cx="128016" cy="128016"/>
          </a:xfrm>
          <a:prstGeom prst="ellipse">
            <a:avLst/>
          </a:prstGeom>
          <a:solidFill>
            <a:srgbClr val="FF5F56"/>
          </a:solidFill>
          <a:ln/>
        </p:spPr>
      </p:sp>
      <p:sp>
        <p:nvSpPr>
          <p:cNvPr id="18" name="Shape 15"/>
          <p:cNvSpPr/>
          <p:nvPr/>
        </p:nvSpPr>
        <p:spPr>
          <a:xfrm>
            <a:off x="466344" y="4882896"/>
            <a:ext cx="128016" cy="128016"/>
          </a:xfrm>
          <a:prstGeom prst="ellipse">
            <a:avLst/>
          </a:prstGeom>
          <a:solidFill>
            <a:srgbClr val="FFBD2E"/>
          </a:solidFill>
          <a:ln/>
        </p:spPr>
      </p:sp>
      <p:sp>
        <p:nvSpPr>
          <p:cNvPr id="19" name="Shape 16"/>
          <p:cNvSpPr/>
          <p:nvPr/>
        </p:nvSpPr>
        <p:spPr>
          <a:xfrm>
            <a:off x="594360" y="4882896"/>
            <a:ext cx="128016" cy="128016"/>
          </a:xfrm>
          <a:prstGeom prst="ellipse">
            <a:avLst/>
          </a:prstGeom>
          <a:solidFill>
            <a:srgbClr val="27C93F"/>
          </a:solidFill>
          <a:ln/>
        </p:spPr>
      </p:sp>
      <p:sp>
        <p:nvSpPr>
          <p:cNvPr id="20" name="Text 17"/>
          <p:cNvSpPr/>
          <p:nvPr/>
        </p:nvSpPr>
        <p:spPr>
          <a:xfrm>
            <a:off x="749808" y="4864608"/>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21" name="Text 18"/>
          <p:cNvSpPr/>
          <p:nvPr/>
        </p:nvSpPr>
        <p:spPr>
          <a:xfrm>
            <a:off x="384048" y="5102352"/>
            <a:ext cx="8394192" cy="813816"/>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 Simple comparison</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LinearRegression, LogisticRegression</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REGRESSION: predict a number</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 = LinearRegression()</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model.fit(X_train, y_continuous)     # y = [120000, 250000, 310000, ...]</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print(model.predict([[1500]]))       # → [198543.21]</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CLASSIFICATION: predict a category</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 = LogisticRegression()</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model.fit(X_train, y_labels)         # y = ['spam','not spam','spam',...]</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print(model.predict([[1500]]))       # → ['not spam']</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FF6B35"/>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2. Bias-Variance Tradeoff</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FF6B35"/>
                </a:solidFill>
                <a:latin typeface="Calibri" pitchFamily="34" charset="0"/>
                <a:ea typeface="Calibri" pitchFamily="34" charset="-122"/>
                <a:cs typeface="Calibri" pitchFamily="34" charset="-120"/>
              </a:rPr>
              <a:t>Why simple models fail differently than complex ones</a:t>
            </a:r>
            <a:endParaRPr lang="en-US" sz="1200" dirty="0"/>
          </a:p>
        </p:txBody>
      </p:sp>
      <p:sp>
        <p:nvSpPr>
          <p:cNvPr id="6" name="Shape 4"/>
          <p:cNvSpPr/>
          <p:nvPr/>
        </p:nvSpPr>
        <p:spPr>
          <a:xfrm>
            <a:off x="274320" y="1078992"/>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Total Error Decomposition</a:t>
            </a:r>
            <a:endParaRPr lang="en-US" sz="850" dirty="0"/>
          </a:p>
        </p:txBody>
      </p:sp>
      <p:sp>
        <p:nvSpPr>
          <p:cNvPr id="9" name="Text 7"/>
          <p:cNvSpPr/>
          <p:nvPr/>
        </p:nvSpPr>
        <p:spPr>
          <a:xfrm>
            <a:off x="384048" y="1316736"/>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MSE = Bias² + Variance + Irreducible Noise</a:t>
            </a:r>
            <a:endParaRPr lang="en-US" sz="1100" dirty="0"/>
          </a:p>
        </p:txBody>
      </p:sp>
      <p:pic>
        <p:nvPicPr>
          <p:cNvPr id="10" name="Image 0" descr="preencoded.png"/>
          <p:cNvPicPr>
            <a:picLocks noChangeAspect="1"/>
          </p:cNvPicPr>
          <p:nvPr/>
        </p:nvPicPr>
        <p:blipFill>
          <a:blip r:embed="rId3"/>
          <a:stretch>
            <a:fillRect/>
          </a:stretch>
        </p:blipFill>
        <p:spPr>
          <a:xfrm>
            <a:off x="274320" y="1737360"/>
            <a:ext cx="8595360" cy="2542032"/>
          </a:xfrm>
          <a:prstGeom prst="rect">
            <a:avLst/>
          </a:prstGeom>
        </p:spPr>
      </p:pic>
      <p:sp>
        <p:nvSpPr>
          <p:cNvPr id="11" name="Shape 8"/>
          <p:cNvSpPr/>
          <p:nvPr/>
        </p:nvSpPr>
        <p:spPr>
          <a:xfrm>
            <a:off x="274320" y="4370832"/>
            <a:ext cx="2743200" cy="658368"/>
          </a:xfrm>
          <a:prstGeom prst="rect">
            <a:avLst/>
          </a:prstGeom>
          <a:solidFill>
            <a:srgbClr val="1A2E4A"/>
          </a:solidFill>
          <a:ln/>
          <a:effectLst>
            <a:outerShdw blurRad="76200" dist="25400" dir="8100000" algn="bl" rotWithShape="0">
              <a:srgbClr val="000000">
                <a:alpha val="20000"/>
              </a:srgbClr>
            </a:outerShdw>
          </a:effectLst>
        </p:spPr>
      </p:sp>
      <p:sp>
        <p:nvSpPr>
          <p:cNvPr id="12" name="Shape 9"/>
          <p:cNvSpPr/>
          <p:nvPr/>
        </p:nvSpPr>
        <p:spPr>
          <a:xfrm>
            <a:off x="274320" y="4370832"/>
            <a:ext cx="2743200" cy="45720"/>
          </a:xfrm>
          <a:prstGeom prst="rect">
            <a:avLst/>
          </a:prstGeom>
          <a:solidFill>
            <a:srgbClr val="FF6B9D"/>
          </a:solidFill>
          <a:ln/>
        </p:spPr>
      </p:sp>
      <p:sp>
        <p:nvSpPr>
          <p:cNvPr id="13" name="Text 10"/>
          <p:cNvSpPr/>
          <p:nvPr/>
        </p:nvSpPr>
        <p:spPr>
          <a:xfrm>
            <a:off x="365760" y="4462272"/>
            <a:ext cx="2578608" cy="246888"/>
          </a:xfrm>
          <a:prstGeom prst="rect">
            <a:avLst/>
          </a:prstGeom>
          <a:noFill/>
          <a:ln/>
        </p:spPr>
        <p:txBody>
          <a:bodyPr wrap="square" rtlCol="0" anchor="ctr"/>
          <a:lstStyle/>
          <a:p>
            <a:pPr marL="0" indent="0">
              <a:buNone/>
            </a:pPr>
            <a:r>
              <a:rPr lang="en-US" sz="1050" b="1" dirty="0">
                <a:solidFill>
                  <a:srgbClr val="FF6B9D"/>
                </a:solidFill>
                <a:latin typeface="Calibri" pitchFamily="34" charset="0"/>
                <a:ea typeface="Calibri" pitchFamily="34" charset="-122"/>
                <a:cs typeface="Calibri" pitchFamily="34" charset="-120"/>
              </a:rPr>
              <a:t>High Bias</a:t>
            </a:r>
            <a:endParaRPr lang="en-US" sz="1050" dirty="0"/>
          </a:p>
        </p:txBody>
      </p:sp>
      <p:sp>
        <p:nvSpPr>
          <p:cNvPr id="14" name="Text 11"/>
          <p:cNvSpPr/>
          <p:nvPr/>
        </p:nvSpPr>
        <p:spPr>
          <a:xfrm>
            <a:off x="365760" y="4736592"/>
            <a:ext cx="2578608" cy="219456"/>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Model too simple → underfits data</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Like a straight line fitting a wave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Fix: More features or complex model</a:t>
            </a:r>
            <a:endParaRPr lang="en-US" sz="950" dirty="0"/>
          </a:p>
        </p:txBody>
      </p:sp>
      <p:sp>
        <p:nvSpPr>
          <p:cNvPr id="15" name="Shape 12"/>
          <p:cNvSpPr/>
          <p:nvPr/>
        </p:nvSpPr>
        <p:spPr>
          <a:xfrm>
            <a:off x="3200400" y="4370832"/>
            <a:ext cx="2743200" cy="658368"/>
          </a:xfrm>
          <a:prstGeom prst="rect">
            <a:avLst/>
          </a:prstGeom>
          <a:solidFill>
            <a:srgbClr val="1A2E4A"/>
          </a:solidFill>
          <a:ln/>
          <a:effectLst>
            <a:outerShdw blurRad="76200" dist="25400" dir="8100000" algn="bl" rotWithShape="0">
              <a:srgbClr val="000000">
                <a:alpha val="20000"/>
              </a:srgbClr>
            </a:outerShdw>
          </a:effectLst>
        </p:spPr>
      </p:sp>
      <p:sp>
        <p:nvSpPr>
          <p:cNvPr id="16" name="Shape 13"/>
          <p:cNvSpPr/>
          <p:nvPr/>
        </p:nvSpPr>
        <p:spPr>
          <a:xfrm>
            <a:off x="3200400" y="4370832"/>
            <a:ext cx="2743200" cy="45720"/>
          </a:xfrm>
          <a:prstGeom prst="rect">
            <a:avLst/>
          </a:prstGeom>
          <a:solidFill>
            <a:srgbClr val="FF6B35"/>
          </a:solidFill>
          <a:ln/>
        </p:spPr>
      </p:sp>
      <p:sp>
        <p:nvSpPr>
          <p:cNvPr id="17" name="Text 14"/>
          <p:cNvSpPr/>
          <p:nvPr/>
        </p:nvSpPr>
        <p:spPr>
          <a:xfrm>
            <a:off x="3291840" y="4462272"/>
            <a:ext cx="2578608" cy="246888"/>
          </a:xfrm>
          <a:prstGeom prst="rect">
            <a:avLst/>
          </a:prstGeom>
          <a:noFill/>
          <a:ln/>
        </p:spPr>
        <p:txBody>
          <a:bodyPr wrap="square" rtlCol="0" anchor="ctr"/>
          <a:lstStyle/>
          <a:p>
            <a:pPr marL="0" indent="0">
              <a:buNone/>
            </a:pPr>
            <a:r>
              <a:rPr lang="en-US" sz="1050" b="1" dirty="0">
                <a:solidFill>
                  <a:srgbClr val="FF6B35"/>
                </a:solidFill>
                <a:latin typeface="Calibri" pitchFamily="34" charset="0"/>
                <a:ea typeface="Calibri" pitchFamily="34" charset="-122"/>
                <a:cs typeface="Calibri" pitchFamily="34" charset="-120"/>
              </a:rPr>
              <a:t>High Variance</a:t>
            </a:r>
            <a:endParaRPr lang="en-US" sz="1050" dirty="0"/>
          </a:p>
        </p:txBody>
      </p:sp>
      <p:sp>
        <p:nvSpPr>
          <p:cNvPr id="18" name="Text 15"/>
          <p:cNvSpPr/>
          <p:nvPr/>
        </p:nvSpPr>
        <p:spPr>
          <a:xfrm>
            <a:off x="3291840" y="4736592"/>
            <a:ext cx="2578608" cy="219456"/>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Model too complex → overfits noise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Memorizes training data, fails on new data</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Fix: More data, regularization, pruning</a:t>
            </a:r>
            <a:endParaRPr lang="en-US" sz="950" dirty="0"/>
          </a:p>
        </p:txBody>
      </p:sp>
      <p:sp>
        <p:nvSpPr>
          <p:cNvPr id="19" name="Shape 16"/>
          <p:cNvSpPr/>
          <p:nvPr/>
        </p:nvSpPr>
        <p:spPr>
          <a:xfrm>
            <a:off x="6126480" y="4370832"/>
            <a:ext cx="2697480" cy="658368"/>
          </a:xfrm>
          <a:prstGeom prst="rect">
            <a:avLst/>
          </a:prstGeom>
          <a:solidFill>
            <a:srgbClr val="1A2E4A"/>
          </a:solidFill>
          <a:ln/>
          <a:effectLst>
            <a:outerShdw blurRad="76200" dist="25400" dir="8100000" algn="bl" rotWithShape="0">
              <a:srgbClr val="000000">
                <a:alpha val="20000"/>
              </a:srgbClr>
            </a:outerShdw>
          </a:effectLst>
        </p:spPr>
      </p:sp>
      <p:sp>
        <p:nvSpPr>
          <p:cNvPr id="20" name="Shape 17"/>
          <p:cNvSpPr/>
          <p:nvPr/>
        </p:nvSpPr>
        <p:spPr>
          <a:xfrm>
            <a:off x="6126480" y="4370832"/>
            <a:ext cx="2697480" cy="45720"/>
          </a:xfrm>
          <a:prstGeom prst="rect">
            <a:avLst/>
          </a:prstGeom>
          <a:solidFill>
            <a:srgbClr val="06D6A0"/>
          </a:solidFill>
          <a:ln/>
        </p:spPr>
      </p:sp>
      <p:sp>
        <p:nvSpPr>
          <p:cNvPr id="21" name="Text 18"/>
          <p:cNvSpPr/>
          <p:nvPr/>
        </p:nvSpPr>
        <p:spPr>
          <a:xfrm>
            <a:off x="6217920" y="4462272"/>
            <a:ext cx="2532888" cy="246888"/>
          </a:xfrm>
          <a:prstGeom prst="rect">
            <a:avLst/>
          </a:prstGeom>
          <a:noFill/>
          <a:ln/>
        </p:spPr>
        <p:txBody>
          <a:bodyPr wrap="square" rtlCol="0" anchor="ctr"/>
          <a:lstStyle/>
          <a:p>
            <a:pPr marL="0" indent="0">
              <a:buNone/>
            </a:pPr>
            <a:r>
              <a:rPr lang="en-US" sz="1050" b="1" dirty="0">
                <a:solidFill>
                  <a:srgbClr val="06D6A0"/>
                </a:solidFill>
                <a:latin typeface="Calibri" pitchFamily="34" charset="0"/>
                <a:ea typeface="Calibri" pitchFamily="34" charset="-122"/>
                <a:cs typeface="Calibri" pitchFamily="34" charset="-120"/>
              </a:rPr>
              <a:t>Sweet Spot</a:t>
            </a:r>
            <a:endParaRPr lang="en-US" sz="1050" dirty="0"/>
          </a:p>
        </p:txBody>
      </p:sp>
      <p:sp>
        <p:nvSpPr>
          <p:cNvPr id="22" name="Text 19"/>
          <p:cNvSpPr/>
          <p:nvPr/>
        </p:nvSpPr>
        <p:spPr>
          <a:xfrm>
            <a:off x="6217920" y="4736592"/>
            <a:ext cx="2532888" cy="219456"/>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Balanced bias and variance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Generalizes to unseen data</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Find via cross-validation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06D6A0"/>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3. Simple Linear Regression (SLR)</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06D6A0"/>
                </a:solidFill>
                <a:latin typeface="Calibri" pitchFamily="34" charset="0"/>
                <a:ea typeface="Calibri" pitchFamily="34" charset="-122"/>
                <a:cs typeface="Calibri" pitchFamily="34" charset="-120"/>
              </a:rPr>
              <a:t>One input feature → one continuous output</a:t>
            </a:r>
            <a:endParaRPr lang="en-US" sz="1200" dirty="0"/>
          </a:p>
        </p:txBody>
      </p:sp>
      <p:sp>
        <p:nvSpPr>
          <p:cNvPr id="6" name="Shape 4"/>
          <p:cNvSpPr/>
          <p:nvPr/>
        </p:nvSpPr>
        <p:spPr>
          <a:xfrm>
            <a:off x="274320" y="1078992"/>
            <a:ext cx="548640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534924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Model</a:t>
            </a:r>
            <a:endParaRPr lang="en-US" sz="850" dirty="0"/>
          </a:p>
        </p:txBody>
      </p:sp>
      <p:sp>
        <p:nvSpPr>
          <p:cNvPr id="9" name="Text 7"/>
          <p:cNvSpPr/>
          <p:nvPr/>
        </p:nvSpPr>
        <p:spPr>
          <a:xfrm>
            <a:off x="384048" y="1316736"/>
            <a:ext cx="534924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ŷ = β₀ + β₁x       β₁ = Cov(X,Y)/Var(X)       β₀ = ȳ − β₁x̄</a:t>
            </a:r>
            <a:endParaRPr lang="en-US" sz="1100" dirty="0"/>
          </a:p>
        </p:txBody>
      </p:sp>
      <p:sp>
        <p:nvSpPr>
          <p:cNvPr id="10" name="Shape 8"/>
          <p:cNvSpPr/>
          <p:nvPr/>
        </p:nvSpPr>
        <p:spPr>
          <a:xfrm>
            <a:off x="5943600" y="1078992"/>
            <a:ext cx="2880360" cy="566928"/>
          </a:xfrm>
          <a:prstGeom prst="rect">
            <a:avLst/>
          </a:prstGeom>
          <a:solidFill>
            <a:srgbClr val="060E1C"/>
          </a:solidFill>
          <a:ln/>
          <a:effectLst>
            <a:outerShdw blurRad="76200" dist="25400" dir="8100000" algn="bl" rotWithShape="0">
              <a:srgbClr val="000000">
                <a:alpha val="30000"/>
              </a:srgbClr>
            </a:outerShdw>
          </a:effectLst>
        </p:spPr>
      </p:sp>
      <p:sp>
        <p:nvSpPr>
          <p:cNvPr id="11" name="Shape 9"/>
          <p:cNvSpPr/>
          <p:nvPr/>
        </p:nvSpPr>
        <p:spPr>
          <a:xfrm>
            <a:off x="5943600" y="1078992"/>
            <a:ext cx="45720" cy="566928"/>
          </a:xfrm>
          <a:prstGeom prst="rect">
            <a:avLst/>
          </a:prstGeom>
          <a:solidFill>
            <a:srgbClr val="FF6B35"/>
          </a:solidFill>
          <a:ln/>
        </p:spPr>
      </p:sp>
      <p:sp>
        <p:nvSpPr>
          <p:cNvPr id="12" name="Text 10"/>
          <p:cNvSpPr/>
          <p:nvPr/>
        </p:nvSpPr>
        <p:spPr>
          <a:xfrm>
            <a:off x="6053328" y="1106424"/>
            <a:ext cx="2743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Loss (Minimize)</a:t>
            </a:r>
            <a:endParaRPr lang="en-US" sz="850" dirty="0"/>
          </a:p>
        </p:txBody>
      </p:sp>
      <p:sp>
        <p:nvSpPr>
          <p:cNvPr id="13" name="Text 11"/>
          <p:cNvSpPr/>
          <p:nvPr/>
        </p:nvSpPr>
        <p:spPr>
          <a:xfrm>
            <a:off x="6053328" y="1316736"/>
            <a:ext cx="2743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MSE = (1/n)Σ(yᵢ − ŷᵢ)²     R² = 1 − SSRes/SSTotal</a:t>
            </a:r>
            <a:endParaRPr lang="en-US" sz="1100" dirty="0"/>
          </a:p>
        </p:txBody>
      </p:sp>
      <p:pic>
        <p:nvPicPr>
          <p:cNvPr id="14" name="Image 0" descr="preencoded.png"/>
          <p:cNvPicPr>
            <a:picLocks noChangeAspect="1"/>
          </p:cNvPicPr>
          <p:nvPr/>
        </p:nvPicPr>
        <p:blipFill>
          <a:blip r:embed="rId3"/>
          <a:stretch>
            <a:fillRect/>
          </a:stretch>
        </p:blipFill>
        <p:spPr>
          <a:xfrm>
            <a:off x="274320" y="1737360"/>
            <a:ext cx="8595360" cy="2395728"/>
          </a:xfrm>
          <a:prstGeom prst="rect">
            <a:avLst/>
          </a:prstGeom>
        </p:spPr>
      </p:pic>
      <p:sp>
        <p:nvSpPr>
          <p:cNvPr id="15" name="Shape 12"/>
          <p:cNvSpPr/>
          <p:nvPr/>
        </p:nvSpPr>
        <p:spPr>
          <a:xfrm>
            <a:off x="274320" y="4206240"/>
            <a:ext cx="8595360" cy="1207008"/>
          </a:xfrm>
          <a:prstGeom prst="rect">
            <a:avLst/>
          </a:prstGeom>
          <a:solidFill>
            <a:srgbClr val="0A1628"/>
          </a:solidFill>
          <a:ln/>
          <a:effectLst>
            <a:outerShdw blurRad="101600" dist="38100" dir="8100000" algn="bl" rotWithShape="0">
              <a:srgbClr val="000000">
                <a:alpha val="35000"/>
              </a:srgbClr>
            </a:outerShdw>
          </a:effectLst>
        </p:spPr>
      </p:sp>
      <p:sp>
        <p:nvSpPr>
          <p:cNvPr id="16" name="Shape 13"/>
          <p:cNvSpPr/>
          <p:nvPr/>
        </p:nvSpPr>
        <p:spPr>
          <a:xfrm>
            <a:off x="274320" y="4206240"/>
            <a:ext cx="8595360" cy="237744"/>
          </a:xfrm>
          <a:prstGeom prst="rect">
            <a:avLst/>
          </a:prstGeom>
          <a:solidFill>
            <a:srgbClr val="060E1C"/>
          </a:solidFill>
          <a:ln/>
        </p:spPr>
      </p:sp>
      <p:sp>
        <p:nvSpPr>
          <p:cNvPr id="17" name="Shape 14"/>
          <p:cNvSpPr/>
          <p:nvPr/>
        </p:nvSpPr>
        <p:spPr>
          <a:xfrm>
            <a:off x="338328" y="4261104"/>
            <a:ext cx="128016" cy="128016"/>
          </a:xfrm>
          <a:prstGeom prst="ellipse">
            <a:avLst/>
          </a:prstGeom>
          <a:solidFill>
            <a:srgbClr val="FF5F56"/>
          </a:solidFill>
          <a:ln/>
        </p:spPr>
      </p:sp>
      <p:sp>
        <p:nvSpPr>
          <p:cNvPr id="18" name="Shape 15"/>
          <p:cNvSpPr/>
          <p:nvPr/>
        </p:nvSpPr>
        <p:spPr>
          <a:xfrm>
            <a:off x="466344" y="4261104"/>
            <a:ext cx="128016" cy="128016"/>
          </a:xfrm>
          <a:prstGeom prst="ellipse">
            <a:avLst/>
          </a:prstGeom>
          <a:solidFill>
            <a:srgbClr val="FFBD2E"/>
          </a:solidFill>
          <a:ln/>
        </p:spPr>
      </p:sp>
      <p:sp>
        <p:nvSpPr>
          <p:cNvPr id="19" name="Shape 16"/>
          <p:cNvSpPr/>
          <p:nvPr/>
        </p:nvSpPr>
        <p:spPr>
          <a:xfrm>
            <a:off x="594360" y="4261104"/>
            <a:ext cx="128016" cy="128016"/>
          </a:xfrm>
          <a:prstGeom prst="ellipse">
            <a:avLst/>
          </a:prstGeom>
          <a:solidFill>
            <a:srgbClr val="27C93F"/>
          </a:solidFill>
          <a:ln/>
        </p:spPr>
      </p:sp>
      <p:sp>
        <p:nvSpPr>
          <p:cNvPr id="20" name="Text 17"/>
          <p:cNvSpPr/>
          <p:nvPr/>
        </p:nvSpPr>
        <p:spPr>
          <a:xfrm>
            <a:off x="749808" y="4242816"/>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21" name="Text 18"/>
          <p:cNvSpPr/>
          <p:nvPr/>
        </p:nvSpPr>
        <p:spPr>
          <a:xfrm>
            <a:off x="384048" y="4480560"/>
            <a:ext cx="8394192" cy="877824"/>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import numpy as np</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LinearRegression</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area  = np.array([600,800,1000,1200,1500,1800,2000]).reshape(-1, 1)</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price = np.array([120, 160, 200, 235, 300, 360, 400])</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 = LinearRegression().fit(area, price)</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print(f"Intercept β₀ = {model.intercept_:.1f}")   # 10.2</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print(f"Slope     β₁ = {model.coef_[0]:.3f}")     # 0.196  ($196 per sq ft)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print(f"R²           = {model.score(area,price):.4f}")  # 0.9987</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print(f"Predict 2500 sqft: {model.predict([[2500]])[0]:.0f}K")</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B57BFF"/>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4. Multiple Linear Regression (MLR)</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B57BFF"/>
                </a:solidFill>
                <a:latin typeface="Calibri" pitchFamily="34" charset="0"/>
                <a:ea typeface="Calibri" pitchFamily="34" charset="-122"/>
                <a:cs typeface="Calibri" pitchFamily="34" charset="-120"/>
              </a:rPr>
              <a:t>Many input features → one continuous output</a:t>
            </a:r>
            <a:endParaRPr lang="en-US" sz="1200" dirty="0"/>
          </a:p>
        </p:txBody>
      </p:sp>
      <p:sp>
        <p:nvSpPr>
          <p:cNvPr id="6" name="Shape 4"/>
          <p:cNvSpPr/>
          <p:nvPr/>
        </p:nvSpPr>
        <p:spPr>
          <a:xfrm>
            <a:off x="274320" y="1078992"/>
            <a:ext cx="594360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580644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Model (vector form)</a:t>
            </a:r>
            <a:endParaRPr lang="en-US" sz="850" dirty="0"/>
          </a:p>
        </p:txBody>
      </p:sp>
      <p:sp>
        <p:nvSpPr>
          <p:cNvPr id="9" name="Text 7"/>
          <p:cNvSpPr/>
          <p:nvPr/>
        </p:nvSpPr>
        <p:spPr>
          <a:xfrm>
            <a:off x="384048" y="1316736"/>
            <a:ext cx="580644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ŷ = β₀ + β₁x₁ + β₂x₂ + ... + βₚxₚ  =  Xβ</a:t>
            </a:r>
            <a:endParaRPr lang="en-US" sz="1100" dirty="0"/>
          </a:p>
        </p:txBody>
      </p:sp>
      <p:sp>
        <p:nvSpPr>
          <p:cNvPr id="10" name="Shape 8"/>
          <p:cNvSpPr/>
          <p:nvPr/>
        </p:nvSpPr>
        <p:spPr>
          <a:xfrm>
            <a:off x="6400800" y="1078992"/>
            <a:ext cx="2423160" cy="566928"/>
          </a:xfrm>
          <a:prstGeom prst="rect">
            <a:avLst/>
          </a:prstGeom>
          <a:solidFill>
            <a:srgbClr val="060E1C"/>
          </a:solidFill>
          <a:ln/>
          <a:effectLst>
            <a:outerShdw blurRad="76200" dist="25400" dir="8100000" algn="bl" rotWithShape="0">
              <a:srgbClr val="000000">
                <a:alpha val="30000"/>
              </a:srgbClr>
            </a:outerShdw>
          </a:effectLst>
        </p:spPr>
      </p:sp>
      <p:sp>
        <p:nvSpPr>
          <p:cNvPr id="11" name="Shape 9"/>
          <p:cNvSpPr/>
          <p:nvPr/>
        </p:nvSpPr>
        <p:spPr>
          <a:xfrm>
            <a:off x="6400800" y="1078992"/>
            <a:ext cx="45720" cy="566928"/>
          </a:xfrm>
          <a:prstGeom prst="rect">
            <a:avLst/>
          </a:prstGeom>
          <a:solidFill>
            <a:srgbClr val="FF6B35"/>
          </a:solidFill>
          <a:ln/>
        </p:spPr>
      </p:sp>
      <p:sp>
        <p:nvSpPr>
          <p:cNvPr id="12" name="Text 10"/>
          <p:cNvSpPr/>
          <p:nvPr/>
        </p:nvSpPr>
        <p:spPr>
          <a:xfrm>
            <a:off x="6510528" y="1106424"/>
            <a:ext cx="22860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OLS Solution</a:t>
            </a:r>
            <a:endParaRPr lang="en-US" sz="850" dirty="0"/>
          </a:p>
        </p:txBody>
      </p:sp>
      <p:sp>
        <p:nvSpPr>
          <p:cNvPr id="13" name="Text 11"/>
          <p:cNvSpPr/>
          <p:nvPr/>
        </p:nvSpPr>
        <p:spPr>
          <a:xfrm>
            <a:off x="6510528" y="1316736"/>
            <a:ext cx="22860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β̂ = (XᵀX)⁻¹Xᵀy</a:t>
            </a:r>
            <a:endParaRPr lang="en-US" sz="1100" dirty="0"/>
          </a:p>
        </p:txBody>
      </p:sp>
      <p:pic>
        <p:nvPicPr>
          <p:cNvPr id="14" name="Image 0" descr="preencoded.png"/>
          <p:cNvPicPr>
            <a:picLocks noChangeAspect="1"/>
          </p:cNvPicPr>
          <p:nvPr/>
        </p:nvPicPr>
        <p:blipFill>
          <a:blip r:embed="rId3"/>
          <a:stretch>
            <a:fillRect/>
          </a:stretch>
        </p:blipFill>
        <p:spPr>
          <a:xfrm>
            <a:off x="274320" y="1737360"/>
            <a:ext cx="8595360" cy="2395728"/>
          </a:xfrm>
          <a:prstGeom prst="rect">
            <a:avLst/>
          </a:prstGeom>
        </p:spPr>
      </p:pic>
      <p:sp>
        <p:nvSpPr>
          <p:cNvPr id="15" name="Shape 12"/>
          <p:cNvSpPr/>
          <p:nvPr/>
        </p:nvSpPr>
        <p:spPr>
          <a:xfrm>
            <a:off x="274320" y="4206240"/>
            <a:ext cx="8595360" cy="1207008"/>
          </a:xfrm>
          <a:prstGeom prst="rect">
            <a:avLst/>
          </a:prstGeom>
          <a:solidFill>
            <a:srgbClr val="0A1628"/>
          </a:solidFill>
          <a:ln/>
          <a:effectLst>
            <a:outerShdw blurRad="101600" dist="38100" dir="8100000" algn="bl" rotWithShape="0">
              <a:srgbClr val="000000">
                <a:alpha val="35000"/>
              </a:srgbClr>
            </a:outerShdw>
          </a:effectLst>
        </p:spPr>
      </p:sp>
      <p:sp>
        <p:nvSpPr>
          <p:cNvPr id="16" name="Shape 13"/>
          <p:cNvSpPr/>
          <p:nvPr/>
        </p:nvSpPr>
        <p:spPr>
          <a:xfrm>
            <a:off x="274320" y="4206240"/>
            <a:ext cx="8595360" cy="237744"/>
          </a:xfrm>
          <a:prstGeom prst="rect">
            <a:avLst/>
          </a:prstGeom>
          <a:solidFill>
            <a:srgbClr val="060E1C"/>
          </a:solidFill>
          <a:ln/>
        </p:spPr>
      </p:sp>
      <p:sp>
        <p:nvSpPr>
          <p:cNvPr id="17" name="Shape 14"/>
          <p:cNvSpPr/>
          <p:nvPr/>
        </p:nvSpPr>
        <p:spPr>
          <a:xfrm>
            <a:off x="338328" y="4261104"/>
            <a:ext cx="128016" cy="128016"/>
          </a:xfrm>
          <a:prstGeom prst="ellipse">
            <a:avLst/>
          </a:prstGeom>
          <a:solidFill>
            <a:srgbClr val="FF5F56"/>
          </a:solidFill>
          <a:ln/>
        </p:spPr>
      </p:sp>
      <p:sp>
        <p:nvSpPr>
          <p:cNvPr id="18" name="Shape 15"/>
          <p:cNvSpPr/>
          <p:nvPr/>
        </p:nvSpPr>
        <p:spPr>
          <a:xfrm>
            <a:off x="466344" y="4261104"/>
            <a:ext cx="128016" cy="128016"/>
          </a:xfrm>
          <a:prstGeom prst="ellipse">
            <a:avLst/>
          </a:prstGeom>
          <a:solidFill>
            <a:srgbClr val="FFBD2E"/>
          </a:solidFill>
          <a:ln/>
        </p:spPr>
      </p:sp>
      <p:sp>
        <p:nvSpPr>
          <p:cNvPr id="19" name="Shape 16"/>
          <p:cNvSpPr/>
          <p:nvPr/>
        </p:nvSpPr>
        <p:spPr>
          <a:xfrm>
            <a:off x="594360" y="4261104"/>
            <a:ext cx="128016" cy="128016"/>
          </a:xfrm>
          <a:prstGeom prst="ellipse">
            <a:avLst/>
          </a:prstGeom>
          <a:solidFill>
            <a:srgbClr val="27C93F"/>
          </a:solidFill>
          <a:ln/>
        </p:spPr>
      </p:sp>
      <p:sp>
        <p:nvSpPr>
          <p:cNvPr id="20" name="Text 17"/>
          <p:cNvSpPr/>
          <p:nvPr/>
        </p:nvSpPr>
        <p:spPr>
          <a:xfrm>
            <a:off x="749808" y="4242816"/>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21" name="Text 18"/>
          <p:cNvSpPr/>
          <p:nvPr/>
        </p:nvSpPr>
        <p:spPr>
          <a:xfrm>
            <a:off x="384048" y="4480560"/>
            <a:ext cx="8394192" cy="877824"/>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import pandas as pd</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LinearRegression</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Predict salary from multiple features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data = pd.DataFrame({</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'experience': [1, 3, 5, 8, 12, 15],</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'education':  [2, 3, 3, 4, 4, 4],</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'city_index': [5, 7, 6, 8, 9, 10],</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salary = [35, 48, 60, 85, 110, 130]</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 = LinearRegression().fit(data, salary)</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for feat, coef in zip(data.columns, model.coef_):</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print(f"{feat:12s}: {coef:+.2f}")    # experience: +6.20 → $6,200 per year</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 education:  +8.14 → $8,140 per level</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print(f"R² = {model.score(data, salary):.4f}")</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FFD166"/>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5. Interpretation of Coefficients</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FFD166"/>
                </a:solidFill>
                <a:latin typeface="Calibri" pitchFamily="34" charset="0"/>
                <a:ea typeface="Calibri" pitchFamily="34" charset="-122"/>
                <a:cs typeface="Calibri" pitchFamily="34" charset="-120"/>
              </a:rPr>
              <a:t>What each number in your model actually means</a:t>
            </a:r>
            <a:endParaRPr lang="en-US" sz="1200" dirty="0"/>
          </a:p>
        </p:txBody>
      </p:sp>
      <p:pic>
        <p:nvPicPr>
          <p:cNvPr id="6" name="Image 0" descr="preencoded.png"/>
          <p:cNvPicPr>
            <a:picLocks noChangeAspect="1"/>
          </p:cNvPicPr>
          <p:nvPr/>
        </p:nvPicPr>
        <p:blipFill>
          <a:blip r:embed="rId3"/>
          <a:stretch>
            <a:fillRect/>
          </a:stretch>
        </p:blipFill>
        <p:spPr>
          <a:xfrm>
            <a:off x="274320" y="822960"/>
            <a:ext cx="8595360" cy="2788920"/>
          </a:xfrm>
          <a:prstGeom prst="rect">
            <a:avLst/>
          </a:prstGeom>
        </p:spPr>
      </p:pic>
      <p:sp>
        <p:nvSpPr>
          <p:cNvPr id="7" name="Shape 4"/>
          <p:cNvSpPr/>
          <p:nvPr/>
        </p:nvSpPr>
        <p:spPr>
          <a:xfrm>
            <a:off x="274320" y="3703320"/>
            <a:ext cx="4160520" cy="777240"/>
          </a:xfrm>
          <a:prstGeom prst="rect">
            <a:avLst/>
          </a:prstGeom>
          <a:solidFill>
            <a:srgbClr val="1A2E4A"/>
          </a:solidFill>
          <a:ln/>
          <a:effectLst>
            <a:outerShdw blurRad="76200" dist="25400" dir="8100000" algn="bl" rotWithShape="0">
              <a:srgbClr val="000000">
                <a:alpha val="20000"/>
              </a:srgbClr>
            </a:outerShdw>
          </a:effectLst>
        </p:spPr>
      </p:sp>
      <p:sp>
        <p:nvSpPr>
          <p:cNvPr id="8" name="Shape 5"/>
          <p:cNvSpPr/>
          <p:nvPr/>
        </p:nvSpPr>
        <p:spPr>
          <a:xfrm>
            <a:off x="274320" y="3703320"/>
            <a:ext cx="4160520" cy="45720"/>
          </a:xfrm>
          <a:prstGeom prst="rect">
            <a:avLst/>
          </a:prstGeom>
          <a:solidFill>
            <a:srgbClr val="FFD166"/>
          </a:solidFill>
          <a:ln/>
        </p:spPr>
      </p:sp>
      <p:sp>
        <p:nvSpPr>
          <p:cNvPr id="9" name="Text 6"/>
          <p:cNvSpPr/>
          <p:nvPr/>
        </p:nvSpPr>
        <p:spPr>
          <a:xfrm>
            <a:off x="365760" y="3794760"/>
            <a:ext cx="3995928" cy="246888"/>
          </a:xfrm>
          <a:prstGeom prst="rect">
            <a:avLst/>
          </a:prstGeom>
          <a:noFill/>
          <a:ln/>
        </p:spPr>
        <p:txBody>
          <a:bodyPr wrap="square" rtlCol="0" anchor="ctr"/>
          <a:lstStyle/>
          <a:p>
            <a:pPr marL="0" indent="0">
              <a:buNone/>
            </a:pPr>
            <a:r>
              <a:rPr lang="en-US" sz="1050" b="1" dirty="0">
                <a:solidFill>
                  <a:srgbClr val="FFD166"/>
                </a:solidFill>
                <a:latin typeface="Calibri" pitchFamily="34" charset="0"/>
                <a:ea typeface="Calibri" pitchFamily="34" charset="-122"/>
                <a:cs typeface="Calibri" pitchFamily="34" charset="-120"/>
              </a:rPr>
              <a:t>Raw Coefficients</a:t>
            </a:r>
            <a:endParaRPr lang="en-US" sz="1050" dirty="0"/>
          </a:p>
        </p:txBody>
      </p:sp>
      <p:sp>
        <p:nvSpPr>
          <p:cNvPr id="10" name="Text 7"/>
          <p:cNvSpPr/>
          <p:nvPr/>
        </p:nvSpPr>
        <p:spPr>
          <a:xfrm>
            <a:off x="365760" y="4069080"/>
            <a:ext cx="3995928" cy="338328"/>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βⱼ = change in ŷ per 1-unit increase in xⱼ (all others fixed)</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Units depend on the feature — not directly comparable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Example: β_area=150 → each sq ft adds $150 to house price</a:t>
            </a:r>
            <a:endParaRPr lang="en-US" sz="950" dirty="0"/>
          </a:p>
        </p:txBody>
      </p:sp>
      <p:sp>
        <p:nvSpPr>
          <p:cNvPr id="11" name="Shape 8"/>
          <p:cNvSpPr/>
          <p:nvPr/>
        </p:nvSpPr>
        <p:spPr>
          <a:xfrm>
            <a:off x="4617720" y="3703320"/>
            <a:ext cx="4206240" cy="777240"/>
          </a:xfrm>
          <a:prstGeom prst="rect">
            <a:avLst/>
          </a:prstGeom>
          <a:solidFill>
            <a:srgbClr val="1A2E4A"/>
          </a:solidFill>
          <a:ln/>
          <a:effectLst>
            <a:outerShdw blurRad="76200" dist="25400" dir="8100000" algn="bl" rotWithShape="0">
              <a:srgbClr val="000000">
                <a:alpha val="20000"/>
              </a:srgbClr>
            </a:outerShdw>
          </a:effectLst>
        </p:spPr>
      </p:sp>
      <p:sp>
        <p:nvSpPr>
          <p:cNvPr id="12" name="Shape 9"/>
          <p:cNvSpPr/>
          <p:nvPr/>
        </p:nvSpPr>
        <p:spPr>
          <a:xfrm>
            <a:off x="4617720" y="3703320"/>
            <a:ext cx="4206240" cy="45720"/>
          </a:xfrm>
          <a:prstGeom prst="rect">
            <a:avLst/>
          </a:prstGeom>
          <a:solidFill>
            <a:srgbClr val="00D4B8"/>
          </a:solidFill>
          <a:ln/>
        </p:spPr>
      </p:sp>
      <p:sp>
        <p:nvSpPr>
          <p:cNvPr id="13" name="Text 10"/>
          <p:cNvSpPr/>
          <p:nvPr/>
        </p:nvSpPr>
        <p:spPr>
          <a:xfrm>
            <a:off x="4709160" y="3794760"/>
            <a:ext cx="4041648" cy="246888"/>
          </a:xfrm>
          <a:prstGeom prst="rect">
            <a:avLst/>
          </a:prstGeom>
          <a:noFill/>
          <a:ln/>
        </p:spPr>
        <p:txBody>
          <a:bodyPr wrap="square" rtlCol="0" anchor="ctr"/>
          <a:lstStyle/>
          <a:p>
            <a:pPr marL="0" indent="0">
              <a:buNone/>
            </a:pPr>
            <a:r>
              <a:rPr lang="en-US" sz="1050" b="1" dirty="0">
                <a:solidFill>
                  <a:srgbClr val="00D4B8"/>
                </a:solidFill>
                <a:latin typeface="Calibri" pitchFamily="34" charset="0"/>
                <a:ea typeface="Calibri" pitchFamily="34" charset="-122"/>
                <a:cs typeface="Calibri" pitchFamily="34" charset="-120"/>
              </a:rPr>
              <a:t>Standardized Coefficients</a:t>
            </a:r>
            <a:endParaRPr lang="en-US" sz="1050" dirty="0"/>
          </a:p>
        </p:txBody>
      </p:sp>
      <p:sp>
        <p:nvSpPr>
          <p:cNvPr id="14" name="Text 11"/>
          <p:cNvSpPr/>
          <p:nvPr/>
        </p:nvSpPr>
        <p:spPr>
          <a:xfrm>
            <a:off x="4709160" y="4069080"/>
            <a:ext cx="4041648" cy="338328"/>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β*ⱼ = βⱼ × (σxⱼ / σy)  → removes units, makes features comparable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Larger |β*| = more important feature for prediction</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Use StandardScaler() before fitting to get these automatically</a:t>
            </a:r>
            <a:endParaRPr lang="en-US" sz="950" dirty="0"/>
          </a:p>
        </p:txBody>
      </p:sp>
      <p:sp>
        <p:nvSpPr>
          <p:cNvPr id="15" name="Shape 12"/>
          <p:cNvSpPr/>
          <p:nvPr/>
        </p:nvSpPr>
        <p:spPr>
          <a:xfrm>
            <a:off x="274320" y="4544568"/>
            <a:ext cx="8595360" cy="1143000"/>
          </a:xfrm>
          <a:prstGeom prst="rect">
            <a:avLst/>
          </a:prstGeom>
          <a:solidFill>
            <a:srgbClr val="0A1628"/>
          </a:solidFill>
          <a:ln/>
          <a:effectLst>
            <a:outerShdw blurRad="101600" dist="38100" dir="8100000" algn="bl" rotWithShape="0">
              <a:srgbClr val="000000">
                <a:alpha val="35000"/>
              </a:srgbClr>
            </a:outerShdw>
          </a:effectLst>
        </p:spPr>
      </p:sp>
      <p:sp>
        <p:nvSpPr>
          <p:cNvPr id="16" name="Shape 13"/>
          <p:cNvSpPr/>
          <p:nvPr/>
        </p:nvSpPr>
        <p:spPr>
          <a:xfrm>
            <a:off x="274320" y="4544568"/>
            <a:ext cx="8595360" cy="237744"/>
          </a:xfrm>
          <a:prstGeom prst="rect">
            <a:avLst/>
          </a:prstGeom>
          <a:solidFill>
            <a:srgbClr val="060E1C"/>
          </a:solidFill>
          <a:ln/>
        </p:spPr>
      </p:sp>
      <p:sp>
        <p:nvSpPr>
          <p:cNvPr id="17" name="Shape 14"/>
          <p:cNvSpPr/>
          <p:nvPr/>
        </p:nvSpPr>
        <p:spPr>
          <a:xfrm>
            <a:off x="338328" y="4599432"/>
            <a:ext cx="128016" cy="128016"/>
          </a:xfrm>
          <a:prstGeom prst="ellipse">
            <a:avLst/>
          </a:prstGeom>
          <a:solidFill>
            <a:srgbClr val="FF5F56"/>
          </a:solidFill>
          <a:ln/>
        </p:spPr>
      </p:sp>
      <p:sp>
        <p:nvSpPr>
          <p:cNvPr id="18" name="Shape 15"/>
          <p:cNvSpPr/>
          <p:nvPr/>
        </p:nvSpPr>
        <p:spPr>
          <a:xfrm>
            <a:off x="466344" y="4599432"/>
            <a:ext cx="128016" cy="128016"/>
          </a:xfrm>
          <a:prstGeom prst="ellipse">
            <a:avLst/>
          </a:prstGeom>
          <a:solidFill>
            <a:srgbClr val="FFBD2E"/>
          </a:solidFill>
          <a:ln/>
        </p:spPr>
      </p:sp>
      <p:sp>
        <p:nvSpPr>
          <p:cNvPr id="19" name="Shape 16"/>
          <p:cNvSpPr/>
          <p:nvPr/>
        </p:nvSpPr>
        <p:spPr>
          <a:xfrm>
            <a:off x="594360" y="4599432"/>
            <a:ext cx="128016" cy="128016"/>
          </a:xfrm>
          <a:prstGeom prst="ellipse">
            <a:avLst/>
          </a:prstGeom>
          <a:solidFill>
            <a:srgbClr val="27C93F"/>
          </a:solidFill>
          <a:ln/>
        </p:spPr>
      </p:sp>
      <p:sp>
        <p:nvSpPr>
          <p:cNvPr id="20" name="Text 17"/>
          <p:cNvSpPr/>
          <p:nvPr/>
        </p:nvSpPr>
        <p:spPr>
          <a:xfrm>
            <a:off x="749808" y="4581144"/>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21" name="Text 18"/>
          <p:cNvSpPr/>
          <p:nvPr/>
        </p:nvSpPr>
        <p:spPr>
          <a:xfrm>
            <a:off x="384048" y="4818888"/>
            <a:ext cx="8394192" cy="813816"/>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from sklearn.preprocessing import StandardScaler</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LinearRegression</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scaler = StandardScaler()</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X_scaled = scaler.fit_transform(X)     # normalize all features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 = LinearRegression().fit(X_scaled, y)</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Now coef_ are standardized → directly comparable!</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for name, coef in zip(feature_names, model.coef_):</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print(f"{name:15s}: {coef:+.3f}")</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experience    : +0.620  ← most important!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education     : +0.410</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skills        : +0.290</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city_index    : +0.180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FF6B35"/>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6. Regularized Regression — Ridge, Lasso, ElasticNet</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FF6B35"/>
                </a:solidFill>
                <a:latin typeface="Calibri" pitchFamily="34" charset="0"/>
                <a:ea typeface="Calibri" pitchFamily="34" charset="-122"/>
                <a:cs typeface="Calibri" pitchFamily="34" charset="-120"/>
              </a:rPr>
              <a:t>Add a penalty to prevent overfitting</a:t>
            </a:r>
            <a:endParaRPr lang="en-US" sz="1200" dirty="0"/>
          </a:p>
        </p:txBody>
      </p:sp>
      <p:sp>
        <p:nvSpPr>
          <p:cNvPr id="6" name="Shape 4"/>
          <p:cNvSpPr/>
          <p:nvPr/>
        </p:nvSpPr>
        <p:spPr>
          <a:xfrm>
            <a:off x="274320" y="1078992"/>
            <a:ext cx="416052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402336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Ridge (L2): shrinks all β toward 0</a:t>
            </a:r>
            <a:endParaRPr lang="en-US" sz="850" dirty="0"/>
          </a:p>
        </p:txBody>
      </p:sp>
      <p:sp>
        <p:nvSpPr>
          <p:cNvPr id="9" name="Text 7"/>
          <p:cNvSpPr/>
          <p:nvPr/>
        </p:nvSpPr>
        <p:spPr>
          <a:xfrm>
            <a:off x="384048" y="1316736"/>
            <a:ext cx="402336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L(β) = MSE + λ·Σβⱼ²</a:t>
            </a:r>
            <a:endParaRPr lang="en-US" sz="1100" dirty="0"/>
          </a:p>
        </p:txBody>
      </p:sp>
      <p:sp>
        <p:nvSpPr>
          <p:cNvPr id="10" name="Shape 8"/>
          <p:cNvSpPr/>
          <p:nvPr/>
        </p:nvSpPr>
        <p:spPr>
          <a:xfrm>
            <a:off x="4663440" y="1078992"/>
            <a:ext cx="4160520" cy="566928"/>
          </a:xfrm>
          <a:prstGeom prst="rect">
            <a:avLst/>
          </a:prstGeom>
          <a:solidFill>
            <a:srgbClr val="060E1C"/>
          </a:solidFill>
          <a:ln/>
          <a:effectLst>
            <a:outerShdw blurRad="76200" dist="25400" dir="8100000" algn="bl" rotWithShape="0">
              <a:srgbClr val="000000">
                <a:alpha val="30000"/>
              </a:srgbClr>
            </a:outerShdw>
          </a:effectLst>
        </p:spPr>
      </p:sp>
      <p:sp>
        <p:nvSpPr>
          <p:cNvPr id="11" name="Shape 9"/>
          <p:cNvSpPr/>
          <p:nvPr/>
        </p:nvSpPr>
        <p:spPr>
          <a:xfrm>
            <a:off x="4663440" y="1078992"/>
            <a:ext cx="45720" cy="566928"/>
          </a:xfrm>
          <a:prstGeom prst="rect">
            <a:avLst/>
          </a:prstGeom>
          <a:solidFill>
            <a:srgbClr val="FF6B35"/>
          </a:solidFill>
          <a:ln/>
        </p:spPr>
      </p:sp>
      <p:sp>
        <p:nvSpPr>
          <p:cNvPr id="12" name="Text 10"/>
          <p:cNvSpPr/>
          <p:nvPr/>
        </p:nvSpPr>
        <p:spPr>
          <a:xfrm>
            <a:off x="4773168" y="1106424"/>
            <a:ext cx="402336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Lasso (L1): zeros out unimportant β</a:t>
            </a:r>
            <a:endParaRPr lang="en-US" sz="850" dirty="0"/>
          </a:p>
        </p:txBody>
      </p:sp>
      <p:sp>
        <p:nvSpPr>
          <p:cNvPr id="13" name="Text 11"/>
          <p:cNvSpPr/>
          <p:nvPr/>
        </p:nvSpPr>
        <p:spPr>
          <a:xfrm>
            <a:off x="4773168" y="1316736"/>
            <a:ext cx="402336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L(β) = MSE + λ·Σ|βⱼ|</a:t>
            </a:r>
            <a:endParaRPr lang="en-US" sz="1100" dirty="0"/>
          </a:p>
        </p:txBody>
      </p:sp>
      <p:pic>
        <p:nvPicPr>
          <p:cNvPr id="14" name="Image 0" descr="preencoded.png"/>
          <p:cNvPicPr>
            <a:picLocks noChangeAspect="1"/>
          </p:cNvPicPr>
          <p:nvPr/>
        </p:nvPicPr>
        <p:blipFill>
          <a:blip r:embed="rId3"/>
          <a:stretch>
            <a:fillRect/>
          </a:stretch>
        </p:blipFill>
        <p:spPr>
          <a:xfrm>
            <a:off x="274320" y="1755648"/>
            <a:ext cx="8595360" cy="2395728"/>
          </a:xfrm>
          <a:prstGeom prst="rect">
            <a:avLst/>
          </a:prstGeom>
        </p:spPr>
      </p:pic>
      <p:sp>
        <p:nvSpPr>
          <p:cNvPr id="15" name="Shape 12"/>
          <p:cNvSpPr/>
          <p:nvPr/>
        </p:nvSpPr>
        <p:spPr>
          <a:xfrm>
            <a:off x="274320" y="4224528"/>
            <a:ext cx="8595360" cy="1143000"/>
          </a:xfrm>
          <a:prstGeom prst="rect">
            <a:avLst/>
          </a:prstGeom>
          <a:solidFill>
            <a:srgbClr val="0A1628"/>
          </a:solidFill>
          <a:ln/>
          <a:effectLst>
            <a:outerShdw blurRad="101600" dist="38100" dir="8100000" algn="bl" rotWithShape="0">
              <a:srgbClr val="000000">
                <a:alpha val="35000"/>
              </a:srgbClr>
            </a:outerShdw>
          </a:effectLst>
        </p:spPr>
      </p:sp>
      <p:sp>
        <p:nvSpPr>
          <p:cNvPr id="16" name="Shape 13"/>
          <p:cNvSpPr/>
          <p:nvPr/>
        </p:nvSpPr>
        <p:spPr>
          <a:xfrm>
            <a:off x="274320" y="4224528"/>
            <a:ext cx="8595360" cy="237744"/>
          </a:xfrm>
          <a:prstGeom prst="rect">
            <a:avLst/>
          </a:prstGeom>
          <a:solidFill>
            <a:srgbClr val="060E1C"/>
          </a:solidFill>
          <a:ln/>
        </p:spPr>
      </p:sp>
      <p:sp>
        <p:nvSpPr>
          <p:cNvPr id="17" name="Shape 14"/>
          <p:cNvSpPr/>
          <p:nvPr/>
        </p:nvSpPr>
        <p:spPr>
          <a:xfrm>
            <a:off x="338328" y="4279392"/>
            <a:ext cx="128016" cy="128016"/>
          </a:xfrm>
          <a:prstGeom prst="ellipse">
            <a:avLst/>
          </a:prstGeom>
          <a:solidFill>
            <a:srgbClr val="FF5F56"/>
          </a:solidFill>
          <a:ln/>
        </p:spPr>
      </p:sp>
      <p:sp>
        <p:nvSpPr>
          <p:cNvPr id="18" name="Shape 15"/>
          <p:cNvSpPr/>
          <p:nvPr/>
        </p:nvSpPr>
        <p:spPr>
          <a:xfrm>
            <a:off x="466344" y="4279392"/>
            <a:ext cx="128016" cy="128016"/>
          </a:xfrm>
          <a:prstGeom prst="ellipse">
            <a:avLst/>
          </a:prstGeom>
          <a:solidFill>
            <a:srgbClr val="FFBD2E"/>
          </a:solidFill>
          <a:ln/>
        </p:spPr>
      </p:sp>
      <p:sp>
        <p:nvSpPr>
          <p:cNvPr id="19" name="Shape 16"/>
          <p:cNvSpPr/>
          <p:nvPr/>
        </p:nvSpPr>
        <p:spPr>
          <a:xfrm>
            <a:off x="594360" y="4279392"/>
            <a:ext cx="128016" cy="128016"/>
          </a:xfrm>
          <a:prstGeom prst="ellipse">
            <a:avLst/>
          </a:prstGeom>
          <a:solidFill>
            <a:srgbClr val="27C93F"/>
          </a:solidFill>
          <a:ln/>
        </p:spPr>
      </p:sp>
      <p:sp>
        <p:nvSpPr>
          <p:cNvPr id="20" name="Text 17"/>
          <p:cNvSpPr/>
          <p:nvPr/>
        </p:nvSpPr>
        <p:spPr>
          <a:xfrm>
            <a:off x="749808" y="4261104"/>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21" name="Text 18"/>
          <p:cNvSpPr/>
          <p:nvPr/>
        </p:nvSpPr>
        <p:spPr>
          <a:xfrm>
            <a:off x="384048" y="4498848"/>
            <a:ext cx="8394192" cy="813816"/>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Ridge, Lasso, ElasticNet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RidgeCV, LassoCV</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Ridge: best when ALL features contribute (λ shrinks, never zeros)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ridge = RidgeCV(alphas=[0.01, 0.1, 1, 10, 100], cv=5).fit(X, y)</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print(f"Ridge best λ = {ridge.alpha_}")          # auto-selected</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Lasso: best when only a FEW features matter (zeros the rest)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lasso = LassoCV(cv=5).fit(X, y)</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print(f"Lasso best λ = {lasso.alpha_:.4f}")</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print(f"Features zeroed: {(lasso.coef_==0).sum()}")  # feature selection!</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ElasticNet: mix of both</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enet = ElasticNet(alpha=0.1, l1_ratio=0.5).fit(X, 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00D4B8"/>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7. Effect of Regularization on Model Complexity</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00D4B8"/>
                </a:solidFill>
                <a:latin typeface="Calibri" pitchFamily="34" charset="0"/>
                <a:ea typeface="Calibri" pitchFamily="34" charset="-122"/>
                <a:cs typeface="Calibri" pitchFamily="34" charset="-120"/>
              </a:rPr>
              <a:t>How λ controls the bias-variance tradeoff</a:t>
            </a:r>
            <a:endParaRPr lang="en-US" sz="1200" dirty="0"/>
          </a:p>
        </p:txBody>
      </p:sp>
      <p:sp>
        <p:nvSpPr>
          <p:cNvPr id="6" name="Shape 4"/>
          <p:cNvSpPr/>
          <p:nvPr/>
        </p:nvSpPr>
        <p:spPr>
          <a:xfrm>
            <a:off x="274320" y="1078992"/>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Key Rule</a:t>
            </a:r>
            <a:endParaRPr lang="en-US" sz="850" dirty="0"/>
          </a:p>
        </p:txBody>
      </p:sp>
      <p:sp>
        <p:nvSpPr>
          <p:cNvPr id="9" name="Text 7"/>
          <p:cNvSpPr/>
          <p:nvPr/>
        </p:nvSpPr>
        <p:spPr>
          <a:xfrm>
            <a:off x="384048" y="1316736"/>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λ → 0 : model = OLS (high variance)    |    λ → ∞ : β → 0 (high bias)</a:t>
            </a:r>
            <a:endParaRPr lang="en-US" sz="1100" dirty="0"/>
          </a:p>
        </p:txBody>
      </p:sp>
      <p:pic>
        <p:nvPicPr>
          <p:cNvPr id="10" name="Image 0" descr="preencoded.png"/>
          <p:cNvPicPr>
            <a:picLocks noChangeAspect="1"/>
          </p:cNvPicPr>
          <p:nvPr/>
        </p:nvPicPr>
        <p:blipFill>
          <a:blip r:embed="rId3"/>
          <a:stretch>
            <a:fillRect/>
          </a:stretch>
        </p:blipFill>
        <p:spPr>
          <a:xfrm>
            <a:off x="274320" y="1737360"/>
            <a:ext cx="8595360" cy="2450592"/>
          </a:xfrm>
          <a:prstGeom prst="rect">
            <a:avLst/>
          </a:prstGeom>
        </p:spPr>
      </p:pic>
      <p:sp>
        <p:nvSpPr>
          <p:cNvPr id="11" name="Shape 8"/>
          <p:cNvSpPr/>
          <p:nvPr/>
        </p:nvSpPr>
        <p:spPr>
          <a:xfrm>
            <a:off x="274320" y="4251960"/>
            <a:ext cx="2743200" cy="640080"/>
          </a:xfrm>
          <a:prstGeom prst="rect">
            <a:avLst/>
          </a:prstGeom>
          <a:solidFill>
            <a:srgbClr val="1A2E4A"/>
          </a:solidFill>
          <a:ln/>
          <a:effectLst>
            <a:outerShdw blurRad="76200" dist="25400" dir="8100000" algn="bl" rotWithShape="0">
              <a:srgbClr val="000000">
                <a:alpha val="20000"/>
              </a:srgbClr>
            </a:outerShdw>
          </a:effectLst>
        </p:spPr>
      </p:sp>
      <p:sp>
        <p:nvSpPr>
          <p:cNvPr id="12" name="Shape 9"/>
          <p:cNvSpPr/>
          <p:nvPr/>
        </p:nvSpPr>
        <p:spPr>
          <a:xfrm>
            <a:off x="274320" y="4251960"/>
            <a:ext cx="2743200" cy="45720"/>
          </a:xfrm>
          <a:prstGeom prst="rect">
            <a:avLst/>
          </a:prstGeom>
          <a:solidFill>
            <a:srgbClr val="FF6B9D"/>
          </a:solidFill>
          <a:ln/>
        </p:spPr>
      </p:sp>
      <p:sp>
        <p:nvSpPr>
          <p:cNvPr id="13" name="Text 10"/>
          <p:cNvSpPr/>
          <p:nvPr/>
        </p:nvSpPr>
        <p:spPr>
          <a:xfrm>
            <a:off x="365760" y="4343400"/>
            <a:ext cx="2578608" cy="246888"/>
          </a:xfrm>
          <a:prstGeom prst="rect">
            <a:avLst/>
          </a:prstGeom>
          <a:noFill/>
          <a:ln/>
        </p:spPr>
        <p:txBody>
          <a:bodyPr wrap="square" rtlCol="0" anchor="ctr"/>
          <a:lstStyle/>
          <a:p>
            <a:pPr marL="0" indent="0">
              <a:buNone/>
            </a:pPr>
            <a:r>
              <a:rPr lang="en-US" sz="1050" b="1" dirty="0">
                <a:solidFill>
                  <a:srgbClr val="FF6B9D"/>
                </a:solidFill>
                <a:latin typeface="Calibri" pitchFamily="34" charset="0"/>
                <a:ea typeface="Calibri" pitchFamily="34" charset="-122"/>
                <a:cs typeface="Calibri" pitchFamily="34" charset="-120"/>
              </a:rPr>
              <a:t>Too Small λ</a:t>
            </a:r>
            <a:endParaRPr lang="en-US" sz="1050" dirty="0"/>
          </a:p>
        </p:txBody>
      </p:sp>
      <p:sp>
        <p:nvSpPr>
          <p:cNvPr id="14" name="Text 11"/>
          <p:cNvSpPr/>
          <p:nvPr/>
        </p:nvSpPr>
        <p:spPr>
          <a:xfrm>
            <a:off x="365760" y="4617720"/>
            <a:ext cx="2578608" cy="201168"/>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Model overfits training data</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Low bias, HIGH variance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Behaves like plain linear regression</a:t>
            </a:r>
            <a:endParaRPr lang="en-US" sz="950" dirty="0"/>
          </a:p>
        </p:txBody>
      </p:sp>
      <p:sp>
        <p:nvSpPr>
          <p:cNvPr id="15" name="Shape 12"/>
          <p:cNvSpPr/>
          <p:nvPr/>
        </p:nvSpPr>
        <p:spPr>
          <a:xfrm>
            <a:off x="3200400" y="4251960"/>
            <a:ext cx="2743200" cy="640080"/>
          </a:xfrm>
          <a:prstGeom prst="rect">
            <a:avLst/>
          </a:prstGeom>
          <a:solidFill>
            <a:srgbClr val="1A2E4A"/>
          </a:solidFill>
          <a:ln/>
          <a:effectLst>
            <a:outerShdw blurRad="76200" dist="25400" dir="8100000" algn="bl" rotWithShape="0">
              <a:srgbClr val="000000">
                <a:alpha val="20000"/>
              </a:srgbClr>
            </a:outerShdw>
          </a:effectLst>
        </p:spPr>
      </p:sp>
      <p:sp>
        <p:nvSpPr>
          <p:cNvPr id="16" name="Shape 13"/>
          <p:cNvSpPr/>
          <p:nvPr/>
        </p:nvSpPr>
        <p:spPr>
          <a:xfrm>
            <a:off x="3200400" y="4251960"/>
            <a:ext cx="2743200" cy="45720"/>
          </a:xfrm>
          <a:prstGeom prst="rect">
            <a:avLst/>
          </a:prstGeom>
          <a:solidFill>
            <a:srgbClr val="06D6A0"/>
          </a:solidFill>
          <a:ln/>
        </p:spPr>
      </p:sp>
      <p:sp>
        <p:nvSpPr>
          <p:cNvPr id="17" name="Text 14"/>
          <p:cNvSpPr/>
          <p:nvPr/>
        </p:nvSpPr>
        <p:spPr>
          <a:xfrm>
            <a:off x="3291840" y="4343400"/>
            <a:ext cx="2578608" cy="246888"/>
          </a:xfrm>
          <a:prstGeom prst="rect">
            <a:avLst/>
          </a:prstGeom>
          <a:noFill/>
          <a:ln/>
        </p:spPr>
        <p:txBody>
          <a:bodyPr wrap="square" rtlCol="0" anchor="ctr"/>
          <a:lstStyle/>
          <a:p>
            <a:pPr marL="0" indent="0">
              <a:buNone/>
            </a:pPr>
            <a:r>
              <a:rPr lang="en-US" sz="1050" b="1" dirty="0">
                <a:solidFill>
                  <a:srgbClr val="06D6A0"/>
                </a:solidFill>
                <a:latin typeface="Calibri" pitchFamily="34" charset="0"/>
                <a:ea typeface="Calibri" pitchFamily="34" charset="-122"/>
                <a:cs typeface="Calibri" pitchFamily="34" charset="-120"/>
              </a:rPr>
              <a:t>Optimal λ</a:t>
            </a:r>
            <a:endParaRPr lang="en-US" sz="1050" dirty="0"/>
          </a:p>
        </p:txBody>
      </p:sp>
      <p:sp>
        <p:nvSpPr>
          <p:cNvPr id="18" name="Text 15"/>
          <p:cNvSpPr/>
          <p:nvPr/>
        </p:nvSpPr>
        <p:spPr>
          <a:xfrm>
            <a:off x="3291840" y="4617720"/>
            <a:ext cx="2578608" cy="201168"/>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Best generalization to new data</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Found via cross-validation</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Use RidgeCV / LassoCV to find it</a:t>
            </a:r>
            <a:endParaRPr lang="en-US" sz="950" dirty="0"/>
          </a:p>
        </p:txBody>
      </p:sp>
      <p:sp>
        <p:nvSpPr>
          <p:cNvPr id="19" name="Shape 16"/>
          <p:cNvSpPr/>
          <p:nvPr/>
        </p:nvSpPr>
        <p:spPr>
          <a:xfrm>
            <a:off x="6126480" y="4251960"/>
            <a:ext cx="2697480" cy="640080"/>
          </a:xfrm>
          <a:prstGeom prst="rect">
            <a:avLst/>
          </a:prstGeom>
          <a:solidFill>
            <a:srgbClr val="1A2E4A"/>
          </a:solidFill>
          <a:ln/>
          <a:effectLst>
            <a:outerShdw blurRad="76200" dist="25400" dir="8100000" algn="bl" rotWithShape="0">
              <a:srgbClr val="000000">
                <a:alpha val="20000"/>
              </a:srgbClr>
            </a:outerShdw>
          </a:effectLst>
        </p:spPr>
      </p:sp>
      <p:sp>
        <p:nvSpPr>
          <p:cNvPr id="20" name="Shape 17"/>
          <p:cNvSpPr/>
          <p:nvPr/>
        </p:nvSpPr>
        <p:spPr>
          <a:xfrm>
            <a:off x="6126480" y="4251960"/>
            <a:ext cx="2697480" cy="45720"/>
          </a:xfrm>
          <a:prstGeom prst="rect">
            <a:avLst/>
          </a:prstGeom>
          <a:solidFill>
            <a:srgbClr val="B57BFF"/>
          </a:solidFill>
          <a:ln/>
        </p:spPr>
      </p:sp>
      <p:sp>
        <p:nvSpPr>
          <p:cNvPr id="21" name="Text 18"/>
          <p:cNvSpPr/>
          <p:nvPr/>
        </p:nvSpPr>
        <p:spPr>
          <a:xfrm>
            <a:off x="6217920" y="4343400"/>
            <a:ext cx="2532888" cy="246888"/>
          </a:xfrm>
          <a:prstGeom prst="rect">
            <a:avLst/>
          </a:prstGeom>
          <a:noFill/>
          <a:ln/>
        </p:spPr>
        <p:txBody>
          <a:bodyPr wrap="square" rtlCol="0" anchor="ctr"/>
          <a:lstStyle/>
          <a:p>
            <a:pPr marL="0" indent="0">
              <a:buNone/>
            </a:pPr>
            <a:r>
              <a:rPr lang="en-US" sz="1050" b="1" dirty="0">
                <a:solidFill>
                  <a:srgbClr val="B57BFF"/>
                </a:solidFill>
                <a:latin typeface="Calibri" pitchFamily="34" charset="0"/>
                <a:ea typeface="Calibri" pitchFamily="34" charset="-122"/>
                <a:cs typeface="Calibri" pitchFamily="34" charset="-120"/>
              </a:rPr>
              <a:t>Too Large λ</a:t>
            </a:r>
            <a:endParaRPr lang="en-US" sz="1050" dirty="0"/>
          </a:p>
        </p:txBody>
      </p:sp>
      <p:sp>
        <p:nvSpPr>
          <p:cNvPr id="22" name="Text 19"/>
          <p:cNvSpPr/>
          <p:nvPr/>
        </p:nvSpPr>
        <p:spPr>
          <a:xfrm>
            <a:off x="6217920" y="4617720"/>
            <a:ext cx="2532888" cy="201168"/>
          </a:xfrm>
          <a:prstGeom prst="rect">
            <a:avLst/>
          </a:prstGeom>
          <a:noFill/>
          <a:ln/>
        </p:spPr>
        <p:txBody>
          <a:bodyPr wrap="square" rtlCol="0" anchor="t"/>
          <a:lstStyle/>
          <a:p>
            <a:pPr marL="0" indent="0">
              <a:buNone/>
            </a:pPr>
            <a:r>
              <a:rPr lang="en-US" sz="950" dirty="0">
                <a:solidFill>
                  <a:srgbClr val="F0F4F8"/>
                </a:solidFill>
                <a:latin typeface="Calibri" pitchFamily="34" charset="0"/>
                <a:ea typeface="Calibri" pitchFamily="34" charset="-122"/>
                <a:cs typeface="Calibri" pitchFamily="34" charset="-120"/>
              </a:rPr>
              <a:t>Model underfits, all β ≈ 0</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HIGH bias, low variance</a:t>
            </a:r>
            <a:endParaRPr lang="en-US" sz="950" dirty="0"/>
          </a:p>
          <a:p>
            <a:pPr marL="0" indent="0">
              <a:buNone/>
            </a:pPr>
            <a:r>
              <a:rPr lang="en-US" sz="950" dirty="0">
                <a:solidFill>
                  <a:srgbClr val="F0F4F8"/>
                </a:solidFill>
                <a:latin typeface="Calibri" pitchFamily="34" charset="0"/>
                <a:ea typeface="Calibri" pitchFamily="34" charset="-122"/>
                <a:cs typeface="Calibri" pitchFamily="34" charset="-120"/>
              </a:rPr>
              <a:t>Predicts near the mean always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FF6B9D"/>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8. Polynomial Feature Expansion</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FF6B9D"/>
                </a:solidFill>
                <a:latin typeface="Calibri" pitchFamily="34" charset="0"/>
                <a:ea typeface="Calibri" pitchFamily="34" charset="-122"/>
                <a:cs typeface="Calibri" pitchFamily="34" charset="-120"/>
              </a:rPr>
              <a:t>Capture non-linear patterns with a linear model</a:t>
            </a:r>
            <a:endParaRPr lang="en-US" sz="1200" dirty="0"/>
          </a:p>
        </p:txBody>
      </p:sp>
      <p:sp>
        <p:nvSpPr>
          <p:cNvPr id="6" name="Shape 4"/>
          <p:cNvSpPr/>
          <p:nvPr/>
        </p:nvSpPr>
        <p:spPr>
          <a:xfrm>
            <a:off x="274320" y="1078992"/>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Polynomial Model</a:t>
            </a:r>
            <a:endParaRPr lang="en-US" sz="850" dirty="0"/>
          </a:p>
        </p:txBody>
      </p:sp>
      <p:sp>
        <p:nvSpPr>
          <p:cNvPr id="9" name="Text 7"/>
          <p:cNvSpPr/>
          <p:nvPr/>
        </p:nvSpPr>
        <p:spPr>
          <a:xfrm>
            <a:off x="384048" y="1316736"/>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ŷ = β₀ + β₁x + β₂x² + β₃x³  →  still LINEAR in β!</a:t>
            </a:r>
            <a:endParaRPr lang="en-US" sz="1100" dirty="0"/>
          </a:p>
        </p:txBody>
      </p:sp>
      <p:pic>
        <p:nvPicPr>
          <p:cNvPr id="10" name="Image 0" descr="preencoded.png"/>
          <p:cNvPicPr>
            <a:picLocks noChangeAspect="1"/>
          </p:cNvPicPr>
          <p:nvPr/>
        </p:nvPicPr>
        <p:blipFill>
          <a:blip r:embed="rId3"/>
          <a:stretch>
            <a:fillRect/>
          </a:stretch>
        </p:blipFill>
        <p:spPr>
          <a:xfrm>
            <a:off x="274320" y="1737360"/>
            <a:ext cx="8595360" cy="2450592"/>
          </a:xfrm>
          <a:prstGeom prst="rect">
            <a:avLst/>
          </a:prstGeom>
        </p:spPr>
      </p:pic>
      <p:sp>
        <p:nvSpPr>
          <p:cNvPr id="11" name="Shape 8"/>
          <p:cNvSpPr/>
          <p:nvPr/>
        </p:nvSpPr>
        <p:spPr>
          <a:xfrm>
            <a:off x="274320" y="4251960"/>
            <a:ext cx="8595360" cy="1161288"/>
          </a:xfrm>
          <a:prstGeom prst="rect">
            <a:avLst/>
          </a:prstGeom>
          <a:solidFill>
            <a:srgbClr val="0A1628"/>
          </a:solidFill>
          <a:ln/>
          <a:effectLst>
            <a:outerShdw blurRad="101600" dist="38100" dir="8100000" algn="bl" rotWithShape="0">
              <a:srgbClr val="000000">
                <a:alpha val="35000"/>
              </a:srgbClr>
            </a:outerShdw>
          </a:effectLst>
        </p:spPr>
      </p:sp>
      <p:sp>
        <p:nvSpPr>
          <p:cNvPr id="12" name="Shape 9"/>
          <p:cNvSpPr/>
          <p:nvPr/>
        </p:nvSpPr>
        <p:spPr>
          <a:xfrm>
            <a:off x="274320" y="4251960"/>
            <a:ext cx="8595360" cy="237744"/>
          </a:xfrm>
          <a:prstGeom prst="rect">
            <a:avLst/>
          </a:prstGeom>
          <a:solidFill>
            <a:srgbClr val="060E1C"/>
          </a:solidFill>
          <a:ln/>
        </p:spPr>
      </p:sp>
      <p:sp>
        <p:nvSpPr>
          <p:cNvPr id="13" name="Shape 10"/>
          <p:cNvSpPr/>
          <p:nvPr/>
        </p:nvSpPr>
        <p:spPr>
          <a:xfrm>
            <a:off x="338328" y="4306824"/>
            <a:ext cx="128016" cy="128016"/>
          </a:xfrm>
          <a:prstGeom prst="ellipse">
            <a:avLst/>
          </a:prstGeom>
          <a:solidFill>
            <a:srgbClr val="FF5F56"/>
          </a:solidFill>
          <a:ln/>
        </p:spPr>
      </p:sp>
      <p:sp>
        <p:nvSpPr>
          <p:cNvPr id="14" name="Shape 11"/>
          <p:cNvSpPr/>
          <p:nvPr/>
        </p:nvSpPr>
        <p:spPr>
          <a:xfrm>
            <a:off x="466344" y="4306824"/>
            <a:ext cx="128016" cy="128016"/>
          </a:xfrm>
          <a:prstGeom prst="ellipse">
            <a:avLst/>
          </a:prstGeom>
          <a:solidFill>
            <a:srgbClr val="FFBD2E"/>
          </a:solidFill>
          <a:ln/>
        </p:spPr>
      </p:sp>
      <p:sp>
        <p:nvSpPr>
          <p:cNvPr id="15" name="Shape 12"/>
          <p:cNvSpPr/>
          <p:nvPr/>
        </p:nvSpPr>
        <p:spPr>
          <a:xfrm>
            <a:off x="594360" y="4306824"/>
            <a:ext cx="128016" cy="128016"/>
          </a:xfrm>
          <a:prstGeom prst="ellipse">
            <a:avLst/>
          </a:prstGeom>
          <a:solidFill>
            <a:srgbClr val="27C93F"/>
          </a:solidFill>
          <a:ln/>
        </p:spPr>
      </p:sp>
      <p:sp>
        <p:nvSpPr>
          <p:cNvPr id="16" name="Text 13"/>
          <p:cNvSpPr/>
          <p:nvPr/>
        </p:nvSpPr>
        <p:spPr>
          <a:xfrm>
            <a:off x="749808" y="4288536"/>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17" name="Text 14"/>
          <p:cNvSpPr/>
          <p:nvPr/>
        </p:nvSpPr>
        <p:spPr>
          <a:xfrm>
            <a:off x="384048" y="4526280"/>
            <a:ext cx="8394192" cy="832104"/>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from sklearn.preprocessing import PolynomialFeatures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sklearn.linear_model import LinearRegression</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sklearn.pipeline import Pipeline</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speed vs fuel efficiency — best fit is a curve (degree 2)</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speed = [[20],[30],[40],[50],[60],[70],[80],[90],[100]]</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mpg   = [18, 24, 30, 35, 33, 28, 22, 17, 12]</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for degree in [1, 2, 3, 5]:</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model = Pipeline([</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('poly', PolynomialFeatures(degree)),   # creates [1, x, x², x³, ...]</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('lr',   LinearRegression())</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model.fit(speed, mpg)</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print(f"Degree {degree}: R² = {model.score(speed, mpg):.4f}")</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Degree 1: R² = 0.0013  ← terrible (straight line on curved data)</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Degree 2: R² = 0.9849  ← great fit! (parabola matches physics)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Degree 5: R² = 0.9985  ← overfitting noise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06D6A0"/>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9. Tree-Based Regression Models</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06D6A0"/>
                </a:solidFill>
                <a:latin typeface="Calibri" pitchFamily="34" charset="0"/>
                <a:ea typeface="Calibri" pitchFamily="34" charset="-122"/>
                <a:cs typeface="Calibri" pitchFamily="34" charset="-120"/>
              </a:rPr>
              <a:t>Non-linear, no feature scaling needed</a:t>
            </a:r>
            <a:endParaRPr lang="en-US" sz="1200" dirty="0"/>
          </a:p>
        </p:txBody>
      </p:sp>
      <p:sp>
        <p:nvSpPr>
          <p:cNvPr id="6" name="Shape 4"/>
          <p:cNvSpPr/>
          <p:nvPr/>
        </p:nvSpPr>
        <p:spPr>
          <a:xfrm>
            <a:off x="274320" y="1078992"/>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Split Rule</a:t>
            </a:r>
            <a:endParaRPr lang="en-US" sz="850" dirty="0"/>
          </a:p>
        </p:txBody>
      </p:sp>
      <p:sp>
        <p:nvSpPr>
          <p:cNvPr id="9" name="Text 7"/>
          <p:cNvSpPr/>
          <p:nvPr/>
        </p:nvSpPr>
        <p:spPr>
          <a:xfrm>
            <a:off x="384048" y="1316736"/>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At each node: pick feature + threshold that minimizes  RSS = Σ(yᵢ−ȳ_left)² + Σ(yᵢ−ȳ_right)²</a:t>
            </a:r>
            <a:endParaRPr lang="en-US" sz="1100" dirty="0"/>
          </a:p>
        </p:txBody>
      </p:sp>
      <p:pic>
        <p:nvPicPr>
          <p:cNvPr id="10" name="Image 0" descr="preencoded.png"/>
          <p:cNvPicPr>
            <a:picLocks noChangeAspect="1"/>
          </p:cNvPicPr>
          <p:nvPr/>
        </p:nvPicPr>
        <p:blipFill>
          <a:blip r:embed="rId3"/>
          <a:stretch>
            <a:fillRect/>
          </a:stretch>
        </p:blipFill>
        <p:spPr>
          <a:xfrm>
            <a:off x="274320" y="1737360"/>
            <a:ext cx="8595360" cy="2450592"/>
          </a:xfrm>
          <a:prstGeom prst="rect">
            <a:avLst/>
          </a:prstGeom>
        </p:spPr>
      </p:pic>
      <p:sp>
        <p:nvSpPr>
          <p:cNvPr id="11" name="Shape 8"/>
          <p:cNvSpPr/>
          <p:nvPr/>
        </p:nvSpPr>
        <p:spPr>
          <a:xfrm>
            <a:off x="274320" y="4251960"/>
            <a:ext cx="8595360" cy="1161288"/>
          </a:xfrm>
          <a:prstGeom prst="rect">
            <a:avLst/>
          </a:prstGeom>
          <a:solidFill>
            <a:srgbClr val="0A1628"/>
          </a:solidFill>
          <a:ln/>
          <a:effectLst>
            <a:outerShdw blurRad="101600" dist="38100" dir="8100000" algn="bl" rotWithShape="0">
              <a:srgbClr val="000000">
                <a:alpha val="35000"/>
              </a:srgbClr>
            </a:outerShdw>
          </a:effectLst>
        </p:spPr>
      </p:sp>
      <p:sp>
        <p:nvSpPr>
          <p:cNvPr id="12" name="Shape 9"/>
          <p:cNvSpPr/>
          <p:nvPr/>
        </p:nvSpPr>
        <p:spPr>
          <a:xfrm>
            <a:off x="274320" y="4251960"/>
            <a:ext cx="8595360" cy="237744"/>
          </a:xfrm>
          <a:prstGeom prst="rect">
            <a:avLst/>
          </a:prstGeom>
          <a:solidFill>
            <a:srgbClr val="060E1C"/>
          </a:solidFill>
          <a:ln/>
        </p:spPr>
      </p:sp>
      <p:sp>
        <p:nvSpPr>
          <p:cNvPr id="13" name="Shape 10"/>
          <p:cNvSpPr/>
          <p:nvPr/>
        </p:nvSpPr>
        <p:spPr>
          <a:xfrm>
            <a:off x="338328" y="4306824"/>
            <a:ext cx="128016" cy="128016"/>
          </a:xfrm>
          <a:prstGeom prst="ellipse">
            <a:avLst/>
          </a:prstGeom>
          <a:solidFill>
            <a:srgbClr val="FF5F56"/>
          </a:solidFill>
          <a:ln/>
        </p:spPr>
      </p:sp>
      <p:sp>
        <p:nvSpPr>
          <p:cNvPr id="14" name="Shape 11"/>
          <p:cNvSpPr/>
          <p:nvPr/>
        </p:nvSpPr>
        <p:spPr>
          <a:xfrm>
            <a:off x="466344" y="4306824"/>
            <a:ext cx="128016" cy="128016"/>
          </a:xfrm>
          <a:prstGeom prst="ellipse">
            <a:avLst/>
          </a:prstGeom>
          <a:solidFill>
            <a:srgbClr val="FFBD2E"/>
          </a:solidFill>
          <a:ln/>
        </p:spPr>
      </p:sp>
      <p:sp>
        <p:nvSpPr>
          <p:cNvPr id="15" name="Shape 12"/>
          <p:cNvSpPr/>
          <p:nvPr/>
        </p:nvSpPr>
        <p:spPr>
          <a:xfrm>
            <a:off x="594360" y="4306824"/>
            <a:ext cx="128016" cy="128016"/>
          </a:xfrm>
          <a:prstGeom prst="ellipse">
            <a:avLst/>
          </a:prstGeom>
          <a:solidFill>
            <a:srgbClr val="27C93F"/>
          </a:solidFill>
          <a:ln/>
        </p:spPr>
      </p:sp>
      <p:sp>
        <p:nvSpPr>
          <p:cNvPr id="16" name="Text 13"/>
          <p:cNvSpPr/>
          <p:nvPr/>
        </p:nvSpPr>
        <p:spPr>
          <a:xfrm>
            <a:off x="749808" y="4288536"/>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17" name="Text 14"/>
          <p:cNvSpPr/>
          <p:nvPr/>
        </p:nvSpPr>
        <p:spPr>
          <a:xfrm>
            <a:off x="384048" y="4526280"/>
            <a:ext cx="8394192" cy="832104"/>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from sklearn.tree import DecisionTreeRegressor</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sklearn.ensemble import RandomForestRegressor, GradientBoostingRegressor</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sklearn.model_selection import cross_val_score</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models = {</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'Decision Tree':  DecisionTreeRegressor(max_depth=5),</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'Random Forest':  RandomForestRegressor(n_estimators=100, random_state=42),</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'Gradient Boost': GradientBoostingRegressor(n_estimators=200, learning_rate=0.05),</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for name, model in models.items():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r2 = cross_val_score(model, X, y, cv=5, scoring='r2').mean()</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print(f"{name:&lt;18}: R² = {r2:.4f}")</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Decision Tree     : R² = 0.7821  (interpretable but limited)</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Random Forest     : R² = 0.9012  (robust, easy to use)</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Gradient Boost    : R² = 0.9234  (best accuracy, tune carefully)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426"/>
          </a:solidFill>
          <a:ln/>
        </p:spPr>
      </p:sp>
      <p:sp>
        <p:nvSpPr>
          <p:cNvPr id="3" name="Shape 1"/>
          <p:cNvSpPr/>
          <p:nvPr/>
        </p:nvSpPr>
        <p:spPr>
          <a:xfrm>
            <a:off x="0" y="685800"/>
            <a:ext cx="9144000" cy="36576"/>
          </a:xfrm>
          <a:prstGeom prst="rect">
            <a:avLst/>
          </a:prstGeom>
          <a:solidFill>
            <a:srgbClr val="FFD166"/>
          </a:solidFill>
          <a:ln/>
        </p:spPr>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10. Time-Series Regression Models</a:t>
            </a:r>
            <a:endParaRPr lang="en-US" sz="2600" dirty="0"/>
          </a:p>
        </p:txBody>
      </p:sp>
      <p:sp>
        <p:nvSpPr>
          <p:cNvPr id="5" name="Text 3"/>
          <p:cNvSpPr/>
          <p:nvPr/>
        </p:nvSpPr>
        <p:spPr>
          <a:xfrm>
            <a:off x="320040" y="749808"/>
            <a:ext cx="8503920" cy="256032"/>
          </a:xfrm>
          <a:prstGeom prst="rect">
            <a:avLst/>
          </a:prstGeom>
          <a:noFill/>
          <a:ln/>
        </p:spPr>
        <p:txBody>
          <a:bodyPr wrap="square" lIns="0" tIns="0" rIns="0" bIns="0" rtlCol="0" anchor="ctr"/>
          <a:lstStyle/>
          <a:p>
            <a:pPr marL="0" indent="0">
              <a:buNone/>
            </a:pPr>
            <a:r>
              <a:rPr lang="en-US" sz="1200" dirty="0">
                <a:solidFill>
                  <a:srgbClr val="FFD166"/>
                </a:solidFill>
                <a:latin typeface="Calibri" pitchFamily="34" charset="0"/>
                <a:ea typeface="Calibri" pitchFamily="34" charset="-122"/>
                <a:cs typeface="Calibri" pitchFamily="34" charset="-120"/>
              </a:rPr>
              <a:t>Predicting future values from past patterns</a:t>
            </a:r>
            <a:endParaRPr lang="en-US" sz="1200" dirty="0"/>
          </a:p>
        </p:txBody>
      </p:sp>
      <p:sp>
        <p:nvSpPr>
          <p:cNvPr id="6" name="Shape 4"/>
          <p:cNvSpPr/>
          <p:nvPr/>
        </p:nvSpPr>
        <p:spPr>
          <a:xfrm>
            <a:off x="274320" y="1078992"/>
            <a:ext cx="8595360" cy="566928"/>
          </a:xfrm>
          <a:prstGeom prst="rect">
            <a:avLst/>
          </a:prstGeom>
          <a:solidFill>
            <a:srgbClr val="060E1C"/>
          </a:solidFill>
          <a:ln/>
          <a:effectLst>
            <a:outerShdw blurRad="76200" dist="25400" dir="8100000" algn="bl" rotWithShape="0">
              <a:srgbClr val="000000">
                <a:alpha val="30000"/>
              </a:srgbClr>
            </a:outerShdw>
          </a:effectLst>
        </p:spPr>
      </p:sp>
      <p:sp>
        <p:nvSpPr>
          <p:cNvPr id="7" name="Shape 5"/>
          <p:cNvSpPr/>
          <p:nvPr/>
        </p:nvSpPr>
        <p:spPr>
          <a:xfrm>
            <a:off x="274320" y="1078992"/>
            <a:ext cx="45720" cy="566928"/>
          </a:xfrm>
          <a:prstGeom prst="rect">
            <a:avLst/>
          </a:prstGeom>
          <a:solidFill>
            <a:srgbClr val="FF6B35"/>
          </a:solidFill>
          <a:ln/>
        </p:spPr>
      </p:sp>
      <p:sp>
        <p:nvSpPr>
          <p:cNvPr id="8" name="Text 6"/>
          <p:cNvSpPr/>
          <p:nvPr/>
        </p:nvSpPr>
        <p:spPr>
          <a:xfrm>
            <a:off x="384048" y="1106424"/>
            <a:ext cx="8458200" cy="201168"/>
          </a:xfrm>
          <a:prstGeom prst="rect">
            <a:avLst/>
          </a:prstGeom>
          <a:noFill/>
          <a:ln/>
        </p:spPr>
        <p:txBody>
          <a:bodyPr wrap="square" rtlCol="0" anchor="ctr"/>
          <a:lstStyle/>
          <a:p>
            <a:pPr marL="0" indent="0">
              <a:buNone/>
            </a:pPr>
            <a:r>
              <a:rPr lang="en-US" sz="850" b="1" dirty="0">
                <a:solidFill>
                  <a:srgbClr val="FF6B35"/>
                </a:solidFill>
                <a:latin typeface="Calibri" pitchFamily="34" charset="0"/>
                <a:ea typeface="Calibri" pitchFamily="34" charset="-122"/>
                <a:cs typeface="Calibri" pitchFamily="34" charset="-120"/>
              </a:rPr>
              <a:t>AR(p) Model — Autoregressive</a:t>
            </a:r>
            <a:endParaRPr lang="en-US" sz="850" dirty="0"/>
          </a:p>
        </p:txBody>
      </p:sp>
      <p:sp>
        <p:nvSpPr>
          <p:cNvPr id="9" name="Text 7"/>
          <p:cNvSpPr/>
          <p:nvPr/>
        </p:nvSpPr>
        <p:spPr>
          <a:xfrm>
            <a:off x="384048" y="1316736"/>
            <a:ext cx="8458200" cy="256032"/>
          </a:xfrm>
          <a:prstGeom prst="rect">
            <a:avLst/>
          </a:prstGeom>
          <a:noFill/>
          <a:ln/>
        </p:spPr>
        <p:txBody>
          <a:bodyPr wrap="square" rtlCol="0" anchor="ctr"/>
          <a:lstStyle/>
          <a:p>
            <a:pPr marL="0" indent="0">
              <a:buNone/>
            </a:pPr>
            <a:r>
              <a:rPr lang="en-US" sz="1100" b="1" dirty="0">
                <a:solidFill>
                  <a:srgbClr val="FFD166"/>
                </a:solidFill>
                <a:latin typeface="Consolas" pitchFamily="34" charset="0"/>
                <a:ea typeface="Consolas" pitchFamily="34" charset="-122"/>
                <a:cs typeface="Consolas" pitchFamily="34" charset="-120"/>
              </a:rPr>
              <a:t>yₜ = β₀ + β₁·yₜ₋₁ + β₂·yₜ₋₂ + ... + βₚ·yₜ₋ₚ + εₜ</a:t>
            </a:r>
            <a:endParaRPr lang="en-US" sz="1100" dirty="0"/>
          </a:p>
        </p:txBody>
      </p:sp>
      <p:pic>
        <p:nvPicPr>
          <p:cNvPr id="10" name="Image 0" descr="preencoded.png"/>
          <p:cNvPicPr>
            <a:picLocks noChangeAspect="1"/>
          </p:cNvPicPr>
          <p:nvPr/>
        </p:nvPicPr>
        <p:blipFill>
          <a:blip r:embed="rId3"/>
          <a:stretch>
            <a:fillRect/>
          </a:stretch>
        </p:blipFill>
        <p:spPr>
          <a:xfrm>
            <a:off x="274320" y="1737360"/>
            <a:ext cx="8595360" cy="2450592"/>
          </a:xfrm>
          <a:prstGeom prst="rect">
            <a:avLst/>
          </a:prstGeom>
        </p:spPr>
      </p:pic>
      <p:sp>
        <p:nvSpPr>
          <p:cNvPr id="11" name="Shape 8"/>
          <p:cNvSpPr/>
          <p:nvPr/>
        </p:nvSpPr>
        <p:spPr>
          <a:xfrm>
            <a:off x="274320" y="4251960"/>
            <a:ext cx="8595360" cy="1161288"/>
          </a:xfrm>
          <a:prstGeom prst="rect">
            <a:avLst/>
          </a:prstGeom>
          <a:solidFill>
            <a:srgbClr val="0A1628"/>
          </a:solidFill>
          <a:ln/>
          <a:effectLst>
            <a:outerShdw blurRad="101600" dist="38100" dir="8100000" algn="bl" rotWithShape="0">
              <a:srgbClr val="000000">
                <a:alpha val="35000"/>
              </a:srgbClr>
            </a:outerShdw>
          </a:effectLst>
        </p:spPr>
      </p:sp>
      <p:sp>
        <p:nvSpPr>
          <p:cNvPr id="12" name="Shape 9"/>
          <p:cNvSpPr/>
          <p:nvPr/>
        </p:nvSpPr>
        <p:spPr>
          <a:xfrm>
            <a:off x="274320" y="4251960"/>
            <a:ext cx="8595360" cy="237744"/>
          </a:xfrm>
          <a:prstGeom prst="rect">
            <a:avLst/>
          </a:prstGeom>
          <a:solidFill>
            <a:srgbClr val="060E1C"/>
          </a:solidFill>
          <a:ln/>
        </p:spPr>
      </p:sp>
      <p:sp>
        <p:nvSpPr>
          <p:cNvPr id="13" name="Shape 10"/>
          <p:cNvSpPr/>
          <p:nvPr/>
        </p:nvSpPr>
        <p:spPr>
          <a:xfrm>
            <a:off x="338328" y="4306824"/>
            <a:ext cx="128016" cy="128016"/>
          </a:xfrm>
          <a:prstGeom prst="ellipse">
            <a:avLst/>
          </a:prstGeom>
          <a:solidFill>
            <a:srgbClr val="FF5F56"/>
          </a:solidFill>
          <a:ln/>
        </p:spPr>
      </p:sp>
      <p:sp>
        <p:nvSpPr>
          <p:cNvPr id="14" name="Shape 11"/>
          <p:cNvSpPr/>
          <p:nvPr/>
        </p:nvSpPr>
        <p:spPr>
          <a:xfrm>
            <a:off x="466344" y="4306824"/>
            <a:ext cx="128016" cy="128016"/>
          </a:xfrm>
          <a:prstGeom prst="ellipse">
            <a:avLst/>
          </a:prstGeom>
          <a:solidFill>
            <a:srgbClr val="FFBD2E"/>
          </a:solidFill>
          <a:ln/>
        </p:spPr>
      </p:sp>
      <p:sp>
        <p:nvSpPr>
          <p:cNvPr id="15" name="Shape 12"/>
          <p:cNvSpPr/>
          <p:nvPr/>
        </p:nvSpPr>
        <p:spPr>
          <a:xfrm>
            <a:off x="594360" y="4306824"/>
            <a:ext cx="128016" cy="128016"/>
          </a:xfrm>
          <a:prstGeom prst="ellipse">
            <a:avLst/>
          </a:prstGeom>
          <a:solidFill>
            <a:srgbClr val="27C93F"/>
          </a:solidFill>
          <a:ln/>
        </p:spPr>
      </p:sp>
      <p:sp>
        <p:nvSpPr>
          <p:cNvPr id="16" name="Text 13"/>
          <p:cNvSpPr/>
          <p:nvPr/>
        </p:nvSpPr>
        <p:spPr>
          <a:xfrm>
            <a:off x="749808" y="4288536"/>
            <a:ext cx="1371600" cy="164592"/>
          </a:xfrm>
          <a:prstGeom prst="rect">
            <a:avLst/>
          </a:prstGeom>
          <a:noFill/>
          <a:ln/>
        </p:spPr>
        <p:txBody>
          <a:bodyPr wrap="square" rtlCol="0" anchor="ctr"/>
          <a:lstStyle/>
          <a:p>
            <a:pPr marL="0" indent="0">
              <a:buNone/>
            </a:pPr>
            <a:r>
              <a:rPr lang="en-US" sz="900" b="1" dirty="0">
                <a:solidFill>
                  <a:srgbClr val="00D4B8"/>
                </a:solidFill>
                <a:latin typeface="Consolas" pitchFamily="34" charset="0"/>
                <a:ea typeface="Consolas" pitchFamily="34" charset="-122"/>
                <a:cs typeface="Consolas" pitchFamily="34" charset="-120"/>
              </a:rPr>
              <a:t>Python</a:t>
            </a:r>
            <a:endParaRPr lang="en-US" sz="900" dirty="0"/>
          </a:p>
        </p:txBody>
      </p:sp>
      <p:sp>
        <p:nvSpPr>
          <p:cNvPr id="17" name="Text 14"/>
          <p:cNvSpPr/>
          <p:nvPr/>
        </p:nvSpPr>
        <p:spPr>
          <a:xfrm>
            <a:off x="384048" y="4526280"/>
            <a:ext cx="8394192" cy="832104"/>
          </a:xfrm>
          <a:prstGeom prst="rect">
            <a:avLst/>
          </a:prstGeom>
          <a:noFill/>
          <a:ln/>
        </p:spPr>
        <p:txBody>
          <a:bodyPr wrap="square" rtlCol="0" anchor="t"/>
          <a:lstStyle/>
          <a:p>
            <a:pPr marL="0" indent="0" algn="l">
              <a:buNone/>
            </a:pPr>
            <a:r>
              <a:rPr lang="en-US" sz="850" dirty="0">
                <a:solidFill>
                  <a:srgbClr val="E2F0FF"/>
                </a:solidFill>
                <a:latin typeface="Consolas" pitchFamily="34" charset="0"/>
                <a:ea typeface="Consolas" pitchFamily="34" charset="-122"/>
                <a:cs typeface="Consolas" pitchFamily="34" charset="-120"/>
              </a:rPr>
              <a:t>import pandas as pd</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from sklearn.ensemble import GradientBoostingRegressor</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Create lag features: "the past predicts the future"</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def add_lags(series, lags=[1, 2, 7, 14]):</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df = pd.DataFrame({'y': series})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for lag in lags: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df[f'lag{lag}'] = df['y'].shift(lag)   # yesterday, last week...</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df['day_of_week'] = pd.date_range('2023', periods=len(series)).dayofweek</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return df.dropna()</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df = add_lags(energy_demand)</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X, y = df.drop('y', axis=1), df['y']</a:t>
            </a:r>
            <a:endParaRPr lang="en-US" sz="850" dirty="0"/>
          </a:p>
          <a:p>
            <a:pPr marL="0" indent="0" algn="l">
              <a:buNone/>
            </a:pP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 Train on past, predict the future (NEVER shuffle time-series!)</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split = int(len(df) * 0.8)</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 = GradientBoostingRegressor(n_estimators=200, learning_rate=0.05)</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model.fit(X.iloc[:split], y.iloc[:split])</a:t>
            </a:r>
            <a:endParaRPr lang="en-US" sz="850" dirty="0"/>
          </a:p>
          <a:p>
            <a:pPr marL="0" indent="0" algn="l">
              <a:buNone/>
            </a:pPr>
            <a:r>
              <a:rPr lang="en-US" sz="850" dirty="0">
                <a:solidFill>
                  <a:srgbClr val="E2F0FF"/>
                </a:solidFill>
                <a:latin typeface="Consolas" pitchFamily="34" charset="0"/>
                <a:ea typeface="Consolas" pitchFamily="34" charset="-122"/>
                <a:cs typeface="Consolas" pitchFamily="34" charset="-120"/>
              </a:rPr>
              <a:t>predictions = model.predict(X.iloc[split:])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426"/>
        </a:solidFill>
        <a:effectLst/>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00D4B8">
              <a:alpha val="8000"/>
            </a:srgbClr>
          </a:solidFill>
          <a:ln/>
        </p:spPr>
      </p:sp>
      <p:sp>
        <p:nvSpPr>
          <p:cNvPr id="3" name="Shape 1"/>
          <p:cNvSpPr/>
          <p:nvPr/>
        </p:nvSpPr>
        <p:spPr>
          <a:xfrm>
            <a:off x="0" y="0"/>
            <a:ext cx="91440" cy="5143500"/>
          </a:xfrm>
          <a:prstGeom prst="rect">
            <a:avLst/>
          </a:prstGeom>
          <a:solidFill>
            <a:srgbClr val="00D4B8"/>
          </a:solidFill>
          <a:ln/>
        </p:spPr>
      </p:sp>
      <p:sp>
        <p:nvSpPr>
          <p:cNvPr id="4" name="Text 2"/>
          <p:cNvSpPr/>
          <p:nvPr/>
        </p:nvSpPr>
        <p:spPr>
          <a:xfrm>
            <a:off x="320040" y="109728"/>
            <a:ext cx="8503920" cy="502920"/>
          </a:xfrm>
          <a:prstGeom prst="rect">
            <a:avLst/>
          </a:prstGeom>
          <a:noFill/>
          <a:ln/>
        </p:spPr>
        <p:txBody>
          <a:bodyPr wrap="square" lIns="0" tIns="0" rIns="0" bIns="0" rtlCol="0" anchor="ctr"/>
          <a:lstStyle/>
          <a:p>
            <a:pPr marL="0" indent="0">
              <a:buNone/>
            </a:pPr>
            <a:r>
              <a:rPr lang="en-US" sz="2600" b="1" dirty="0">
                <a:solidFill>
                  <a:srgbClr val="F0F4F8"/>
                </a:solidFill>
                <a:latin typeface="Calibri" pitchFamily="34" charset="0"/>
                <a:ea typeface="Calibri" pitchFamily="34" charset="-122"/>
                <a:cs typeface="Calibri" pitchFamily="34" charset="-120"/>
              </a:rPr>
              <a:t>Model Selection Cheat Sheet</a:t>
            </a:r>
            <a:endParaRPr lang="en-US" sz="2600" dirty="0"/>
          </a:p>
        </p:txBody>
      </p:sp>
      <p:sp>
        <p:nvSpPr>
          <p:cNvPr id="5" name="Text 3"/>
          <p:cNvSpPr/>
          <p:nvPr/>
        </p:nvSpPr>
        <p:spPr>
          <a:xfrm>
            <a:off x="320040" y="621792"/>
            <a:ext cx="8503920" cy="256032"/>
          </a:xfrm>
          <a:prstGeom prst="rect">
            <a:avLst/>
          </a:prstGeom>
          <a:noFill/>
          <a:ln/>
        </p:spPr>
        <p:txBody>
          <a:bodyPr wrap="square" lIns="0" tIns="0" rIns="0" bIns="0" rtlCol="0" anchor="ctr"/>
          <a:lstStyle/>
          <a:p>
            <a:pPr marL="0" indent="0">
              <a:buNone/>
            </a:pPr>
            <a:r>
              <a:rPr lang="en-US" sz="1300" dirty="0">
                <a:solidFill>
                  <a:srgbClr val="00D4B8"/>
                </a:solidFill>
                <a:latin typeface="Calibri" pitchFamily="34" charset="0"/>
                <a:ea typeface="Calibri" pitchFamily="34" charset="-122"/>
                <a:cs typeface="Calibri" pitchFamily="34" charset="-120"/>
              </a:rPr>
              <a:t>Pick the right model for the job</a:t>
            </a:r>
            <a:endParaRPr lang="en-US" sz="1300" dirty="0"/>
          </a:p>
        </p:txBody>
      </p:sp>
      <p:sp>
        <p:nvSpPr>
          <p:cNvPr id="6" name="Shape 4"/>
          <p:cNvSpPr/>
          <p:nvPr/>
        </p:nvSpPr>
        <p:spPr>
          <a:xfrm>
            <a:off x="228600" y="987552"/>
            <a:ext cx="2011680" cy="347472"/>
          </a:xfrm>
          <a:prstGeom prst="rect">
            <a:avLst/>
          </a:prstGeom>
          <a:solidFill>
            <a:srgbClr val="00D4B8"/>
          </a:solidFill>
          <a:ln/>
        </p:spPr>
      </p:sp>
      <p:sp>
        <p:nvSpPr>
          <p:cNvPr id="7" name="Text 5"/>
          <p:cNvSpPr/>
          <p:nvPr/>
        </p:nvSpPr>
        <p:spPr>
          <a:xfrm>
            <a:off x="292608" y="1024128"/>
            <a:ext cx="1920240" cy="292608"/>
          </a:xfrm>
          <a:prstGeom prst="rect">
            <a:avLst/>
          </a:prstGeom>
          <a:noFill/>
          <a:ln/>
        </p:spPr>
        <p:txBody>
          <a:bodyPr wrap="square" rtlCol="0" anchor="ctr"/>
          <a:lstStyle/>
          <a:p>
            <a:pPr marL="0" indent="0">
              <a:buNone/>
            </a:pPr>
            <a:r>
              <a:rPr lang="en-US" sz="1050" b="1" dirty="0">
                <a:solidFill>
                  <a:srgbClr val="0B1426"/>
                </a:solidFill>
                <a:latin typeface="Calibri" pitchFamily="34" charset="0"/>
                <a:ea typeface="Calibri" pitchFamily="34" charset="-122"/>
                <a:cs typeface="Calibri" pitchFamily="34" charset="-120"/>
              </a:rPr>
              <a:t>Model</a:t>
            </a:r>
            <a:endParaRPr lang="en-US" sz="1050" dirty="0"/>
          </a:p>
        </p:txBody>
      </p:sp>
      <p:sp>
        <p:nvSpPr>
          <p:cNvPr id="8" name="Shape 6"/>
          <p:cNvSpPr/>
          <p:nvPr/>
        </p:nvSpPr>
        <p:spPr>
          <a:xfrm>
            <a:off x="2331720" y="987552"/>
            <a:ext cx="2331720" cy="347472"/>
          </a:xfrm>
          <a:prstGeom prst="rect">
            <a:avLst/>
          </a:prstGeom>
          <a:solidFill>
            <a:srgbClr val="00D4B8"/>
          </a:solidFill>
          <a:ln/>
        </p:spPr>
      </p:sp>
      <p:sp>
        <p:nvSpPr>
          <p:cNvPr id="9" name="Text 7"/>
          <p:cNvSpPr/>
          <p:nvPr/>
        </p:nvSpPr>
        <p:spPr>
          <a:xfrm>
            <a:off x="2395728" y="1024128"/>
            <a:ext cx="2240280" cy="292608"/>
          </a:xfrm>
          <a:prstGeom prst="rect">
            <a:avLst/>
          </a:prstGeom>
          <a:noFill/>
          <a:ln/>
        </p:spPr>
        <p:txBody>
          <a:bodyPr wrap="square" rtlCol="0" anchor="ctr"/>
          <a:lstStyle/>
          <a:p>
            <a:pPr marL="0" indent="0">
              <a:buNone/>
            </a:pPr>
            <a:r>
              <a:rPr lang="en-US" sz="1050" b="1" dirty="0">
                <a:solidFill>
                  <a:srgbClr val="0B1426"/>
                </a:solidFill>
                <a:latin typeface="Calibri" pitchFamily="34" charset="0"/>
                <a:ea typeface="Calibri" pitchFamily="34" charset="-122"/>
                <a:cs typeface="Calibri" pitchFamily="34" charset="-120"/>
              </a:rPr>
              <a:t>Best When...</a:t>
            </a:r>
            <a:endParaRPr lang="en-US" sz="1050" dirty="0"/>
          </a:p>
        </p:txBody>
      </p:sp>
      <p:sp>
        <p:nvSpPr>
          <p:cNvPr id="10" name="Shape 8"/>
          <p:cNvSpPr/>
          <p:nvPr/>
        </p:nvSpPr>
        <p:spPr>
          <a:xfrm>
            <a:off x="4754880" y="987552"/>
            <a:ext cx="2057400" cy="347472"/>
          </a:xfrm>
          <a:prstGeom prst="rect">
            <a:avLst/>
          </a:prstGeom>
          <a:solidFill>
            <a:srgbClr val="00D4B8"/>
          </a:solidFill>
          <a:ln/>
        </p:spPr>
      </p:sp>
      <p:sp>
        <p:nvSpPr>
          <p:cNvPr id="11" name="Text 9"/>
          <p:cNvSpPr/>
          <p:nvPr/>
        </p:nvSpPr>
        <p:spPr>
          <a:xfrm>
            <a:off x="4818888" y="1024128"/>
            <a:ext cx="1965960" cy="292608"/>
          </a:xfrm>
          <a:prstGeom prst="rect">
            <a:avLst/>
          </a:prstGeom>
          <a:noFill/>
          <a:ln/>
        </p:spPr>
        <p:txBody>
          <a:bodyPr wrap="square" rtlCol="0" anchor="ctr"/>
          <a:lstStyle/>
          <a:p>
            <a:pPr marL="0" indent="0">
              <a:buNone/>
            </a:pPr>
            <a:r>
              <a:rPr lang="en-US" sz="1050" b="1" dirty="0">
                <a:solidFill>
                  <a:srgbClr val="0B1426"/>
                </a:solidFill>
                <a:latin typeface="Calibri" pitchFamily="34" charset="0"/>
                <a:ea typeface="Calibri" pitchFamily="34" charset="-122"/>
                <a:cs typeface="Calibri" pitchFamily="34" charset="-120"/>
              </a:rPr>
              <a:t>Key Parameter</a:t>
            </a:r>
            <a:endParaRPr lang="en-US" sz="1050" dirty="0"/>
          </a:p>
        </p:txBody>
      </p:sp>
      <p:sp>
        <p:nvSpPr>
          <p:cNvPr id="12" name="Shape 10"/>
          <p:cNvSpPr/>
          <p:nvPr/>
        </p:nvSpPr>
        <p:spPr>
          <a:xfrm>
            <a:off x="6903720" y="987552"/>
            <a:ext cx="1920240" cy="347472"/>
          </a:xfrm>
          <a:prstGeom prst="rect">
            <a:avLst/>
          </a:prstGeom>
          <a:solidFill>
            <a:srgbClr val="00D4B8"/>
          </a:solidFill>
          <a:ln/>
        </p:spPr>
      </p:sp>
      <p:sp>
        <p:nvSpPr>
          <p:cNvPr id="13" name="Text 11"/>
          <p:cNvSpPr/>
          <p:nvPr/>
        </p:nvSpPr>
        <p:spPr>
          <a:xfrm>
            <a:off x="6967728" y="1024128"/>
            <a:ext cx="1828800" cy="292608"/>
          </a:xfrm>
          <a:prstGeom prst="rect">
            <a:avLst/>
          </a:prstGeom>
          <a:noFill/>
          <a:ln/>
        </p:spPr>
        <p:txBody>
          <a:bodyPr wrap="square" rtlCol="0" anchor="ctr"/>
          <a:lstStyle/>
          <a:p>
            <a:pPr marL="0" indent="0">
              <a:buNone/>
            </a:pPr>
            <a:r>
              <a:rPr lang="en-US" sz="1050" b="1" dirty="0">
                <a:solidFill>
                  <a:srgbClr val="0B1426"/>
                </a:solidFill>
                <a:latin typeface="Consolas" pitchFamily="34" charset="0"/>
                <a:ea typeface="Consolas" pitchFamily="34" charset="-122"/>
                <a:cs typeface="Consolas" pitchFamily="34" charset="-120"/>
              </a:rPr>
              <a:t>sklearn</a:t>
            </a:r>
            <a:endParaRPr lang="en-US" sz="1050" dirty="0"/>
          </a:p>
        </p:txBody>
      </p:sp>
      <p:sp>
        <p:nvSpPr>
          <p:cNvPr id="14" name="Shape 12"/>
          <p:cNvSpPr/>
          <p:nvPr/>
        </p:nvSpPr>
        <p:spPr>
          <a:xfrm>
            <a:off x="228600" y="1335024"/>
            <a:ext cx="2011680" cy="347472"/>
          </a:xfrm>
          <a:prstGeom prst="rect">
            <a:avLst/>
          </a:prstGeom>
          <a:solidFill>
            <a:srgbClr val="1A2E4A"/>
          </a:solidFill>
          <a:ln/>
        </p:spPr>
      </p:sp>
      <p:sp>
        <p:nvSpPr>
          <p:cNvPr id="15" name="Text 13"/>
          <p:cNvSpPr/>
          <p:nvPr/>
        </p:nvSpPr>
        <p:spPr>
          <a:xfrm>
            <a:off x="292608" y="1371600"/>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Linear Regression</a:t>
            </a:r>
            <a:endParaRPr lang="en-US" sz="900" dirty="0"/>
          </a:p>
        </p:txBody>
      </p:sp>
      <p:sp>
        <p:nvSpPr>
          <p:cNvPr id="16" name="Shape 14"/>
          <p:cNvSpPr/>
          <p:nvPr/>
        </p:nvSpPr>
        <p:spPr>
          <a:xfrm>
            <a:off x="2331720" y="1335024"/>
            <a:ext cx="2331720" cy="347472"/>
          </a:xfrm>
          <a:prstGeom prst="rect">
            <a:avLst/>
          </a:prstGeom>
          <a:solidFill>
            <a:srgbClr val="1A2E4A"/>
          </a:solidFill>
          <a:ln/>
        </p:spPr>
      </p:sp>
      <p:sp>
        <p:nvSpPr>
          <p:cNvPr id="17" name="Text 15"/>
          <p:cNvSpPr/>
          <p:nvPr/>
        </p:nvSpPr>
        <p:spPr>
          <a:xfrm>
            <a:off x="2395728" y="1371600"/>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Linear relationship, small data</a:t>
            </a:r>
            <a:endParaRPr lang="en-US" sz="900" dirty="0"/>
          </a:p>
        </p:txBody>
      </p:sp>
      <p:sp>
        <p:nvSpPr>
          <p:cNvPr id="18" name="Shape 16"/>
          <p:cNvSpPr/>
          <p:nvPr/>
        </p:nvSpPr>
        <p:spPr>
          <a:xfrm>
            <a:off x="4754880" y="1335024"/>
            <a:ext cx="2057400" cy="347472"/>
          </a:xfrm>
          <a:prstGeom prst="rect">
            <a:avLst/>
          </a:prstGeom>
          <a:solidFill>
            <a:srgbClr val="1A2E4A"/>
          </a:solidFill>
          <a:ln/>
        </p:spPr>
      </p:sp>
      <p:sp>
        <p:nvSpPr>
          <p:cNvPr id="19" name="Text 17"/>
          <p:cNvSpPr/>
          <p:nvPr/>
        </p:nvSpPr>
        <p:spPr>
          <a:xfrm>
            <a:off x="4818888" y="1371600"/>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6903720" y="1335024"/>
            <a:ext cx="1920240" cy="347472"/>
          </a:xfrm>
          <a:prstGeom prst="rect">
            <a:avLst/>
          </a:prstGeom>
          <a:solidFill>
            <a:srgbClr val="1A2E4A"/>
          </a:solidFill>
          <a:ln/>
        </p:spPr>
      </p:sp>
      <p:sp>
        <p:nvSpPr>
          <p:cNvPr id="21" name="Text 19"/>
          <p:cNvSpPr/>
          <p:nvPr/>
        </p:nvSpPr>
        <p:spPr>
          <a:xfrm>
            <a:off x="6967728" y="1371600"/>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LinearRegression()</a:t>
            </a:r>
            <a:endParaRPr lang="en-US" sz="900" dirty="0"/>
          </a:p>
        </p:txBody>
      </p:sp>
      <p:sp>
        <p:nvSpPr>
          <p:cNvPr id="22" name="Shape 20"/>
          <p:cNvSpPr/>
          <p:nvPr/>
        </p:nvSpPr>
        <p:spPr>
          <a:xfrm>
            <a:off x="228600" y="1682496"/>
            <a:ext cx="2011680" cy="347472"/>
          </a:xfrm>
          <a:prstGeom prst="rect">
            <a:avLst/>
          </a:prstGeom>
          <a:solidFill>
            <a:srgbClr val="0F1E30"/>
          </a:solidFill>
          <a:ln/>
        </p:spPr>
      </p:sp>
      <p:sp>
        <p:nvSpPr>
          <p:cNvPr id="23" name="Text 21"/>
          <p:cNvSpPr/>
          <p:nvPr/>
        </p:nvSpPr>
        <p:spPr>
          <a:xfrm>
            <a:off x="292608" y="1719072"/>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Ridge</a:t>
            </a:r>
            <a:endParaRPr lang="en-US" sz="900" dirty="0"/>
          </a:p>
        </p:txBody>
      </p:sp>
      <p:sp>
        <p:nvSpPr>
          <p:cNvPr id="24" name="Shape 22"/>
          <p:cNvSpPr/>
          <p:nvPr/>
        </p:nvSpPr>
        <p:spPr>
          <a:xfrm>
            <a:off x="2331720" y="1682496"/>
            <a:ext cx="2331720" cy="347472"/>
          </a:xfrm>
          <a:prstGeom prst="rect">
            <a:avLst/>
          </a:prstGeom>
          <a:solidFill>
            <a:srgbClr val="0F1E30"/>
          </a:solidFill>
          <a:ln/>
        </p:spPr>
      </p:sp>
      <p:sp>
        <p:nvSpPr>
          <p:cNvPr id="25" name="Text 23"/>
          <p:cNvSpPr/>
          <p:nvPr/>
        </p:nvSpPr>
        <p:spPr>
          <a:xfrm>
            <a:off x="2395728" y="1719072"/>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All features matter, multicollinearity</a:t>
            </a:r>
            <a:endParaRPr lang="en-US" sz="900" dirty="0"/>
          </a:p>
        </p:txBody>
      </p:sp>
      <p:sp>
        <p:nvSpPr>
          <p:cNvPr id="26" name="Shape 24"/>
          <p:cNvSpPr/>
          <p:nvPr/>
        </p:nvSpPr>
        <p:spPr>
          <a:xfrm>
            <a:off x="4754880" y="1682496"/>
            <a:ext cx="2057400" cy="347472"/>
          </a:xfrm>
          <a:prstGeom prst="rect">
            <a:avLst/>
          </a:prstGeom>
          <a:solidFill>
            <a:srgbClr val="0F1E30"/>
          </a:solidFill>
          <a:ln/>
        </p:spPr>
      </p:sp>
      <p:sp>
        <p:nvSpPr>
          <p:cNvPr id="27" name="Text 25"/>
          <p:cNvSpPr/>
          <p:nvPr/>
        </p:nvSpPr>
        <p:spPr>
          <a:xfrm>
            <a:off x="4818888" y="1719072"/>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alpha (λ)</a:t>
            </a:r>
            <a:endParaRPr lang="en-US" sz="900" dirty="0"/>
          </a:p>
        </p:txBody>
      </p:sp>
      <p:sp>
        <p:nvSpPr>
          <p:cNvPr id="28" name="Shape 26"/>
          <p:cNvSpPr/>
          <p:nvPr/>
        </p:nvSpPr>
        <p:spPr>
          <a:xfrm>
            <a:off x="6903720" y="1682496"/>
            <a:ext cx="1920240" cy="347472"/>
          </a:xfrm>
          <a:prstGeom prst="rect">
            <a:avLst/>
          </a:prstGeom>
          <a:solidFill>
            <a:srgbClr val="0F1E30"/>
          </a:solidFill>
          <a:ln/>
        </p:spPr>
      </p:sp>
      <p:sp>
        <p:nvSpPr>
          <p:cNvPr id="29" name="Text 27"/>
          <p:cNvSpPr/>
          <p:nvPr/>
        </p:nvSpPr>
        <p:spPr>
          <a:xfrm>
            <a:off x="6967728" y="1719072"/>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Ridge(alpha=1.0)</a:t>
            </a:r>
            <a:endParaRPr lang="en-US" sz="900" dirty="0"/>
          </a:p>
        </p:txBody>
      </p:sp>
      <p:sp>
        <p:nvSpPr>
          <p:cNvPr id="30" name="Shape 28"/>
          <p:cNvSpPr/>
          <p:nvPr/>
        </p:nvSpPr>
        <p:spPr>
          <a:xfrm>
            <a:off x="228600" y="2029968"/>
            <a:ext cx="2011680" cy="347472"/>
          </a:xfrm>
          <a:prstGeom prst="rect">
            <a:avLst/>
          </a:prstGeom>
          <a:solidFill>
            <a:srgbClr val="1A2E4A"/>
          </a:solidFill>
          <a:ln/>
        </p:spPr>
      </p:sp>
      <p:sp>
        <p:nvSpPr>
          <p:cNvPr id="31" name="Text 29"/>
          <p:cNvSpPr/>
          <p:nvPr/>
        </p:nvSpPr>
        <p:spPr>
          <a:xfrm>
            <a:off x="292608" y="2066544"/>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Lasso</a:t>
            </a:r>
            <a:endParaRPr lang="en-US" sz="900" dirty="0"/>
          </a:p>
        </p:txBody>
      </p:sp>
      <p:sp>
        <p:nvSpPr>
          <p:cNvPr id="32" name="Shape 30"/>
          <p:cNvSpPr/>
          <p:nvPr/>
        </p:nvSpPr>
        <p:spPr>
          <a:xfrm>
            <a:off x="2331720" y="2029968"/>
            <a:ext cx="2331720" cy="347472"/>
          </a:xfrm>
          <a:prstGeom prst="rect">
            <a:avLst/>
          </a:prstGeom>
          <a:solidFill>
            <a:srgbClr val="1A2E4A"/>
          </a:solidFill>
          <a:ln/>
        </p:spPr>
      </p:sp>
      <p:sp>
        <p:nvSpPr>
          <p:cNvPr id="33" name="Text 31"/>
          <p:cNvSpPr/>
          <p:nvPr/>
        </p:nvSpPr>
        <p:spPr>
          <a:xfrm>
            <a:off x="2395728" y="2066544"/>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Many irrelevant features present</a:t>
            </a:r>
            <a:endParaRPr lang="en-US" sz="900" dirty="0"/>
          </a:p>
        </p:txBody>
      </p:sp>
      <p:sp>
        <p:nvSpPr>
          <p:cNvPr id="34" name="Shape 32"/>
          <p:cNvSpPr/>
          <p:nvPr/>
        </p:nvSpPr>
        <p:spPr>
          <a:xfrm>
            <a:off x="4754880" y="2029968"/>
            <a:ext cx="2057400" cy="347472"/>
          </a:xfrm>
          <a:prstGeom prst="rect">
            <a:avLst/>
          </a:prstGeom>
          <a:solidFill>
            <a:srgbClr val="1A2E4A"/>
          </a:solidFill>
          <a:ln/>
        </p:spPr>
      </p:sp>
      <p:sp>
        <p:nvSpPr>
          <p:cNvPr id="35" name="Text 33"/>
          <p:cNvSpPr/>
          <p:nvPr/>
        </p:nvSpPr>
        <p:spPr>
          <a:xfrm>
            <a:off x="4818888" y="2066544"/>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alpha (λ)</a:t>
            </a:r>
            <a:endParaRPr lang="en-US" sz="900" dirty="0"/>
          </a:p>
        </p:txBody>
      </p:sp>
      <p:sp>
        <p:nvSpPr>
          <p:cNvPr id="36" name="Shape 34"/>
          <p:cNvSpPr/>
          <p:nvPr/>
        </p:nvSpPr>
        <p:spPr>
          <a:xfrm>
            <a:off x="6903720" y="2029968"/>
            <a:ext cx="1920240" cy="347472"/>
          </a:xfrm>
          <a:prstGeom prst="rect">
            <a:avLst/>
          </a:prstGeom>
          <a:solidFill>
            <a:srgbClr val="1A2E4A"/>
          </a:solidFill>
          <a:ln/>
        </p:spPr>
      </p:sp>
      <p:sp>
        <p:nvSpPr>
          <p:cNvPr id="37" name="Text 35"/>
          <p:cNvSpPr/>
          <p:nvPr/>
        </p:nvSpPr>
        <p:spPr>
          <a:xfrm>
            <a:off x="6967728" y="2066544"/>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Lasso(alpha=0.1)</a:t>
            </a:r>
            <a:endParaRPr lang="en-US" sz="900" dirty="0"/>
          </a:p>
        </p:txBody>
      </p:sp>
      <p:sp>
        <p:nvSpPr>
          <p:cNvPr id="38" name="Shape 36"/>
          <p:cNvSpPr/>
          <p:nvPr/>
        </p:nvSpPr>
        <p:spPr>
          <a:xfrm>
            <a:off x="228600" y="2377440"/>
            <a:ext cx="2011680" cy="347472"/>
          </a:xfrm>
          <a:prstGeom prst="rect">
            <a:avLst/>
          </a:prstGeom>
          <a:solidFill>
            <a:srgbClr val="0F1E30"/>
          </a:solidFill>
          <a:ln/>
        </p:spPr>
      </p:sp>
      <p:sp>
        <p:nvSpPr>
          <p:cNvPr id="39" name="Text 37"/>
          <p:cNvSpPr/>
          <p:nvPr/>
        </p:nvSpPr>
        <p:spPr>
          <a:xfrm>
            <a:off x="292608" y="2414016"/>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ElasticNet</a:t>
            </a:r>
            <a:endParaRPr lang="en-US" sz="900" dirty="0"/>
          </a:p>
        </p:txBody>
      </p:sp>
      <p:sp>
        <p:nvSpPr>
          <p:cNvPr id="40" name="Shape 38"/>
          <p:cNvSpPr/>
          <p:nvPr/>
        </p:nvSpPr>
        <p:spPr>
          <a:xfrm>
            <a:off x="2331720" y="2377440"/>
            <a:ext cx="2331720" cy="347472"/>
          </a:xfrm>
          <a:prstGeom prst="rect">
            <a:avLst/>
          </a:prstGeom>
          <a:solidFill>
            <a:srgbClr val="0F1E30"/>
          </a:solidFill>
          <a:ln/>
        </p:spPr>
      </p:sp>
      <p:sp>
        <p:nvSpPr>
          <p:cNvPr id="41" name="Text 39"/>
          <p:cNvSpPr/>
          <p:nvPr/>
        </p:nvSpPr>
        <p:spPr>
          <a:xfrm>
            <a:off x="2395728" y="2414016"/>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Many correlated features</a:t>
            </a:r>
            <a:endParaRPr lang="en-US" sz="900" dirty="0"/>
          </a:p>
        </p:txBody>
      </p:sp>
      <p:sp>
        <p:nvSpPr>
          <p:cNvPr id="42" name="Shape 40"/>
          <p:cNvSpPr/>
          <p:nvPr/>
        </p:nvSpPr>
        <p:spPr>
          <a:xfrm>
            <a:off x="4754880" y="2377440"/>
            <a:ext cx="2057400" cy="347472"/>
          </a:xfrm>
          <a:prstGeom prst="rect">
            <a:avLst/>
          </a:prstGeom>
          <a:solidFill>
            <a:srgbClr val="0F1E30"/>
          </a:solidFill>
          <a:ln/>
        </p:spPr>
      </p:sp>
      <p:sp>
        <p:nvSpPr>
          <p:cNvPr id="43" name="Text 41"/>
          <p:cNvSpPr/>
          <p:nvPr/>
        </p:nvSpPr>
        <p:spPr>
          <a:xfrm>
            <a:off x="4818888" y="2414016"/>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alpha, l1_ratio</a:t>
            </a:r>
            <a:endParaRPr lang="en-US" sz="900" dirty="0"/>
          </a:p>
        </p:txBody>
      </p:sp>
      <p:sp>
        <p:nvSpPr>
          <p:cNvPr id="44" name="Shape 42"/>
          <p:cNvSpPr/>
          <p:nvPr/>
        </p:nvSpPr>
        <p:spPr>
          <a:xfrm>
            <a:off x="6903720" y="2377440"/>
            <a:ext cx="1920240" cy="347472"/>
          </a:xfrm>
          <a:prstGeom prst="rect">
            <a:avLst/>
          </a:prstGeom>
          <a:solidFill>
            <a:srgbClr val="0F1E30"/>
          </a:solidFill>
          <a:ln/>
        </p:spPr>
      </p:sp>
      <p:sp>
        <p:nvSpPr>
          <p:cNvPr id="45" name="Text 43"/>
          <p:cNvSpPr/>
          <p:nvPr/>
        </p:nvSpPr>
        <p:spPr>
          <a:xfrm>
            <a:off x="6967728" y="2414016"/>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ElasticNet()</a:t>
            </a:r>
            <a:endParaRPr lang="en-US" sz="900" dirty="0"/>
          </a:p>
        </p:txBody>
      </p:sp>
      <p:sp>
        <p:nvSpPr>
          <p:cNvPr id="46" name="Shape 44"/>
          <p:cNvSpPr/>
          <p:nvPr/>
        </p:nvSpPr>
        <p:spPr>
          <a:xfrm>
            <a:off x="228600" y="2724912"/>
            <a:ext cx="2011680" cy="347472"/>
          </a:xfrm>
          <a:prstGeom prst="rect">
            <a:avLst/>
          </a:prstGeom>
          <a:solidFill>
            <a:srgbClr val="1A2E4A"/>
          </a:solidFill>
          <a:ln/>
        </p:spPr>
      </p:sp>
      <p:sp>
        <p:nvSpPr>
          <p:cNvPr id="47" name="Text 45"/>
          <p:cNvSpPr/>
          <p:nvPr/>
        </p:nvSpPr>
        <p:spPr>
          <a:xfrm>
            <a:off x="292608" y="2761488"/>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Polynomial</a:t>
            </a:r>
            <a:endParaRPr lang="en-US" sz="900" dirty="0"/>
          </a:p>
        </p:txBody>
      </p:sp>
      <p:sp>
        <p:nvSpPr>
          <p:cNvPr id="48" name="Shape 46"/>
          <p:cNvSpPr/>
          <p:nvPr/>
        </p:nvSpPr>
        <p:spPr>
          <a:xfrm>
            <a:off x="2331720" y="2724912"/>
            <a:ext cx="2331720" cy="347472"/>
          </a:xfrm>
          <a:prstGeom prst="rect">
            <a:avLst/>
          </a:prstGeom>
          <a:solidFill>
            <a:srgbClr val="1A2E4A"/>
          </a:solidFill>
          <a:ln/>
        </p:spPr>
      </p:sp>
      <p:sp>
        <p:nvSpPr>
          <p:cNvPr id="49" name="Text 47"/>
          <p:cNvSpPr/>
          <p:nvPr/>
        </p:nvSpPr>
        <p:spPr>
          <a:xfrm>
            <a:off x="2395728" y="2761488"/>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Curved / non-linear pattern known</a:t>
            </a:r>
            <a:endParaRPr lang="en-US" sz="900" dirty="0"/>
          </a:p>
        </p:txBody>
      </p:sp>
      <p:sp>
        <p:nvSpPr>
          <p:cNvPr id="50" name="Shape 48"/>
          <p:cNvSpPr/>
          <p:nvPr/>
        </p:nvSpPr>
        <p:spPr>
          <a:xfrm>
            <a:off x="4754880" y="2724912"/>
            <a:ext cx="2057400" cy="347472"/>
          </a:xfrm>
          <a:prstGeom prst="rect">
            <a:avLst/>
          </a:prstGeom>
          <a:solidFill>
            <a:srgbClr val="1A2E4A"/>
          </a:solidFill>
          <a:ln/>
        </p:spPr>
      </p:sp>
      <p:sp>
        <p:nvSpPr>
          <p:cNvPr id="51" name="Text 49"/>
          <p:cNvSpPr/>
          <p:nvPr/>
        </p:nvSpPr>
        <p:spPr>
          <a:xfrm>
            <a:off x="4818888" y="2761488"/>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degree</a:t>
            </a:r>
            <a:endParaRPr lang="en-US" sz="900" dirty="0"/>
          </a:p>
        </p:txBody>
      </p:sp>
      <p:sp>
        <p:nvSpPr>
          <p:cNvPr id="52" name="Shape 50"/>
          <p:cNvSpPr/>
          <p:nvPr/>
        </p:nvSpPr>
        <p:spPr>
          <a:xfrm>
            <a:off x="6903720" y="2724912"/>
            <a:ext cx="1920240" cy="347472"/>
          </a:xfrm>
          <a:prstGeom prst="rect">
            <a:avLst/>
          </a:prstGeom>
          <a:solidFill>
            <a:srgbClr val="1A2E4A"/>
          </a:solidFill>
          <a:ln/>
        </p:spPr>
      </p:sp>
      <p:sp>
        <p:nvSpPr>
          <p:cNvPr id="53" name="Text 51"/>
          <p:cNvSpPr/>
          <p:nvPr/>
        </p:nvSpPr>
        <p:spPr>
          <a:xfrm>
            <a:off x="6967728" y="2761488"/>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PolynomialFeatures(2)</a:t>
            </a:r>
            <a:endParaRPr lang="en-US" sz="900" dirty="0"/>
          </a:p>
        </p:txBody>
      </p:sp>
      <p:sp>
        <p:nvSpPr>
          <p:cNvPr id="54" name="Shape 52"/>
          <p:cNvSpPr/>
          <p:nvPr/>
        </p:nvSpPr>
        <p:spPr>
          <a:xfrm>
            <a:off x="228600" y="3072384"/>
            <a:ext cx="2011680" cy="347472"/>
          </a:xfrm>
          <a:prstGeom prst="rect">
            <a:avLst/>
          </a:prstGeom>
          <a:solidFill>
            <a:srgbClr val="0F1E30"/>
          </a:solidFill>
          <a:ln/>
        </p:spPr>
      </p:sp>
      <p:sp>
        <p:nvSpPr>
          <p:cNvPr id="55" name="Text 53"/>
          <p:cNvSpPr/>
          <p:nvPr/>
        </p:nvSpPr>
        <p:spPr>
          <a:xfrm>
            <a:off x="292608" y="3108960"/>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Random Forest</a:t>
            </a:r>
            <a:endParaRPr lang="en-US" sz="900" dirty="0"/>
          </a:p>
        </p:txBody>
      </p:sp>
      <p:sp>
        <p:nvSpPr>
          <p:cNvPr id="56" name="Shape 54"/>
          <p:cNvSpPr/>
          <p:nvPr/>
        </p:nvSpPr>
        <p:spPr>
          <a:xfrm>
            <a:off x="2331720" y="3072384"/>
            <a:ext cx="2331720" cy="347472"/>
          </a:xfrm>
          <a:prstGeom prst="rect">
            <a:avLst/>
          </a:prstGeom>
          <a:solidFill>
            <a:srgbClr val="0F1E30"/>
          </a:solidFill>
          <a:ln/>
        </p:spPr>
      </p:sp>
      <p:sp>
        <p:nvSpPr>
          <p:cNvPr id="57" name="Text 55"/>
          <p:cNvSpPr/>
          <p:nvPr/>
        </p:nvSpPr>
        <p:spPr>
          <a:xfrm>
            <a:off x="2395728" y="3108960"/>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Non-linear tabular, robust baseline</a:t>
            </a:r>
            <a:endParaRPr lang="en-US" sz="900" dirty="0"/>
          </a:p>
        </p:txBody>
      </p:sp>
      <p:sp>
        <p:nvSpPr>
          <p:cNvPr id="58" name="Shape 56"/>
          <p:cNvSpPr/>
          <p:nvPr/>
        </p:nvSpPr>
        <p:spPr>
          <a:xfrm>
            <a:off x="4754880" y="3072384"/>
            <a:ext cx="2057400" cy="347472"/>
          </a:xfrm>
          <a:prstGeom prst="rect">
            <a:avLst/>
          </a:prstGeom>
          <a:solidFill>
            <a:srgbClr val="0F1E30"/>
          </a:solidFill>
          <a:ln/>
        </p:spPr>
      </p:sp>
      <p:sp>
        <p:nvSpPr>
          <p:cNvPr id="59" name="Text 57"/>
          <p:cNvSpPr/>
          <p:nvPr/>
        </p:nvSpPr>
        <p:spPr>
          <a:xfrm>
            <a:off x="4818888" y="3108960"/>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n_estimators</a:t>
            </a:r>
            <a:endParaRPr lang="en-US" sz="900" dirty="0"/>
          </a:p>
        </p:txBody>
      </p:sp>
      <p:sp>
        <p:nvSpPr>
          <p:cNvPr id="60" name="Shape 58"/>
          <p:cNvSpPr/>
          <p:nvPr/>
        </p:nvSpPr>
        <p:spPr>
          <a:xfrm>
            <a:off x="6903720" y="3072384"/>
            <a:ext cx="1920240" cy="347472"/>
          </a:xfrm>
          <a:prstGeom prst="rect">
            <a:avLst/>
          </a:prstGeom>
          <a:solidFill>
            <a:srgbClr val="0F1E30"/>
          </a:solidFill>
          <a:ln/>
        </p:spPr>
      </p:sp>
      <p:sp>
        <p:nvSpPr>
          <p:cNvPr id="61" name="Text 59"/>
          <p:cNvSpPr/>
          <p:nvPr/>
        </p:nvSpPr>
        <p:spPr>
          <a:xfrm>
            <a:off x="6967728" y="3108960"/>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RandomForestRegressor()</a:t>
            </a:r>
            <a:endParaRPr lang="en-US" sz="900" dirty="0"/>
          </a:p>
        </p:txBody>
      </p:sp>
      <p:sp>
        <p:nvSpPr>
          <p:cNvPr id="62" name="Shape 60"/>
          <p:cNvSpPr/>
          <p:nvPr/>
        </p:nvSpPr>
        <p:spPr>
          <a:xfrm>
            <a:off x="228600" y="3419856"/>
            <a:ext cx="2011680" cy="347472"/>
          </a:xfrm>
          <a:prstGeom prst="rect">
            <a:avLst/>
          </a:prstGeom>
          <a:solidFill>
            <a:srgbClr val="1A2E4A"/>
          </a:solidFill>
          <a:ln/>
        </p:spPr>
      </p:sp>
      <p:sp>
        <p:nvSpPr>
          <p:cNvPr id="63" name="Text 61"/>
          <p:cNvSpPr/>
          <p:nvPr/>
        </p:nvSpPr>
        <p:spPr>
          <a:xfrm>
            <a:off x="292608" y="3456432"/>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Gradient Boost</a:t>
            </a:r>
            <a:endParaRPr lang="en-US" sz="900" dirty="0"/>
          </a:p>
        </p:txBody>
      </p:sp>
      <p:sp>
        <p:nvSpPr>
          <p:cNvPr id="64" name="Shape 62"/>
          <p:cNvSpPr/>
          <p:nvPr/>
        </p:nvSpPr>
        <p:spPr>
          <a:xfrm>
            <a:off x="2331720" y="3419856"/>
            <a:ext cx="2331720" cy="347472"/>
          </a:xfrm>
          <a:prstGeom prst="rect">
            <a:avLst/>
          </a:prstGeom>
          <a:solidFill>
            <a:srgbClr val="1A2E4A"/>
          </a:solidFill>
          <a:ln/>
        </p:spPr>
      </p:sp>
      <p:sp>
        <p:nvSpPr>
          <p:cNvPr id="65" name="Text 63"/>
          <p:cNvSpPr/>
          <p:nvPr/>
        </p:nvSpPr>
        <p:spPr>
          <a:xfrm>
            <a:off x="2395728" y="3456432"/>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Max accuracy on tabular data</a:t>
            </a:r>
            <a:endParaRPr lang="en-US" sz="900" dirty="0"/>
          </a:p>
        </p:txBody>
      </p:sp>
      <p:sp>
        <p:nvSpPr>
          <p:cNvPr id="66" name="Shape 64"/>
          <p:cNvSpPr/>
          <p:nvPr/>
        </p:nvSpPr>
        <p:spPr>
          <a:xfrm>
            <a:off x="4754880" y="3419856"/>
            <a:ext cx="2057400" cy="347472"/>
          </a:xfrm>
          <a:prstGeom prst="rect">
            <a:avLst/>
          </a:prstGeom>
          <a:solidFill>
            <a:srgbClr val="1A2E4A"/>
          </a:solidFill>
          <a:ln/>
        </p:spPr>
      </p:sp>
      <p:sp>
        <p:nvSpPr>
          <p:cNvPr id="67" name="Text 65"/>
          <p:cNvSpPr/>
          <p:nvPr/>
        </p:nvSpPr>
        <p:spPr>
          <a:xfrm>
            <a:off x="4818888" y="3456432"/>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learning_rate, depth</a:t>
            </a:r>
            <a:endParaRPr lang="en-US" sz="900" dirty="0"/>
          </a:p>
        </p:txBody>
      </p:sp>
      <p:sp>
        <p:nvSpPr>
          <p:cNvPr id="68" name="Shape 66"/>
          <p:cNvSpPr/>
          <p:nvPr/>
        </p:nvSpPr>
        <p:spPr>
          <a:xfrm>
            <a:off x="6903720" y="3419856"/>
            <a:ext cx="1920240" cy="347472"/>
          </a:xfrm>
          <a:prstGeom prst="rect">
            <a:avLst/>
          </a:prstGeom>
          <a:solidFill>
            <a:srgbClr val="1A2E4A"/>
          </a:solidFill>
          <a:ln/>
        </p:spPr>
      </p:sp>
      <p:sp>
        <p:nvSpPr>
          <p:cNvPr id="69" name="Text 67"/>
          <p:cNvSpPr/>
          <p:nvPr/>
        </p:nvSpPr>
        <p:spPr>
          <a:xfrm>
            <a:off x="6967728" y="3456432"/>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GradientBoostingRegressor()</a:t>
            </a:r>
            <a:endParaRPr lang="en-US" sz="900" dirty="0"/>
          </a:p>
        </p:txBody>
      </p:sp>
      <p:sp>
        <p:nvSpPr>
          <p:cNvPr id="70" name="Shape 68"/>
          <p:cNvSpPr/>
          <p:nvPr/>
        </p:nvSpPr>
        <p:spPr>
          <a:xfrm>
            <a:off x="228600" y="3767328"/>
            <a:ext cx="2011680" cy="347472"/>
          </a:xfrm>
          <a:prstGeom prst="rect">
            <a:avLst/>
          </a:prstGeom>
          <a:solidFill>
            <a:srgbClr val="0F1E30"/>
          </a:solidFill>
          <a:ln/>
        </p:spPr>
      </p:sp>
      <p:sp>
        <p:nvSpPr>
          <p:cNvPr id="71" name="Text 69"/>
          <p:cNvSpPr/>
          <p:nvPr/>
        </p:nvSpPr>
        <p:spPr>
          <a:xfrm>
            <a:off x="292608" y="3803904"/>
            <a:ext cx="192024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Lag + GBR</a:t>
            </a:r>
            <a:endParaRPr lang="en-US" sz="900" dirty="0"/>
          </a:p>
        </p:txBody>
      </p:sp>
      <p:sp>
        <p:nvSpPr>
          <p:cNvPr id="72" name="Shape 70"/>
          <p:cNvSpPr/>
          <p:nvPr/>
        </p:nvSpPr>
        <p:spPr>
          <a:xfrm>
            <a:off x="2331720" y="3767328"/>
            <a:ext cx="2331720" cy="347472"/>
          </a:xfrm>
          <a:prstGeom prst="rect">
            <a:avLst/>
          </a:prstGeom>
          <a:solidFill>
            <a:srgbClr val="0F1E30"/>
          </a:solidFill>
          <a:ln/>
        </p:spPr>
      </p:sp>
      <p:sp>
        <p:nvSpPr>
          <p:cNvPr id="73" name="Text 71"/>
          <p:cNvSpPr/>
          <p:nvPr/>
        </p:nvSpPr>
        <p:spPr>
          <a:xfrm>
            <a:off x="2395728" y="3803904"/>
            <a:ext cx="224028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Time series with trend/seasonality</a:t>
            </a:r>
            <a:endParaRPr lang="en-US" sz="900" dirty="0"/>
          </a:p>
        </p:txBody>
      </p:sp>
      <p:sp>
        <p:nvSpPr>
          <p:cNvPr id="74" name="Shape 72"/>
          <p:cNvSpPr/>
          <p:nvPr/>
        </p:nvSpPr>
        <p:spPr>
          <a:xfrm>
            <a:off x="4754880" y="3767328"/>
            <a:ext cx="2057400" cy="347472"/>
          </a:xfrm>
          <a:prstGeom prst="rect">
            <a:avLst/>
          </a:prstGeom>
          <a:solidFill>
            <a:srgbClr val="0F1E30"/>
          </a:solidFill>
          <a:ln/>
        </p:spPr>
      </p:sp>
      <p:sp>
        <p:nvSpPr>
          <p:cNvPr id="75" name="Text 73"/>
          <p:cNvSpPr/>
          <p:nvPr/>
        </p:nvSpPr>
        <p:spPr>
          <a:xfrm>
            <a:off x="4818888" y="3803904"/>
            <a:ext cx="1965960" cy="292608"/>
          </a:xfrm>
          <a:prstGeom prst="rect">
            <a:avLst/>
          </a:prstGeom>
          <a:noFill/>
          <a:ln/>
        </p:spPr>
        <p:txBody>
          <a:bodyPr wrap="square" rtlCol="0" anchor="ctr"/>
          <a:lstStyle/>
          <a:p>
            <a:pPr marL="0" indent="0">
              <a:buNone/>
            </a:pPr>
            <a:r>
              <a:rPr lang="en-US" sz="900" dirty="0">
                <a:solidFill>
                  <a:srgbClr val="F0F4F8"/>
                </a:solidFill>
                <a:latin typeface="Calibri" pitchFamily="34" charset="0"/>
                <a:ea typeface="Calibri" pitchFamily="34" charset="-122"/>
                <a:cs typeface="Calibri" pitchFamily="34" charset="-120"/>
              </a:rPr>
              <a:t>lag window</a:t>
            </a:r>
            <a:endParaRPr lang="en-US" sz="900" dirty="0"/>
          </a:p>
        </p:txBody>
      </p:sp>
      <p:sp>
        <p:nvSpPr>
          <p:cNvPr id="76" name="Shape 74"/>
          <p:cNvSpPr/>
          <p:nvPr/>
        </p:nvSpPr>
        <p:spPr>
          <a:xfrm>
            <a:off x="6903720" y="3767328"/>
            <a:ext cx="1920240" cy="347472"/>
          </a:xfrm>
          <a:prstGeom prst="rect">
            <a:avLst/>
          </a:prstGeom>
          <a:solidFill>
            <a:srgbClr val="0F1E30"/>
          </a:solidFill>
          <a:ln/>
        </p:spPr>
      </p:sp>
      <p:sp>
        <p:nvSpPr>
          <p:cNvPr id="77" name="Text 75"/>
          <p:cNvSpPr/>
          <p:nvPr/>
        </p:nvSpPr>
        <p:spPr>
          <a:xfrm>
            <a:off x="6967728" y="3803904"/>
            <a:ext cx="1828800" cy="292608"/>
          </a:xfrm>
          <a:prstGeom prst="rect">
            <a:avLst/>
          </a:prstGeom>
          <a:noFill/>
          <a:ln/>
        </p:spPr>
        <p:txBody>
          <a:bodyPr wrap="square" rtlCol="0" anchor="ctr"/>
          <a:lstStyle/>
          <a:p>
            <a:pPr marL="0" indent="0">
              <a:buNone/>
            </a:pPr>
            <a:r>
              <a:rPr lang="en-US" sz="900" dirty="0">
                <a:solidFill>
                  <a:srgbClr val="00D4B8"/>
                </a:solidFill>
                <a:latin typeface="Consolas" pitchFamily="34" charset="0"/>
                <a:ea typeface="Consolas" pitchFamily="34" charset="-122"/>
                <a:cs typeface="Consolas" pitchFamily="34" charset="-120"/>
              </a:rPr>
              <a:t>GBR + shift() features</a:t>
            </a:r>
            <a:endParaRPr lang="en-US" sz="900" dirty="0"/>
          </a:p>
        </p:txBody>
      </p:sp>
      <p:sp>
        <p:nvSpPr>
          <p:cNvPr id="78" name="Text 76"/>
          <p:cNvSpPr/>
          <p:nvPr/>
        </p:nvSpPr>
        <p:spPr>
          <a:xfrm>
            <a:off x="228600" y="4727448"/>
            <a:ext cx="8686800" cy="274320"/>
          </a:xfrm>
          <a:prstGeom prst="rect">
            <a:avLst/>
          </a:prstGeom>
          <a:noFill/>
          <a:ln/>
        </p:spPr>
        <p:txBody>
          <a:bodyPr wrap="square" rtlCol="0" anchor="ctr"/>
          <a:lstStyle/>
          <a:p>
            <a:pPr marL="0" indent="0">
              <a:buNone/>
            </a:pPr>
            <a:r>
              <a:rPr lang="en-US" sz="1000" b="1" dirty="0">
                <a:solidFill>
                  <a:srgbClr val="FFD166"/>
                </a:solidFill>
                <a:latin typeface="Calibri" pitchFamily="34" charset="0"/>
                <a:ea typeface="Calibri" pitchFamily="34" charset="-122"/>
                <a:cs typeface="Calibri" pitchFamily="34" charset="-120"/>
              </a:rPr>
              <a:t>Pro Tips: Normalize features  ·  Use cross-validation to tune λ  ·  Never leak test data  ·  Always plot residuals!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00C9A7"/>
          </a:solidFill>
          <a:ln/>
        </p:spPr>
      </p:sp>
      <p:sp>
        <p:nvSpPr>
          <p:cNvPr id="3" name="Shape 1"/>
          <p:cNvSpPr/>
          <p:nvPr/>
        </p:nvSpPr>
        <p:spPr>
          <a:xfrm>
            <a:off x="6858000" y="-457200"/>
            <a:ext cx="3200400" cy="3200400"/>
          </a:xfrm>
          <a:prstGeom prst="ellipse">
            <a:avLst/>
          </a:prstGeom>
          <a:solidFill>
            <a:srgbClr val="2D6A8F">
              <a:alpha val="25000"/>
            </a:srgbClr>
          </a:solidFill>
          <a:ln w="12700">
            <a:solidFill>
              <a:srgbClr val="2D6A8F"/>
            </a:solidFill>
            <a:prstDash val="solid"/>
          </a:ln>
        </p:spPr>
      </p:sp>
      <p:sp>
        <p:nvSpPr>
          <p:cNvPr id="4" name="Shape 2"/>
          <p:cNvSpPr/>
          <p:nvPr/>
        </p:nvSpPr>
        <p:spPr>
          <a:xfrm>
            <a:off x="7772400" y="2286000"/>
            <a:ext cx="2286000" cy="2286000"/>
          </a:xfrm>
          <a:prstGeom prst="ellipse">
            <a:avLst/>
          </a:prstGeom>
          <a:solidFill>
            <a:srgbClr val="00C9A7">
              <a:alpha val="20000"/>
            </a:srgbClr>
          </a:solidFill>
          <a:ln w="12700">
            <a:solidFill>
              <a:srgbClr val="00C9A7"/>
            </a:solidFill>
            <a:prstDash val="solid"/>
          </a:ln>
        </p:spPr>
      </p:sp>
      <p:sp>
        <p:nvSpPr>
          <p:cNvPr id="5" name="Text 3"/>
          <p:cNvSpPr/>
          <p:nvPr/>
        </p:nvSpPr>
        <p:spPr>
          <a:xfrm>
            <a:off x="502920" y="548640"/>
            <a:ext cx="7315200" cy="10058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Advanced Regression</a:t>
            </a:r>
            <a:endParaRPr lang="en-US" sz="4200" dirty="0"/>
          </a:p>
        </p:txBody>
      </p:sp>
      <p:sp>
        <p:nvSpPr>
          <p:cNvPr id="6" name="Text 4"/>
          <p:cNvSpPr/>
          <p:nvPr/>
        </p:nvSpPr>
        <p:spPr>
          <a:xfrm>
            <a:off x="502920" y="1463040"/>
            <a:ext cx="7315200" cy="822960"/>
          </a:xfrm>
          <a:prstGeom prst="rect">
            <a:avLst/>
          </a:prstGeom>
          <a:noFill/>
          <a:ln/>
        </p:spPr>
        <p:txBody>
          <a:bodyPr wrap="square" lIns="0" tIns="0" rIns="0" bIns="0" rtlCol="0" anchor="ctr"/>
          <a:lstStyle/>
          <a:p>
            <a:pPr marL="0" indent="0">
              <a:buNone/>
            </a:pPr>
            <a:r>
              <a:rPr lang="en-US" sz="3800" b="1" dirty="0">
                <a:solidFill>
                  <a:srgbClr val="00C9A7"/>
                </a:solidFill>
                <a:latin typeface="Calibri" pitchFamily="34" charset="0"/>
                <a:ea typeface="Calibri" pitchFamily="34" charset="-122"/>
                <a:cs typeface="Calibri" pitchFamily="34" charset="-120"/>
              </a:rPr>
              <a:t>Models &amp; Concepts</a:t>
            </a:r>
            <a:endParaRPr lang="en-US" sz="3800" dirty="0"/>
          </a:p>
        </p:txBody>
      </p:sp>
      <p:sp>
        <p:nvSpPr>
          <p:cNvPr id="7" name="Text 5"/>
          <p:cNvSpPr/>
          <p:nvPr/>
        </p:nvSpPr>
        <p:spPr>
          <a:xfrm>
            <a:off x="502920" y="2423160"/>
            <a:ext cx="7772400" cy="502920"/>
          </a:xfrm>
          <a:prstGeom prst="rect">
            <a:avLst/>
          </a:prstGeom>
          <a:noFill/>
          <a:ln/>
        </p:spPr>
        <p:txBody>
          <a:bodyPr wrap="square" lIns="0" tIns="0" rIns="0" bIns="0" rtlCol="0" anchor="ctr"/>
          <a:lstStyle/>
          <a:p>
            <a:pPr marL="0" indent="0">
              <a:buNone/>
            </a:pPr>
            <a:r>
              <a:rPr lang="en-US" sz="1700" i="1" dirty="0">
                <a:solidFill>
                  <a:srgbClr val="E8F4F8"/>
                </a:solidFill>
                <a:latin typeface="Calibri" pitchFamily="34" charset="0"/>
                <a:ea typeface="Calibri" pitchFamily="34" charset="-122"/>
                <a:cs typeface="Calibri" pitchFamily="34" charset="-120"/>
              </a:rPr>
              <a:t>10-Mark Questions — Complete Study Guide</a:t>
            </a:r>
            <a:endParaRPr lang="en-US" sz="1700" dirty="0"/>
          </a:p>
        </p:txBody>
      </p:sp>
      <p:sp>
        <p:nvSpPr>
          <p:cNvPr id="8" name="Shape 6"/>
          <p:cNvSpPr/>
          <p:nvPr/>
        </p:nvSpPr>
        <p:spPr>
          <a:xfrm>
            <a:off x="502920" y="3063240"/>
            <a:ext cx="4023360" cy="384048"/>
          </a:xfrm>
          <a:prstGeom prst="rect">
            <a:avLst/>
          </a:prstGeom>
          <a:solidFill>
            <a:srgbClr val="2D6A8F">
              <a:alpha val="60000"/>
            </a:srgbClr>
          </a:solidFill>
          <a:ln w="19050">
            <a:solidFill>
              <a:srgbClr val="00C9A7"/>
            </a:solidFill>
            <a:prstDash val="solid"/>
          </a:ln>
        </p:spPr>
      </p:sp>
      <p:sp>
        <p:nvSpPr>
          <p:cNvPr id="9" name="Text 7"/>
          <p:cNvSpPr/>
          <p:nvPr/>
        </p:nvSpPr>
        <p:spPr>
          <a:xfrm>
            <a:off x="612648" y="3099816"/>
            <a:ext cx="384048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Interpretation of Coefficients</a:t>
            </a:r>
            <a:endParaRPr lang="en-US" sz="1200" dirty="0"/>
          </a:p>
        </p:txBody>
      </p:sp>
      <p:sp>
        <p:nvSpPr>
          <p:cNvPr id="10" name="Shape 8"/>
          <p:cNvSpPr/>
          <p:nvPr/>
        </p:nvSpPr>
        <p:spPr>
          <a:xfrm>
            <a:off x="502920" y="3538728"/>
            <a:ext cx="4023360" cy="384048"/>
          </a:xfrm>
          <a:prstGeom prst="rect">
            <a:avLst/>
          </a:prstGeom>
          <a:solidFill>
            <a:srgbClr val="2D6A8F">
              <a:alpha val="60000"/>
            </a:srgbClr>
          </a:solidFill>
          <a:ln w="19050">
            <a:solidFill>
              <a:srgbClr val="00C9A7"/>
            </a:solidFill>
            <a:prstDash val="solid"/>
          </a:ln>
        </p:spPr>
      </p:sp>
      <p:sp>
        <p:nvSpPr>
          <p:cNvPr id="11" name="Text 9"/>
          <p:cNvSpPr/>
          <p:nvPr/>
        </p:nvSpPr>
        <p:spPr>
          <a:xfrm>
            <a:off x="612648" y="3575304"/>
            <a:ext cx="384048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 Regularized Regression Models</a:t>
            </a:r>
            <a:endParaRPr lang="en-US" sz="1200" dirty="0"/>
          </a:p>
        </p:txBody>
      </p:sp>
      <p:sp>
        <p:nvSpPr>
          <p:cNvPr id="12" name="Shape 10"/>
          <p:cNvSpPr/>
          <p:nvPr/>
        </p:nvSpPr>
        <p:spPr>
          <a:xfrm>
            <a:off x="502920" y="4014216"/>
            <a:ext cx="4023360" cy="384048"/>
          </a:xfrm>
          <a:prstGeom prst="rect">
            <a:avLst/>
          </a:prstGeom>
          <a:solidFill>
            <a:srgbClr val="2D6A8F">
              <a:alpha val="60000"/>
            </a:srgbClr>
          </a:solidFill>
          <a:ln w="19050">
            <a:solidFill>
              <a:srgbClr val="00C9A7"/>
            </a:solidFill>
            <a:prstDash val="solid"/>
          </a:ln>
        </p:spPr>
      </p:sp>
      <p:sp>
        <p:nvSpPr>
          <p:cNvPr id="13" name="Text 11"/>
          <p:cNvSpPr/>
          <p:nvPr/>
        </p:nvSpPr>
        <p:spPr>
          <a:xfrm>
            <a:off x="612648" y="4050792"/>
            <a:ext cx="384048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Regularization &amp; Model Complexity</a:t>
            </a:r>
            <a:endParaRPr lang="en-US" sz="1200" dirty="0"/>
          </a:p>
        </p:txBody>
      </p:sp>
      <p:sp>
        <p:nvSpPr>
          <p:cNvPr id="14" name="Shape 12"/>
          <p:cNvSpPr/>
          <p:nvPr/>
        </p:nvSpPr>
        <p:spPr>
          <a:xfrm>
            <a:off x="4754880" y="3063240"/>
            <a:ext cx="4206240" cy="384048"/>
          </a:xfrm>
          <a:prstGeom prst="rect">
            <a:avLst/>
          </a:prstGeom>
          <a:solidFill>
            <a:srgbClr val="2D6A8F">
              <a:alpha val="60000"/>
            </a:srgbClr>
          </a:solidFill>
          <a:ln w="19050">
            <a:solidFill>
              <a:srgbClr val="00C9A7"/>
            </a:solidFill>
            <a:prstDash val="solid"/>
          </a:ln>
        </p:spPr>
      </p:sp>
      <p:sp>
        <p:nvSpPr>
          <p:cNvPr id="15" name="Text 13"/>
          <p:cNvSpPr/>
          <p:nvPr/>
        </p:nvSpPr>
        <p:spPr>
          <a:xfrm>
            <a:off x="4864608" y="3099816"/>
            <a:ext cx="402336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 Polynomial Feature Expansion</a:t>
            </a:r>
            <a:endParaRPr lang="en-US" sz="1200" dirty="0"/>
          </a:p>
        </p:txBody>
      </p:sp>
      <p:sp>
        <p:nvSpPr>
          <p:cNvPr id="16" name="Shape 14"/>
          <p:cNvSpPr/>
          <p:nvPr/>
        </p:nvSpPr>
        <p:spPr>
          <a:xfrm>
            <a:off x="4754880" y="3538728"/>
            <a:ext cx="4206240" cy="384048"/>
          </a:xfrm>
          <a:prstGeom prst="rect">
            <a:avLst/>
          </a:prstGeom>
          <a:solidFill>
            <a:srgbClr val="2D6A8F">
              <a:alpha val="60000"/>
            </a:srgbClr>
          </a:solidFill>
          <a:ln w="19050">
            <a:solidFill>
              <a:srgbClr val="00C9A7"/>
            </a:solidFill>
            <a:prstDash val="solid"/>
          </a:ln>
        </p:spPr>
      </p:sp>
      <p:sp>
        <p:nvSpPr>
          <p:cNvPr id="17" name="Text 15"/>
          <p:cNvSpPr/>
          <p:nvPr/>
        </p:nvSpPr>
        <p:spPr>
          <a:xfrm>
            <a:off x="4864608" y="3575304"/>
            <a:ext cx="402336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 Tree-Based Regression Models</a:t>
            </a:r>
            <a:endParaRPr lang="en-US" sz="1200" dirty="0"/>
          </a:p>
        </p:txBody>
      </p:sp>
      <p:sp>
        <p:nvSpPr>
          <p:cNvPr id="18" name="Shape 16"/>
          <p:cNvSpPr/>
          <p:nvPr/>
        </p:nvSpPr>
        <p:spPr>
          <a:xfrm>
            <a:off x="4754880" y="4014216"/>
            <a:ext cx="4206240" cy="384048"/>
          </a:xfrm>
          <a:prstGeom prst="rect">
            <a:avLst/>
          </a:prstGeom>
          <a:solidFill>
            <a:srgbClr val="2D6A8F">
              <a:alpha val="60000"/>
            </a:srgbClr>
          </a:solidFill>
          <a:ln w="19050">
            <a:solidFill>
              <a:srgbClr val="00C9A7"/>
            </a:solidFill>
            <a:prstDash val="solid"/>
          </a:ln>
        </p:spPr>
      </p:sp>
      <p:sp>
        <p:nvSpPr>
          <p:cNvPr id="19" name="Text 17"/>
          <p:cNvSpPr/>
          <p:nvPr/>
        </p:nvSpPr>
        <p:spPr>
          <a:xfrm>
            <a:off x="4864608" y="4050792"/>
            <a:ext cx="402336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6. Time-Series Regression Models</a:t>
            </a:r>
            <a:endParaRPr lang="en-US" sz="1200" dirty="0"/>
          </a:p>
        </p:txBody>
      </p:sp>
      <p:sp>
        <p:nvSpPr>
          <p:cNvPr id="20" name="Text 18"/>
          <p:cNvSpPr/>
          <p:nvPr/>
        </p:nvSpPr>
        <p:spPr>
          <a:xfrm>
            <a:off x="502920" y="4800600"/>
            <a:ext cx="822960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B.Tech / M.Tech / MCA — Machine Learning</a:t>
            </a:r>
            <a:endParaRPr lang="en-US" sz="1000" dirty="0"/>
          </a:p>
        </p:txBody>
      </p:sp>
    </p:spTree>
    <p:extLst>
      <p:ext uri="{BB962C8B-B14F-4D97-AF65-F5344CB8AC3E}">
        <p14:creationId xmlns:p14="http://schemas.microsoft.com/office/powerpoint/2010/main" val="4242856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Interpretation of Coefficients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In linear regression, coefficients (weights) quantify the relationship between each feature and the target variable. The intercept β₀ is the predicted value when all features are zero. Each slope coefficient βᵢ represents the average change in the output y for a one-unit increase in xᵢ, holding all other variables constant. Standardized coefficients allow comparison of relative importance across features with different scales.</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664208"/>
          </a:xfrm>
          <a:prstGeom prst="rect">
            <a:avLst/>
          </a:prstGeom>
          <a:solidFill>
            <a:srgbClr val="1A1A2E"/>
          </a:solidFill>
          <a:ln/>
          <a:effectLst>
            <a:outerShdw blurRad="101600" dist="38100" dir="8100000" algn="bl" rotWithShape="0">
              <a:srgbClr val="000000">
                <a:alpha val="12000"/>
              </a:srgbClr>
            </a:outerShdw>
          </a:effectLst>
        </p:spPr>
        <p:txBody>
          <a:bodyPr/>
          <a:lstStyle/>
          <a:p>
            <a:endParaRPr lang="en-IN" dirty="0"/>
          </a:p>
        </p:txBody>
      </p:sp>
      <p:sp>
        <p:nvSpPr>
          <p:cNvPr id="14" name="Text 12"/>
          <p:cNvSpPr/>
          <p:nvPr/>
        </p:nvSpPr>
        <p:spPr>
          <a:xfrm>
            <a:off x="274320" y="3383280"/>
            <a:ext cx="3931920" cy="1563624"/>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Model:</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ŷ = β₀ + β₁x₁ + β₂x₂ + ... + βₚxₚ
</a:t>
            </a:r>
            <a:r>
              <a:rPr lang="en-US" sz="1300" b="1" dirty="0">
                <a:solidFill>
                  <a:srgbClr val="00C9A7"/>
                </a:solidFill>
                <a:latin typeface="Courier New" pitchFamily="34" charset="0"/>
                <a:ea typeface="Courier New" pitchFamily="34" charset="-122"/>
                <a:cs typeface="Courier New" pitchFamily="34" charset="-120"/>
              </a:rPr>
              <a:t>Where:
</a:t>
            </a:r>
            <a:r>
              <a:rPr lang="en-US" sz="1300" dirty="0">
                <a:solidFill>
                  <a:srgbClr val="E2E8F0"/>
                </a:solidFill>
                <a:latin typeface="Courier New" pitchFamily="34" charset="0"/>
                <a:ea typeface="Courier New" pitchFamily="34" charset="-122"/>
                <a:cs typeface="Courier New" pitchFamily="34" charset="-120"/>
              </a:rPr>
              <a:t>β₀  = Intercept (bias term)
βᵢ  = Coefficient of feature xᵢ
ŷ   = Predicted output
</a:t>
            </a:r>
            <a:r>
              <a:rPr lang="en-US" sz="1300" b="1" dirty="0">
                <a:solidFill>
                  <a:srgbClr val="00C9A7"/>
                </a:solidFill>
                <a:latin typeface="Courier New" pitchFamily="34" charset="0"/>
                <a:ea typeface="Courier New" pitchFamily="34" charset="-122"/>
                <a:cs typeface="Courier New" pitchFamily="34" charset="-120"/>
              </a:rPr>
              <a:t>OLS Estimate: </a:t>
            </a:r>
            <a:r>
              <a:rPr lang="en-US" sz="1300" dirty="0">
                <a:solidFill>
                  <a:srgbClr val="E2E8F0"/>
                </a:solidFill>
                <a:latin typeface="Courier New" pitchFamily="34" charset="0"/>
                <a:ea typeface="Courier New" pitchFamily="34" charset="-122"/>
                <a:cs typeface="Courier New" pitchFamily="34" charset="-120"/>
              </a:rPr>
              <a:t>β̂ = (XᵀX)⁻¹ </a:t>
            </a:r>
            <a:r>
              <a:rPr lang="en-US" sz="1300" dirty="0" err="1">
                <a:solidFill>
                  <a:srgbClr val="E2E8F0"/>
                </a:solidFill>
                <a:latin typeface="Courier New" pitchFamily="34" charset="0"/>
                <a:ea typeface="Courier New" pitchFamily="34" charset="-122"/>
                <a:cs typeface="Courier New" pitchFamily="34" charset="-120"/>
              </a:rPr>
              <a:t>Xᵀy</a:t>
            </a:r>
            <a:endParaRPr lang="en-US" sz="1300" dirty="0"/>
          </a:p>
          <a:p>
            <a:pPr marL="0" indent="0">
              <a:buNone/>
            </a:pPr>
            <a:r>
              <a:rPr lang="en-US" sz="1300" b="1" dirty="0">
                <a:solidFill>
                  <a:srgbClr val="00C9A7"/>
                </a:solidFill>
                <a:latin typeface="Courier New" pitchFamily="34" charset="0"/>
                <a:ea typeface="Courier New" pitchFamily="34" charset="-122"/>
                <a:cs typeface="Courier New" pitchFamily="34" charset="-120"/>
              </a:rPr>
              <a:t>Std. Coefficient:</a:t>
            </a:r>
            <a:r>
              <a:rPr lang="en-US" sz="1300" dirty="0">
                <a:solidFill>
                  <a:srgbClr val="E2E8F0"/>
                </a:solidFill>
                <a:latin typeface="Courier New" pitchFamily="34" charset="0"/>
                <a:ea typeface="Courier New" pitchFamily="34" charset="-122"/>
                <a:cs typeface="Courier New" pitchFamily="34" charset="-120"/>
              </a:rPr>
              <a:t>β*ᵢ = βᵢ × (σxᵢ / σy)</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House Price Prediction
</a:t>
            </a:r>
            <a:r>
              <a:rPr lang="en-US" sz="1200" dirty="0">
                <a:solidFill>
                  <a:srgbClr val="1E293B"/>
                </a:solidFill>
                <a:latin typeface="Calibri" pitchFamily="34" charset="0"/>
                <a:ea typeface="Calibri" pitchFamily="34" charset="-122"/>
                <a:cs typeface="Calibri" pitchFamily="34" charset="-120"/>
              </a:rPr>
              <a:t>ŷ = 50,000 + 200×Area + 15,000×Bedrooms
• β₁=200: Each extra sq.ft adds ₹200 to price
• β₂=15,000: Each extra bedroom adds ₹15,000
• Negative β: More distance from city → lower price
</a:t>
            </a:r>
            <a:r>
              <a:rPr lang="en-US" sz="1250" b="1" dirty="0">
                <a:solidFill>
                  <a:srgbClr val="1E2761"/>
                </a:solidFill>
                <a:latin typeface="Calibri" pitchFamily="34" charset="0"/>
                <a:ea typeface="Calibri" pitchFamily="34" charset="-122"/>
                <a:cs typeface="Calibri" pitchFamily="34" charset="-120"/>
              </a:rPr>
              <a:t>⚕️ Medical Dosage
</a:t>
            </a:r>
            <a:r>
              <a:rPr lang="en-US" sz="1200" dirty="0">
                <a:solidFill>
                  <a:srgbClr val="1E293B"/>
                </a:solidFill>
                <a:latin typeface="Calibri" pitchFamily="34" charset="0"/>
                <a:ea typeface="Calibri" pitchFamily="34" charset="-122"/>
                <a:cs typeface="Calibri" pitchFamily="34" charset="-120"/>
              </a:rPr>
              <a:t>β for 'age' = −0.4 means every 1 year increase in age requires 0.4 mg less of a drug.</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Interpretation of sign tells direction; magnitude tells importance.</a:t>
            </a:r>
            <a:endParaRPr lang="en-US" sz="1250" dirty="0"/>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1 of 6  |  Advanced Regression</a:t>
            </a:r>
            <a:endParaRPr lang="en-US" sz="800" dirty="0"/>
          </a:p>
        </p:txBody>
      </p:sp>
    </p:spTree>
    <p:extLst>
      <p:ext uri="{BB962C8B-B14F-4D97-AF65-F5344CB8AC3E}">
        <p14:creationId xmlns:p14="http://schemas.microsoft.com/office/powerpoint/2010/main" val="4016413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Interpretation of Coefficients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import numpy as np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from sklearn.linear_model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import LinearRegression
</a:t>
            </a:r>
            <a:endParaRPr lang="en-US" sz="950" dirty="0"/>
          </a:p>
          <a:p>
            <a:pPr marL="0" indent="0">
              <a:buNone/>
            </a:pPr>
            <a:r>
              <a:rPr lang="en-US" sz="950" dirty="0">
                <a:solidFill>
                  <a:srgbClr val="A0D9EF"/>
                </a:solidFill>
                <a:latin typeface="Courier New" pitchFamily="34" charset="0"/>
                <a:ea typeface="Courier New" pitchFamily="34" charset="-122"/>
                <a:cs typeface="Courier New" pitchFamily="34" charset="-120"/>
              </a:rPr>
              <a:t>import pandas as pd
</a:t>
            </a:r>
            <a:r>
              <a:rPr lang="en-US" sz="950" dirty="0">
                <a:solidFill>
                  <a:srgbClr val="696969"/>
                </a:solidFill>
                <a:latin typeface="Courier New" pitchFamily="34" charset="0"/>
                <a:ea typeface="Courier New" pitchFamily="34" charset="-122"/>
                <a:cs typeface="Courier New" pitchFamily="34" charset="-120"/>
              </a:rPr>
              <a:t># Sample data
</a:t>
            </a:r>
            <a:r>
              <a:rPr lang="en-US" sz="950" dirty="0">
                <a:solidFill>
                  <a:srgbClr val="E2E8F0"/>
                </a:solidFill>
                <a:latin typeface="Courier New" pitchFamily="34" charset="0"/>
                <a:ea typeface="Courier New" pitchFamily="34" charset="-122"/>
                <a:cs typeface="Courier New" pitchFamily="34" charset="-120"/>
              </a:rPr>
              <a:t>X = pd.DataFrame({
  'Area': [1200,1500,800,2000],
  'Bedrooms': [2,3,1,4]
})
y = [250000,320000,180000,450000]
model = LinearRegression()
</a:t>
            </a:r>
            <a:r>
              <a:rPr lang="en-US" sz="950" dirty="0" err="1">
                <a:solidFill>
                  <a:srgbClr val="E2E8F0"/>
                </a:solidFill>
                <a:latin typeface="Courier New" pitchFamily="34" charset="0"/>
                <a:ea typeface="Courier New" pitchFamily="34" charset="-122"/>
                <a:cs typeface="Courier New" pitchFamily="34" charset="-120"/>
              </a:rPr>
              <a:t>model.fit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Print coefficients
</a:t>
            </a:r>
            <a:r>
              <a:rPr lang="en-US" sz="950" dirty="0">
                <a:solidFill>
                  <a:srgbClr val="E2E8F0"/>
                </a:solidFill>
                <a:latin typeface="Courier New" pitchFamily="34" charset="0"/>
                <a:ea typeface="Courier New" pitchFamily="34" charset="-122"/>
                <a:cs typeface="Courier New" pitchFamily="34" charset="-120"/>
              </a:rPr>
              <a:t>print('Intercept:', model.intercept_)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for name, coef in zip(
    X.columns, model.coef_):
  print(f'{name}: {coef:.2f}')
</a:t>
            </a:r>
            <a:r>
              <a:rPr lang="en-US" sz="950" dirty="0">
                <a:solidFill>
                  <a:srgbClr val="696969"/>
                </a:solidFill>
                <a:latin typeface="Courier New" pitchFamily="34" charset="0"/>
                <a:ea typeface="Courier New" pitchFamily="34" charset="-122"/>
                <a:cs typeface="Courier New" pitchFamily="34" charset="-120"/>
              </a:rPr>
              <a:t># Interpretation:
</a:t>
            </a:r>
            <a:r>
              <a:rPr lang="en-US" sz="950" dirty="0">
                <a:solidFill>
                  <a:srgbClr val="C3E88D"/>
                </a:solidFill>
                <a:latin typeface="Courier New" pitchFamily="34" charset="0"/>
                <a:ea typeface="Courier New" pitchFamily="34" charset="-122"/>
                <a:cs typeface="Courier New" pitchFamily="34" charset="-120"/>
              </a:rPr>
              <a:t># Area=200 → +₹200/sq.ft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 Rooms=15000 → +₹15k/room</a:t>
            </a:r>
            <a:endParaRPr lang="en-US" sz="95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1 of 6  |  Advanced Regression</a:t>
            </a:r>
            <a:endParaRPr lang="en-US" sz="800" dirty="0"/>
          </a:p>
        </p:txBody>
      </p:sp>
    </p:spTree>
    <p:extLst>
      <p:ext uri="{BB962C8B-B14F-4D97-AF65-F5344CB8AC3E}">
        <p14:creationId xmlns:p14="http://schemas.microsoft.com/office/powerpoint/2010/main" val="1385947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Regularized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Regularization adds a penalty term to the loss function to prevent overfitting by discouraging large coefficient values. Ridge (L2) regression penalizes the sum of squared coefficients, shrinking all towards zero but never eliminating any. Lasso (L1) penalizes the absolute sum, enabling feature selection by forcing some coefficients to exactly zero. ElasticNet combines both L1 and L2 penalties, balancing sparsity and grouping effects.</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64134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320243"/>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Ridge (L2):
</a:t>
            </a:r>
            <a:r>
              <a:rPr lang="en-US" sz="1300" dirty="0">
                <a:solidFill>
                  <a:srgbClr val="E2E8F0"/>
                </a:solidFill>
                <a:latin typeface="Courier New" pitchFamily="34" charset="0"/>
                <a:ea typeface="Courier New" pitchFamily="34" charset="-122"/>
                <a:cs typeface="Courier New" pitchFamily="34" charset="-120"/>
              </a:rPr>
              <a:t>L = Σ(yᵢ - ŷᵢ)² + λΣβⱼ²
</a:t>
            </a:r>
            <a:r>
              <a:rPr lang="en-US" sz="1300" b="1" dirty="0">
                <a:solidFill>
                  <a:srgbClr val="FFD166"/>
                </a:solidFill>
                <a:latin typeface="Courier New" pitchFamily="34" charset="0"/>
                <a:ea typeface="Courier New" pitchFamily="34" charset="-122"/>
                <a:cs typeface="Courier New" pitchFamily="34" charset="-120"/>
              </a:rPr>
              <a:t>Lasso (L1):
</a:t>
            </a:r>
            <a:r>
              <a:rPr lang="en-US" sz="1300" dirty="0">
                <a:solidFill>
                  <a:srgbClr val="E2E8F0"/>
                </a:solidFill>
                <a:latin typeface="Courier New" pitchFamily="34" charset="0"/>
                <a:ea typeface="Courier New" pitchFamily="34" charset="-122"/>
                <a:cs typeface="Courier New" pitchFamily="34" charset="-120"/>
              </a:rPr>
              <a:t>L = Σ(yᵢ - ŷᵢ)² + λΣ|βⱼ|
</a:t>
            </a:r>
            <a:r>
              <a:rPr lang="en-US" sz="1300" b="1" dirty="0">
                <a:solidFill>
                  <a:srgbClr val="FFD166"/>
                </a:solidFill>
                <a:latin typeface="Courier New" pitchFamily="34" charset="0"/>
                <a:ea typeface="Courier New" pitchFamily="34" charset="-122"/>
                <a:cs typeface="Courier New" pitchFamily="34" charset="-120"/>
              </a:rPr>
              <a:t>ElasticNet:
</a:t>
            </a:r>
            <a:r>
              <a:rPr lang="en-US" sz="1300" dirty="0">
                <a:solidFill>
                  <a:srgbClr val="E2E8F0"/>
                </a:solidFill>
                <a:latin typeface="Courier New" pitchFamily="34" charset="0"/>
                <a:ea typeface="Courier New" pitchFamily="34" charset="-122"/>
                <a:cs typeface="Courier New" pitchFamily="34" charset="-120"/>
              </a:rPr>
              <a:t>L = Σ(yᵢ-ŷᵢ)² + λ₁Σ|βⱼ| + λ₂Σβⱼ²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Where λ = regularization strength
</a:t>
            </a:r>
            <a:endParaRPr lang="en-US" sz="1300" dirty="0"/>
          </a:p>
          <a:p>
            <a:pPr marL="0" indent="0">
              <a:buNone/>
            </a:pPr>
            <a:r>
              <a:rPr lang="en-US" sz="1300" dirty="0">
                <a:solidFill>
                  <a:srgbClr val="00C9A7"/>
                </a:solidFill>
                <a:latin typeface="Courier New" pitchFamily="34" charset="0"/>
                <a:ea typeface="Courier New" pitchFamily="34" charset="-122"/>
                <a:cs typeface="Courier New" pitchFamily="34" charset="-120"/>
              </a:rPr>
              <a:t>λ→0: Full model  |  λ→∞: Underfit</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Genomics (Lasso)
</a:t>
            </a:r>
            <a:r>
              <a:rPr lang="en-US" sz="1200" dirty="0">
                <a:solidFill>
                  <a:srgbClr val="1E293B"/>
                </a:solidFill>
                <a:latin typeface="Calibri" pitchFamily="34" charset="0"/>
                <a:ea typeface="Calibri" pitchFamily="34" charset="-122"/>
                <a:cs typeface="Calibri" pitchFamily="34" charset="-120"/>
              </a:rPr>
              <a:t>With 20,000 gene features and only 200 patients, Lasso forces most gene coefficients to zero, selecting only the ~50 most predictive genes for cancer risk. This prevents overfitting and gives interpretable results.
</a:t>
            </a:r>
            <a:r>
              <a:rPr lang="en-US" sz="1250" b="1" dirty="0">
                <a:solidFill>
                  <a:srgbClr val="1E2761"/>
                </a:solidFill>
                <a:latin typeface="Calibri" pitchFamily="34" charset="0"/>
                <a:ea typeface="Calibri" pitchFamily="34" charset="-122"/>
                <a:cs typeface="Calibri" pitchFamily="34" charset="-120"/>
              </a:rPr>
              <a:t>📈 Finance (Ridge)
</a:t>
            </a:r>
            <a:r>
              <a:rPr lang="en-US" sz="1200" dirty="0">
                <a:solidFill>
                  <a:srgbClr val="1E293B"/>
                </a:solidFill>
                <a:latin typeface="Calibri" pitchFamily="34" charset="0"/>
                <a:ea typeface="Calibri" pitchFamily="34" charset="-122"/>
                <a:cs typeface="Calibri" pitchFamily="34" charset="-120"/>
              </a:rPr>
              <a:t>Predicting stock returns using 500 correlated financial indicators. Ridge shrinks all coefficients, stabilizing predictions in presence of multicollinearity.</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Key choice: λ tuned via cross-validation.</a:t>
            </a:r>
            <a:endParaRPr lang="en-US" sz="1250" dirty="0"/>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2 of 6  |  Advanced Regression</a:t>
            </a:r>
            <a:endParaRPr lang="en-US" sz="800" dirty="0"/>
          </a:p>
        </p:txBody>
      </p:sp>
    </p:spTree>
    <p:extLst>
      <p:ext uri="{BB962C8B-B14F-4D97-AF65-F5344CB8AC3E}">
        <p14:creationId xmlns:p14="http://schemas.microsoft.com/office/powerpoint/2010/main" val="641602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Regularized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2" name="Shape 9"/>
          <p:cNvSpPr/>
          <p:nvPr/>
        </p:nvSpPr>
        <p:spPr>
          <a:xfrm>
            <a:off x="5335837" y="822960"/>
            <a:ext cx="3584448" cy="4059936"/>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822960"/>
            <a:ext cx="3401568" cy="4123944"/>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from sklearn.linear_model import (
</a:t>
            </a:r>
            <a:endParaRPr lang="en-US" sz="950" dirty="0"/>
          </a:p>
          <a:p>
            <a:pPr marL="0" indent="0">
              <a:buNone/>
            </a:pPr>
            <a:r>
              <a:rPr lang="en-US" sz="950" dirty="0">
                <a:solidFill>
                  <a:srgbClr val="A0D9EF"/>
                </a:solidFill>
                <a:latin typeface="Courier New" pitchFamily="34" charset="0"/>
                <a:ea typeface="Courier New" pitchFamily="34" charset="-122"/>
                <a:cs typeface="Courier New" pitchFamily="34" charset="-120"/>
              </a:rPr>
              <a:t>  Ridge, Lasso, ElasticNet)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from sklearn.datasets import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make_regression
X, y = make_regression(
  n_samples=200, n_features=50,
  noise=0.1, random_state=42)
</a:t>
            </a:r>
            <a:r>
              <a:rPr lang="en-US" sz="950" dirty="0">
                <a:solidFill>
                  <a:srgbClr val="696969"/>
                </a:solidFill>
                <a:latin typeface="Courier New" pitchFamily="34" charset="0"/>
                <a:ea typeface="Courier New" pitchFamily="34" charset="-122"/>
                <a:cs typeface="Courier New" pitchFamily="34" charset="-120"/>
              </a:rPr>
              <a:t># Ridge Regression
</a:t>
            </a:r>
            <a:r>
              <a:rPr lang="en-US" sz="950" dirty="0">
                <a:solidFill>
                  <a:srgbClr val="E2E8F0"/>
                </a:solidFill>
                <a:latin typeface="Courier New" pitchFamily="34" charset="0"/>
                <a:ea typeface="Courier New" pitchFamily="34" charset="-122"/>
                <a:cs typeface="Courier New" pitchFamily="34" charset="-120"/>
              </a:rPr>
              <a:t>ridge = Ridge(alpha=1.0)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ridge.fit(X, y)
</a:t>
            </a:r>
            <a:r>
              <a:rPr lang="en-US" sz="950" dirty="0">
                <a:solidFill>
                  <a:srgbClr val="696969"/>
                </a:solidFill>
                <a:latin typeface="Courier New" pitchFamily="34" charset="0"/>
                <a:ea typeface="Courier New" pitchFamily="34" charset="-122"/>
                <a:cs typeface="Courier New" pitchFamily="34" charset="-120"/>
              </a:rPr>
              <a:t># Lasso Regression
</a:t>
            </a:r>
            <a:r>
              <a:rPr lang="en-US" sz="950" dirty="0">
                <a:solidFill>
                  <a:srgbClr val="E2E8F0"/>
                </a:solidFill>
                <a:latin typeface="Courier New" pitchFamily="34" charset="0"/>
                <a:ea typeface="Courier New" pitchFamily="34" charset="-122"/>
                <a:cs typeface="Courier New" pitchFamily="34" charset="-120"/>
              </a:rPr>
              <a:t>lasso = Lasso(alpha=0.1)
</a:t>
            </a:r>
            <a:r>
              <a:rPr lang="en-US" sz="950" dirty="0" err="1">
                <a:solidFill>
                  <a:srgbClr val="E2E8F0"/>
                </a:solidFill>
                <a:latin typeface="Courier New" pitchFamily="34" charset="0"/>
                <a:ea typeface="Courier New" pitchFamily="34" charset="-122"/>
                <a:cs typeface="Courier New" pitchFamily="34" charset="-120"/>
              </a:rPr>
              <a:t>lasso.fit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ElasticNet
</a:t>
            </a:r>
            <a:r>
              <a:rPr lang="en-US" sz="950" dirty="0" err="1">
                <a:solidFill>
                  <a:srgbClr val="E2E8F0"/>
                </a:solidFill>
                <a:latin typeface="Courier New" pitchFamily="34" charset="0"/>
                <a:ea typeface="Courier New" pitchFamily="34" charset="-122"/>
                <a:cs typeface="Courier New" pitchFamily="34" charset="-120"/>
              </a:rPr>
              <a:t>en</a:t>
            </a:r>
            <a:r>
              <a:rPr lang="en-US" sz="950" dirty="0">
                <a:solidFill>
                  <a:srgbClr val="E2E8F0"/>
                </a:solidFill>
                <a:latin typeface="Courier New" pitchFamily="34" charset="0"/>
                <a:ea typeface="Courier New" pitchFamily="34" charset="-122"/>
                <a:cs typeface="Courier New" pitchFamily="34" charset="-120"/>
              </a:rPr>
              <a:t> = ElasticNet(alpha=0.1, l1_ratio=0.5)
</a:t>
            </a:r>
            <a:r>
              <a:rPr lang="en-US" sz="950" dirty="0" err="1">
                <a:solidFill>
                  <a:srgbClr val="E2E8F0"/>
                </a:solidFill>
                <a:latin typeface="Courier New" pitchFamily="34" charset="0"/>
                <a:ea typeface="Courier New" pitchFamily="34" charset="-122"/>
                <a:cs typeface="Courier New" pitchFamily="34" charset="-120"/>
              </a:rPr>
              <a:t>en.fit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Non-zero coefs (feature selection)
</a:t>
            </a:r>
            <a:r>
              <a:rPr lang="en-US" sz="950" dirty="0">
                <a:solidFill>
                  <a:srgbClr val="E2E8F0"/>
                </a:solidFill>
                <a:latin typeface="Courier New" pitchFamily="34" charset="0"/>
                <a:ea typeface="Courier New" pitchFamily="34" charset="-122"/>
                <a:cs typeface="Courier New" pitchFamily="34" charset="-120"/>
              </a:rPr>
              <a:t>import numpy as np
</a:t>
            </a:r>
            <a:r>
              <a:rPr lang="en-US" sz="950" dirty="0" err="1">
                <a:solidFill>
                  <a:srgbClr val="E2E8F0"/>
                </a:solidFill>
                <a:latin typeface="Courier New" pitchFamily="34" charset="0"/>
                <a:ea typeface="Courier New" pitchFamily="34" charset="-122"/>
                <a:cs typeface="Courier New" pitchFamily="34" charset="-120"/>
              </a:rPr>
              <a:t>nz</a:t>
            </a:r>
            <a:r>
              <a:rPr lang="en-US" sz="950" dirty="0">
                <a:solidFill>
                  <a:srgbClr val="E2E8F0"/>
                </a:solidFill>
                <a:latin typeface="Courier New" pitchFamily="34" charset="0"/>
                <a:ea typeface="Courier New" pitchFamily="34" charset="-122"/>
                <a:cs typeface="Courier New" pitchFamily="34" charset="-120"/>
              </a:rPr>
              <a:t> = np.sum(lasso.coef_ != 0)
</a:t>
            </a:r>
            <a:r>
              <a:rPr lang="en-US" sz="950" dirty="0">
                <a:solidFill>
                  <a:srgbClr val="C3E88D"/>
                </a:solidFill>
                <a:latin typeface="Courier New" pitchFamily="34" charset="0"/>
                <a:ea typeface="Courier New" pitchFamily="34" charset="-122"/>
                <a:cs typeface="Courier New" pitchFamily="34" charset="-120"/>
              </a:rPr>
              <a:t>print(f'Lasso kept {nz}/50 features')</a:t>
            </a:r>
            <a:endParaRPr lang="en-US" sz="95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2 of 6  |  Advanced Regression</a:t>
            </a:r>
            <a:endParaRPr lang="en-US" sz="800" dirty="0"/>
          </a:p>
        </p:txBody>
      </p:sp>
    </p:spTree>
    <p:extLst>
      <p:ext uri="{BB962C8B-B14F-4D97-AF65-F5344CB8AC3E}">
        <p14:creationId xmlns:p14="http://schemas.microsoft.com/office/powerpoint/2010/main" val="1736759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Effect of Regularization on Model Complexity</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Regularization directly controls the bias-variance tradeoff. Low λ allows a complex, flexible model (low bias, high variance — overfitting). High λ forces a simpler model with smaller coefficients (high bias, low variance — underfitting). The optimal λ minimizes test/validation error. The effective degrees of freedom decrease monotonically as λ increases, reducing model complexity. Cross-validation is the standard method for selecting the best λ.</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80136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Effective DoF (Ridge):
</a:t>
            </a:r>
            <a:r>
              <a:rPr lang="en-US" sz="1300" dirty="0" err="1">
                <a:solidFill>
                  <a:srgbClr val="E2E8F0"/>
                </a:solidFill>
                <a:latin typeface="Courier New" pitchFamily="34" charset="0"/>
                <a:ea typeface="Courier New" pitchFamily="34" charset="-122"/>
                <a:cs typeface="Courier New" pitchFamily="34" charset="-120"/>
              </a:rPr>
              <a:t>df</a:t>
            </a:r>
            <a:r>
              <a:rPr lang="en-US" sz="1300" dirty="0">
                <a:solidFill>
                  <a:srgbClr val="E2E8F0"/>
                </a:solidFill>
                <a:latin typeface="Courier New" pitchFamily="34" charset="0"/>
                <a:ea typeface="Courier New" pitchFamily="34" charset="-122"/>
                <a:cs typeface="Courier New" pitchFamily="34" charset="-120"/>
              </a:rPr>
              <a:t>(λ) = Σ dᵢ²/(dᵢ² + λ)
where dᵢ = singular values of X
</a:t>
            </a:r>
            <a:r>
              <a:rPr lang="en-US" sz="1300" b="1" dirty="0">
                <a:solidFill>
                  <a:srgbClr val="FFD166"/>
                </a:solidFill>
                <a:latin typeface="Courier New" pitchFamily="34" charset="0"/>
                <a:ea typeface="Courier New" pitchFamily="34" charset="-122"/>
                <a:cs typeface="Courier New" pitchFamily="34" charset="-120"/>
              </a:rPr>
              <a:t>Bias-Variance:</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MSE = Bias² + Variance + ε²</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As λ ↑:  Bias ↑  |  Variance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Optimal λ* via </a:t>
            </a:r>
            <a:r>
              <a:rPr lang="en-US" sz="1300" b="1" dirty="0" err="1">
                <a:solidFill>
                  <a:srgbClr val="FFD166"/>
                </a:solidFill>
                <a:latin typeface="Courier New" pitchFamily="34" charset="0"/>
                <a:ea typeface="Courier New" pitchFamily="34" charset="-122"/>
                <a:cs typeface="Courier New" pitchFamily="34" charset="-120"/>
              </a:rPr>
              <a:t>CV:</a:t>
            </a:r>
            <a:r>
              <a:rPr lang="en-US" sz="1300" dirty="0" err="1">
                <a:solidFill>
                  <a:srgbClr val="E2E8F0"/>
                </a:solidFill>
                <a:latin typeface="Courier New" pitchFamily="34" charset="0"/>
                <a:ea typeface="Courier New" pitchFamily="34" charset="-122"/>
                <a:cs typeface="Courier New" pitchFamily="34" charset="-120"/>
              </a:rPr>
              <a:t>λ</a:t>
            </a:r>
            <a:r>
              <a:rPr lang="en-US" sz="1300" dirty="0">
                <a:solidFill>
                  <a:srgbClr val="E2E8F0"/>
                </a:solidFill>
                <a:latin typeface="Courier New" pitchFamily="34" charset="0"/>
                <a:ea typeface="Courier New" pitchFamily="34" charset="-122"/>
                <a:cs typeface="Courier New" pitchFamily="34" charset="-120"/>
              </a:rPr>
              <a:t>* = argmin_{λ}_error(λ)
</a:t>
            </a:r>
            <a:r>
              <a:rPr lang="en-US" sz="1300" dirty="0">
                <a:solidFill>
                  <a:srgbClr val="00C9A7"/>
                </a:solidFill>
                <a:latin typeface="Courier New" pitchFamily="34" charset="0"/>
                <a:ea typeface="Courier New" pitchFamily="34" charset="-122"/>
                <a:cs typeface="Courier New" pitchFamily="34" charset="-120"/>
              </a:rPr>
              <a:t>Rule: λ in [0.001, 100]</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Spam Classifier
</a:t>
            </a:r>
            <a:r>
              <a:rPr lang="en-US" sz="1200" dirty="0">
                <a:solidFill>
                  <a:srgbClr val="1E293B"/>
                </a:solidFill>
                <a:latin typeface="Calibri" pitchFamily="34" charset="0"/>
                <a:ea typeface="Calibri" pitchFamily="34" charset="-122"/>
                <a:cs typeface="Calibri" pitchFamily="34" charset="-120"/>
              </a:rPr>
              <a:t>With 10,000 word features and λ=0 (no regularization), model memorizes training emails (overfitting). Increasing λ gradually zeros out rare word coefficients, keeping only highly informative words like 'lottery', 'free', 'win'.
</a:t>
            </a:r>
            <a:r>
              <a:rPr lang="en-US" sz="1250" b="1" dirty="0">
                <a:solidFill>
                  <a:srgbClr val="1E2761"/>
                </a:solidFill>
                <a:latin typeface="Calibri" pitchFamily="34" charset="0"/>
                <a:ea typeface="Calibri" pitchFamily="34" charset="-122"/>
                <a:cs typeface="Calibri" pitchFamily="34" charset="-120"/>
              </a:rPr>
              <a:t>📉 Image Compression (Ridge)
</a:t>
            </a:r>
            <a:r>
              <a:rPr lang="en-US" sz="1200" dirty="0">
                <a:solidFill>
                  <a:srgbClr val="1E293B"/>
                </a:solidFill>
                <a:latin typeface="Calibri" pitchFamily="34" charset="0"/>
                <a:ea typeface="Calibri" pitchFamily="34" charset="-122"/>
                <a:cs typeface="Calibri" pitchFamily="34" charset="-120"/>
              </a:rPr>
              <a:t>Large λ → fewer active features → simpler, compressed model with acceptable quality loss.</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LambdaCV in scikit-learn automatically picks optimal λ using 5-fold cross validation.</a:t>
            </a:r>
            <a:endParaRPr lang="en-US" sz="1250" dirty="0"/>
          </a:p>
        </p:txBody>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3 of 6  |  Advanced Regression</a:t>
            </a:r>
            <a:endParaRPr lang="en-US" sz="800" dirty="0"/>
          </a:p>
        </p:txBody>
      </p:sp>
    </p:spTree>
    <p:extLst>
      <p:ext uri="{BB962C8B-B14F-4D97-AF65-F5344CB8AC3E}">
        <p14:creationId xmlns:p14="http://schemas.microsoft.com/office/powerpoint/2010/main" val="3148423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Effect of Regularization on Model Complexity</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from sklearn.linear_model import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RidgeCV, LassoCV)
from sklearn.preprocessing import \
  StandardScaler
</a:t>
            </a:r>
            <a:r>
              <a:rPr lang="en-US" sz="950" dirty="0">
                <a:solidFill>
                  <a:srgbClr val="696969"/>
                </a:solidFill>
                <a:latin typeface="Courier New" pitchFamily="34" charset="0"/>
                <a:ea typeface="Courier New" pitchFamily="34" charset="-122"/>
                <a:cs typeface="Courier New" pitchFamily="34" charset="-120"/>
              </a:rPr>
              <a:t># Standardize features first!
</a:t>
            </a:r>
            <a:r>
              <a:rPr lang="en-US" sz="950" dirty="0" err="1">
                <a:solidFill>
                  <a:srgbClr val="E2E8F0"/>
                </a:solidFill>
                <a:latin typeface="Courier New" pitchFamily="34" charset="0"/>
                <a:ea typeface="Courier New" pitchFamily="34" charset="-122"/>
                <a:cs typeface="Courier New" pitchFamily="34" charset="-120"/>
              </a:rPr>
              <a:t>sc</a:t>
            </a:r>
            <a:r>
              <a:rPr lang="en-US" sz="950" dirty="0">
                <a:solidFill>
                  <a:srgbClr val="E2E8F0"/>
                </a:solidFill>
                <a:latin typeface="Courier New" pitchFamily="34" charset="0"/>
                <a:ea typeface="Courier New" pitchFamily="34" charset="-122"/>
                <a:cs typeface="Courier New" pitchFamily="34" charset="-120"/>
              </a:rPr>
              <a:t> = StandardScaler()
</a:t>
            </a:r>
            <a:r>
              <a:rPr lang="en-US" sz="950" dirty="0" err="1">
                <a:solidFill>
                  <a:srgbClr val="E2E8F0"/>
                </a:solidFill>
                <a:latin typeface="Courier New" pitchFamily="34" charset="0"/>
                <a:ea typeface="Courier New" pitchFamily="34" charset="-122"/>
                <a:cs typeface="Courier New" pitchFamily="34" charset="-120"/>
              </a:rPr>
              <a:t>X_sc</a:t>
            </a:r>
            <a:r>
              <a:rPr lang="en-US" sz="950" dirty="0">
                <a:solidFill>
                  <a:srgbClr val="E2E8F0"/>
                </a:solidFill>
                <a:latin typeface="Courier New" pitchFamily="34" charset="0"/>
                <a:ea typeface="Courier New" pitchFamily="34" charset="-122"/>
                <a:cs typeface="Courier New" pitchFamily="34" charset="-120"/>
              </a:rPr>
              <a:t> = sc.fit_transform(X)
</a:t>
            </a:r>
            <a:r>
              <a:rPr lang="en-US" sz="950" dirty="0">
                <a:solidFill>
                  <a:srgbClr val="696969"/>
                </a:solidFill>
                <a:latin typeface="Courier New" pitchFamily="34" charset="0"/>
                <a:ea typeface="Courier New" pitchFamily="34" charset="-122"/>
                <a:cs typeface="Courier New" pitchFamily="34" charset="-120"/>
              </a:rPr>
              <a:t># RidgeCV: auto-selects lambda
</a:t>
            </a:r>
            <a:r>
              <a:rPr lang="en-US" sz="950" dirty="0">
                <a:solidFill>
                  <a:srgbClr val="E2E8F0"/>
                </a:solidFill>
                <a:latin typeface="Courier New" pitchFamily="34" charset="0"/>
                <a:ea typeface="Courier New" pitchFamily="34" charset="-122"/>
                <a:cs typeface="Courier New" pitchFamily="34" charset="-120"/>
              </a:rPr>
              <a:t>alphas = [0.001,0.01,0.1,1,10,100]
</a:t>
            </a:r>
            <a:r>
              <a:rPr lang="en-US" sz="950" dirty="0" err="1">
                <a:solidFill>
                  <a:srgbClr val="E2E8F0"/>
                </a:solidFill>
                <a:latin typeface="Courier New" pitchFamily="34" charset="0"/>
                <a:ea typeface="Courier New" pitchFamily="34" charset="-122"/>
                <a:cs typeface="Courier New" pitchFamily="34" charset="-120"/>
              </a:rPr>
              <a:t>rcv</a:t>
            </a:r>
            <a:r>
              <a:rPr lang="en-US" sz="950" dirty="0">
                <a:solidFill>
                  <a:srgbClr val="E2E8F0"/>
                </a:solidFill>
                <a:latin typeface="Courier New" pitchFamily="34" charset="0"/>
                <a:ea typeface="Courier New" pitchFamily="34" charset="-122"/>
                <a:cs typeface="Courier New" pitchFamily="34" charset="-120"/>
              </a:rPr>
              <a:t> = RidgeCV(alphas=alphas, cv=5)
</a:t>
            </a:r>
            <a:r>
              <a:rPr lang="en-US" sz="950" dirty="0" err="1">
                <a:solidFill>
                  <a:srgbClr val="E2E8F0"/>
                </a:solidFill>
                <a:latin typeface="Courier New" pitchFamily="34" charset="0"/>
                <a:ea typeface="Courier New" pitchFamily="34" charset="-122"/>
                <a:cs typeface="Courier New" pitchFamily="34" charset="-120"/>
              </a:rPr>
              <a:t>rcv.fit</a:t>
            </a:r>
            <a:r>
              <a:rPr lang="en-US" sz="950" dirty="0">
                <a:solidFill>
                  <a:srgbClr val="E2E8F0"/>
                </a:solidFill>
                <a:latin typeface="Courier New" pitchFamily="34" charset="0"/>
                <a:ea typeface="Courier New" pitchFamily="34" charset="-122"/>
                <a:cs typeface="Courier New" pitchFamily="34" charset="-120"/>
              </a:rPr>
              <a:t>(X_sc, y)
print('Best α:', rcv.alpha_)
</a:t>
            </a:r>
            <a:r>
              <a:rPr lang="en-US" sz="950" dirty="0">
                <a:solidFill>
                  <a:srgbClr val="696969"/>
                </a:solidFill>
                <a:latin typeface="Courier New" pitchFamily="34" charset="0"/>
                <a:ea typeface="Courier New" pitchFamily="34" charset="-122"/>
                <a:cs typeface="Courier New" pitchFamily="34" charset="-120"/>
              </a:rPr>
              <a:t># Complexity: count near-zero coefs
</a:t>
            </a:r>
            <a:r>
              <a:rPr lang="en-US" sz="950" dirty="0">
                <a:solidFill>
                  <a:srgbClr val="E2E8F0"/>
                </a:solidFill>
                <a:latin typeface="Courier New" pitchFamily="34" charset="0"/>
                <a:ea typeface="Courier New" pitchFamily="34" charset="-122"/>
                <a:cs typeface="Courier New" pitchFamily="34" charset="-120"/>
              </a:rPr>
              <a:t>import numpy as np
for a in [0.01, 1, 100]:
  from sklearn.linear_model import Ridge
  r = Ridge(alpha=a).fit(X_sc, y)
  avg = np.mean(np.abs(r.coef_))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  print(f'α={a}: avg|β|={avg:.3f}')</a:t>
            </a:r>
            <a:endParaRPr lang="en-US" sz="950" dirty="0"/>
          </a:p>
        </p:txBody>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3 of 6  |  Advanced Regression</a:t>
            </a:r>
            <a:endParaRPr lang="en-US" sz="800" dirty="0"/>
          </a:p>
        </p:txBody>
      </p:sp>
    </p:spTree>
    <p:extLst>
      <p:ext uri="{BB962C8B-B14F-4D97-AF65-F5344CB8AC3E}">
        <p14:creationId xmlns:p14="http://schemas.microsoft.com/office/powerpoint/2010/main" val="2375818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 Polynomial Feature Expansion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Definition  •  Equation  •  Real-Life Example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 DEFINITION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Polynomial feature expansion transforms input features by adding powers and cross-product terms, enabling a linear model to capture non-linear relationships. A degree-d expansion of p features creates C(p+d, d) new features. The model remains linear in the expanded feature space but non-linear in the original input space. This is a form of kernel-based learning, related to the polynomial kernel in SVMs. Care must be taken to avoid overfitting with high-degree expansions.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MATHEMATICAL EQUATION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64592" y="3328416"/>
            <a:ext cx="4160520" cy="1815084"/>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Original: x → Expanded φ(x)
</a:t>
            </a: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Degree-2 (1 feature):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φ(x) = [1, x, x²]</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Degree-2 (2 features):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φ(x) = [1, x₁, x₂, x₁², x₂², x₁x₂]
</a:t>
            </a:r>
            <a:r>
              <a:rPr kumimoji="0" lang="en-US" sz="1300" b="1" i="0" u="none" strike="noStrike" kern="1200" cap="none" spc="0" normalizeH="0" baseline="0" noProof="0" dirty="0" err="1">
                <a:ln>
                  <a:noFill/>
                </a:ln>
                <a:solidFill>
                  <a:srgbClr val="FFD166"/>
                </a:solidFill>
                <a:effectLst/>
                <a:uLnTx/>
                <a:uFillTx/>
                <a:latin typeface="Courier New" pitchFamily="34" charset="0"/>
                <a:ea typeface="Courier New" pitchFamily="34" charset="-122"/>
                <a:cs typeface="Courier New" pitchFamily="34" charset="-120"/>
              </a:rPr>
              <a:t>Model:</a:t>
            </a:r>
            <a:r>
              <a:rPr kumimoji="0" lang="en-US" sz="130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ŷ</a:t>
            </a: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 β₀+β₁x+β₂x²+...+βₐxᵈ</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New feature </a:t>
            </a:r>
            <a:r>
              <a:rPr kumimoji="0" lang="en-US" sz="1300" b="1" i="0" u="none" strike="noStrike" kern="1200" cap="none" spc="0" normalizeH="0" baseline="0" noProof="0" dirty="0" err="1">
                <a:ln>
                  <a:noFill/>
                </a:ln>
                <a:solidFill>
                  <a:srgbClr val="FFD166"/>
                </a:solidFill>
                <a:effectLst/>
                <a:uLnTx/>
                <a:uFillTx/>
                <a:latin typeface="Courier New" pitchFamily="34" charset="0"/>
                <a:ea typeface="Courier New" pitchFamily="34" charset="-122"/>
                <a:cs typeface="Courier New" pitchFamily="34" charset="-120"/>
              </a:rPr>
              <a:t>count:</a:t>
            </a:r>
            <a:r>
              <a:rPr kumimoji="0" lang="en-US" sz="130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C</a:t>
            </a: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(p+d, d) = (p+d)! / (p! × 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6B6B"/>
                </a:solidFill>
                <a:effectLst/>
                <a:uLnTx/>
                <a:uFillTx/>
                <a:latin typeface="Courier New" pitchFamily="34" charset="0"/>
                <a:ea typeface="Courier New" pitchFamily="34" charset="-122"/>
                <a:cs typeface="Courier New" pitchFamily="34" charset="-120"/>
              </a:rPr>
              <a:t>Risk: degree↑ → overfitting↑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REAL-LIFE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Fuel Efficiency
</a:t>
            </a: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MPG vs. speed follows a curve — fuel efficiency drops at very high and very low speeds (optimal ~60 km/h). A degree-2 polynomial captures this U-shape that a linear model completely misses.
</a:t>
            </a: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Drug Dose-Response
</a:t>
            </a: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Therapeutic effect vs. dosage is non-linear: too little has no effect, optimal range is therapeutic, too much is toxic. A polynomial curve models this inverted-U relationship.</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Always combine with Ridge/Lasso to prevent overfitting!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82880" y="4992624"/>
            <a:ext cx="8778240" cy="137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Topic 4 of 6  |  Advanced Regression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5459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 Polynomial Feature Expansion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D166"/>
                </a:solidFill>
                <a:effectLst/>
                <a:uLnTx/>
                <a:uFillTx/>
                <a:latin typeface="Calibri" pitchFamily="34" charset="0"/>
                <a:ea typeface="Calibri" pitchFamily="34" charset="-122"/>
                <a:cs typeface="Calibri" pitchFamily="34" charset="-120"/>
              </a:rPr>
              <a:t>Graph  •  Python Code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VISUALIZATION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6EFAC"/>
                </a:solidFill>
                <a:effectLst/>
                <a:uLnTx/>
                <a:uFillTx/>
                <a:latin typeface="Calibri" pitchFamily="34" charset="0"/>
                <a:ea typeface="Calibri" pitchFamily="34" charset="-122"/>
                <a:cs typeface="Calibri" pitchFamily="34" charset="-120"/>
              </a:rPr>
              <a:t>🐍 PYTHON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A0D9EF"/>
                </a:solidFill>
                <a:effectLst/>
                <a:uLnTx/>
                <a:uFillTx/>
                <a:latin typeface="Courier New" pitchFamily="34" charset="0"/>
                <a:ea typeface="Courier New" pitchFamily="34" charset="-122"/>
                <a:cs typeface="Courier New" pitchFamily="34" charset="-120"/>
              </a:rPr>
              <a:t>from </a:t>
            </a:r>
            <a:r>
              <a:rPr kumimoji="0" lang="en-US" sz="950" b="0" i="0" u="none" strike="noStrike" kern="1200" cap="none" spc="0" normalizeH="0" baseline="0" noProof="0" dirty="0" err="1">
                <a:ln>
                  <a:noFill/>
                </a:ln>
                <a:solidFill>
                  <a:srgbClr val="A0D9EF"/>
                </a:solidFill>
                <a:effectLst/>
                <a:uLnTx/>
                <a:uFillTx/>
                <a:latin typeface="Courier New" pitchFamily="34" charset="0"/>
                <a:ea typeface="Courier New" pitchFamily="34" charset="-122"/>
                <a:cs typeface="Courier New" pitchFamily="34" charset="-120"/>
              </a:rPr>
              <a:t>sklearn.preprocessing</a:t>
            </a:r>
            <a:r>
              <a:rPr kumimoji="0" lang="en-US" sz="950" b="0" i="0" u="none" strike="noStrike" kern="1200" cap="none" spc="0" normalizeH="0" baseline="0" noProof="0" dirty="0">
                <a:ln>
                  <a:noFill/>
                </a:ln>
                <a:solidFill>
                  <a:srgbClr val="A0D9EF"/>
                </a:solidFill>
                <a:effectLst/>
                <a:uLnTx/>
                <a:uFillTx/>
                <a:latin typeface="Courier New" pitchFamily="34" charset="0"/>
                <a:ea typeface="Courier New" pitchFamily="34" charset="-122"/>
                <a:cs typeface="Courier New" pitchFamily="34" charset="-120"/>
              </a:rPr>
              <a:t> import \
</a:t>
            </a:r>
            <a:r>
              <a:rPr kumimoji="0" lang="en-US" sz="95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PolynomialFeatures</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from sklearn.pipeline import Pipeline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from </a:t>
            </a:r>
            <a:r>
              <a:rPr kumimoji="0" lang="en-US" sz="95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sklearn.linear_model</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import Ridge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import numpy as np</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Non-linear data (quadratic)</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X = np.linspace(-3,3,100).reshape(-1,1)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y = 0.5*X[:,0]**2 - 1.5*X[:,0] + np.random.randn(100)*0.4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Build polynomial pipeline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for deg in [1, 2, 5, 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pipe = Pipeline([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('poly', PolynomialFeatures(degree=deg)),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('model', Ridge(alpha=0.1))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pipe.fit(X, 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print(f'deg={deg}:', pipe.score(</a:t>
            </a:r>
            <a:r>
              <a:rPr kumimoji="0" lang="en-US" sz="95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X,y</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Feature names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pf = PolynomialFeatures(2)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3E88D"/>
                </a:solidFill>
                <a:effectLst/>
                <a:uLnTx/>
                <a:uFillTx/>
                <a:latin typeface="Courier New" pitchFamily="34" charset="0"/>
                <a:ea typeface="Courier New" pitchFamily="34" charset="-122"/>
                <a:cs typeface="Courier New" pitchFamily="34" charset="-120"/>
              </a:rPr>
              <a:t>pf.fit(X); print(pf.get_feature_names_out())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D166"/>
                </a:solidFill>
                <a:effectLst/>
                <a:uLnTx/>
                <a:uFillTx/>
                <a:latin typeface="Calibri" pitchFamily="34" charset="0"/>
                <a:ea typeface="Calibri" pitchFamily="34" charset="-122"/>
                <a:cs typeface="Calibri" pitchFamily="34" charset="-120"/>
              </a:rPr>
              <a:t>Topic 4 of 6  |  Advanced Regression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738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Tree-Based Regression Models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Definition  •  Equation  •  Real-Life Example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 DEFINITION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Tree-based regression models recursively partition the feature space into rectangular regions, predicting the mean target value within each region. A Decision Tree minimizes MSE at each split. Random Forest builds multiple decorrelated trees using bootstrap sampling and random feature selection, averaging predictions to reduce variance. Gradient Boosting builds trees sequentially, where each tree corrects the residuals of the previous. These models handle non-linearity, outliers, and mixed data types naturally without scaling.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MATHEMATICAL EQUATION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64592" y="3328416"/>
            <a:ext cx="4160520" cy="157276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Split Criterion (MSE reduction):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ΔMSEₛ = MSE(parent) -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(n_L/n)MSE_L + (n_R/n)MSE_R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Leaf Prediction: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ŷ(leaf) = mean(y : x ∈ leaf)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Random Forest: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ŷ_RF = (1/B)Σ T_b(x)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Gradient Boost: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Fₘ(x) = Fₘ₋₁(x) + η·hₘ(x)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C9A7"/>
                </a:solidFill>
                <a:effectLst/>
                <a:uLnTx/>
                <a:uFillTx/>
                <a:latin typeface="Courier New" pitchFamily="34" charset="0"/>
                <a:ea typeface="Courier New" pitchFamily="34" charset="-122"/>
                <a:cs typeface="Courier New" pitchFamily="34" charset="-120"/>
              </a:rPr>
              <a:t>hₘ fits residuals rᵢ = yᵢ - Fₘ₋₁(xᵢ)</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REAL-LIFE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Real Estate Valuation
</a:t>
            </a: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Random Forest splits: 'Area &gt; 1500sqft → yes branch: price range 300k-500k'. No feature scaling needed. Handles missing values. Used by Zillow's Zestimate model for property valuation.
</a:t>
            </a: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Energy Demand Forecasting
</a:t>
            </a: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XGBoost (Gradient Boost) captures complex patterns in electricity demand: temperature spikes, weekday/weekend effects, holidays — without manual feature engineering.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Feature importance from trees gives actionable insights.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Topic 5 of 6  |  Advanced Regression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155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618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9">
            <a:extLst>
              <a:ext uri="{FF2B5EF4-FFF2-40B4-BE49-F238E27FC236}">
                <a16:creationId xmlns:a16="http://schemas.microsoft.com/office/drawing/2014/main" id="{19433187-7596-4D6C-DB3F-CDC2A3A5DEFA}"/>
              </a:ext>
            </a:extLst>
          </p:cNvPr>
          <p:cNvSpPr/>
          <p:nvPr/>
        </p:nvSpPr>
        <p:spPr>
          <a:xfrm>
            <a:off x="164592" y="55614"/>
            <a:ext cx="8747676" cy="1016653"/>
          </a:xfrm>
          <a:prstGeom prst="rect">
            <a:avLst/>
          </a:prstGeom>
          <a:solidFill>
            <a:srgbClr val="2D6A8F"/>
          </a:solidFill>
          <a:ln/>
          <a:effectLst>
            <a:outerShdw blurRad="101600" dist="38100" dir="8100000" algn="bl" rotWithShape="0">
              <a:srgbClr val="000000">
                <a:alpha val="12000"/>
              </a:srgbClr>
            </a:outerShdw>
          </a:effectLst>
        </p:spPr>
      </p:sp>
      <p:sp>
        <p:nvSpPr>
          <p:cNvPr id="5" name="Shape 11">
            <a:extLst>
              <a:ext uri="{FF2B5EF4-FFF2-40B4-BE49-F238E27FC236}">
                <a16:creationId xmlns:a16="http://schemas.microsoft.com/office/drawing/2014/main" id="{177BC673-2A47-5311-6652-9F666453E8D7}"/>
              </a:ext>
            </a:extLst>
          </p:cNvPr>
          <p:cNvSpPr/>
          <p:nvPr/>
        </p:nvSpPr>
        <p:spPr>
          <a:xfrm>
            <a:off x="164592" y="384798"/>
            <a:ext cx="8747676" cy="4857343"/>
          </a:xfrm>
          <a:prstGeom prst="rect">
            <a:avLst/>
          </a:prstGeom>
          <a:solidFill>
            <a:srgbClr val="1A1A2E"/>
          </a:solidFill>
          <a:ln/>
          <a:effectLst>
            <a:outerShdw blurRad="101600" dist="38100" dir="8100000" algn="bl" rotWithShape="0">
              <a:srgbClr val="000000">
                <a:alpha val="12000"/>
              </a:srgbClr>
            </a:outerShdw>
          </a:effectLst>
        </p:spPr>
      </p:sp>
      <p:sp>
        <p:nvSpPr>
          <p:cNvPr id="6" name="Text 12">
            <a:extLst>
              <a:ext uri="{FF2B5EF4-FFF2-40B4-BE49-F238E27FC236}">
                <a16:creationId xmlns:a16="http://schemas.microsoft.com/office/drawing/2014/main" id="{C223B72D-1CEC-89EF-FF41-925DC499B8A3}"/>
              </a:ext>
            </a:extLst>
          </p:cNvPr>
          <p:cNvSpPr/>
          <p:nvPr/>
        </p:nvSpPr>
        <p:spPr>
          <a:xfrm>
            <a:off x="274320" y="439663"/>
            <a:ext cx="8267034" cy="446197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Split Criterion (MSE reduction):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ΔMSEₛ = MSE(parent) -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(n_L/n)MSE_L + (n_R/n)MSE_R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Leaf Prediction: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ŷ(leaf) = mean(y : x ∈ leaf)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Random Forest: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ŷ_RF = (1/B)Σ T_b(x)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Gradient Boost: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Fₘ(x) = Fₘ₋₁(x) + η·hₘ(x)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C9A7"/>
                </a:solidFill>
                <a:effectLst/>
                <a:uLnTx/>
                <a:uFillTx/>
                <a:latin typeface="Courier New" pitchFamily="34" charset="0"/>
                <a:ea typeface="Courier New" pitchFamily="34" charset="-122"/>
                <a:cs typeface="Courier New" pitchFamily="34" charset="-120"/>
              </a:rPr>
              <a:t>hₘ fits residuals rᵢ = yᵢ - Fₘ₋₁(xᵢ)</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6406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Tree-Based Regression Models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D166"/>
                </a:solidFill>
                <a:effectLst/>
                <a:uLnTx/>
                <a:uFillTx/>
                <a:latin typeface="Calibri" pitchFamily="34" charset="0"/>
                <a:ea typeface="Calibri" pitchFamily="34" charset="-122"/>
                <a:cs typeface="Calibri" pitchFamily="34" charset="-120"/>
              </a:rPr>
              <a:t>Graph  •  Python Code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VISUALIZATION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1" name="Text 8"/>
          <p:cNvSpPr/>
          <p:nvPr/>
        </p:nvSpPr>
        <p:spPr>
          <a:xfrm>
            <a:off x="5431536" y="822960"/>
            <a:ext cx="3520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6EFAC"/>
                </a:solidFill>
                <a:effectLst/>
                <a:uLnTx/>
                <a:uFillTx/>
                <a:latin typeface="Calibri" pitchFamily="34" charset="0"/>
                <a:ea typeface="Calibri" pitchFamily="34" charset="-122"/>
                <a:cs typeface="Calibri" pitchFamily="34" charset="-120"/>
              </a:rPr>
              <a:t>🐍 PYTHON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D166"/>
                </a:solidFill>
                <a:effectLst/>
                <a:uLnTx/>
                <a:uFillTx/>
                <a:latin typeface="Calibri" pitchFamily="34" charset="0"/>
                <a:ea typeface="Calibri" pitchFamily="34" charset="-122"/>
                <a:cs typeface="Calibri" pitchFamily="34" charset="-120"/>
              </a:rPr>
              <a:t>Topic 5 of 6  |  Advanced Regression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1467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7"/>
          <p:cNvSpPr/>
          <p:nvPr/>
        </p:nvSpPr>
        <p:spPr>
          <a:xfrm>
            <a:off x="171606" y="96950"/>
            <a:ext cx="5083062" cy="422451"/>
          </a:xfrm>
          <a:prstGeom prst="rect">
            <a:avLst/>
          </a:prstGeom>
          <a:solidFill>
            <a:srgbClr val="14532D"/>
          </a:solidFill>
          <a:ln/>
          <a:effectLst>
            <a:outerShdw blurRad="101600" dist="38100" dir="8100000" algn="bl" rotWithShape="0">
              <a:srgbClr val="000000">
                <a:alpha val="12000"/>
              </a:srgbClr>
            </a:outerShdw>
          </a:effectLst>
        </p:spPr>
      </p:sp>
      <p:sp>
        <p:nvSpPr>
          <p:cNvPr id="12" name="Shape 9"/>
          <p:cNvSpPr/>
          <p:nvPr/>
        </p:nvSpPr>
        <p:spPr>
          <a:xfrm>
            <a:off x="171605" y="426134"/>
            <a:ext cx="7544427" cy="4717365"/>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263045" y="480998"/>
            <a:ext cx="6920631" cy="455307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A0D9EF"/>
                </a:solidFill>
                <a:effectLst/>
                <a:uLnTx/>
                <a:uFillTx/>
                <a:latin typeface="Courier New" pitchFamily="34" charset="0"/>
                <a:ea typeface="Courier New" pitchFamily="34" charset="-122"/>
                <a:cs typeface="Courier New" pitchFamily="34" charset="-120"/>
              </a:rPr>
              <a:t>from sklearn.tree import \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DecisionTreeRegressor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from sklearn.ensemble import </a:t>
            </a:r>
            <a:r>
              <a:rPr kumimoji="0" lang="en-US" sz="95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RandomForestRegressor,GradientBoostingRegressor</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from sklearn.datasets import \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make_regression
X, y = make_regression(n_features=5,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noise=0.1, random_state=42)
</a:t>
            </a: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Decision Tree
</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dt = DecisionTreeRegressor(max_depth=4)
</a:t>
            </a:r>
            <a:r>
              <a:rPr kumimoji="0" lang="en-US" sz="95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dt.fit</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(X, y)
</a:t>
            </a: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Random Forest
</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rf = RandomForestRegressor(
  n_estimators=100, max_depth=5,
  random_state=42)
</a:t>
            </a:r>
            <a:r>
              <a:rPr kumimoji="0" lang="en-US" sz="950" b="0" i="0" u="none" strike="noStrike" kern="1200" cap="none" spc="0" normalizeH="0" baseline="0" noProof="0" dirty="0" err="1">
                <a:ln>
                  <a:noFill/>
                </a:ln>
                <a:solidFill>
                  <a:srgbClr val="E2E8F0"/>
                </a:solidFill>
                <a:effectLst/>
                <a:uLnTx/>
                <a:uFillTx/>
                <a:latin typeface="Courier New" pitchFamily="34" charset="0"/>
                <a:ea typeface="Courier New" pitchFamily="34" charset="-122"/>
                <a:cs typeface="Courier New" pitchFamily="34" charset="-120"/>
              </a:rPr>
              <a:t>rf.fit</a:t>
            </a: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(X, y)
</a:t>
            </a: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Feature importance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import numpy as np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fi = rf.feature_importances_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3E88D"/>
                </a:solidFill>
                <a:effectLst/>
                <a:uLnTx/>
                <a:uFillTx/>
                <a:latin typeface="Courier New" pitchFamily="34" charset="0"/>
                <a:ea typeface="Courier New" pitchFamily="34" charset="-122"/>
                <a:cs typeface="Courier New" pitchFamily="34" charset="-120"/>
              </a:rPr>
              <a:t>print('Importances:', fi.round(3))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5209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 Time-Series Regression Models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Definition  •  Equation  •  Real-Life Example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 DEFINITION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Time-series regression models the target variable as a function of time and its own past values (autoregression). ARIMA (AutoRegressive Integrated Moving Average) combines AR (past values), I (differencing for stationarity), and MA (past errors) components. Seasonal SARIMA extends this for periodic patterns. Modern approaches include using lag features in standard ML models (XGBoost, LSTM). Key concepts: stationarity, autocorrelation, partial autocorrelation, and differencing.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MATHEMATICAL EQUATION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64592" y="3328416"/>
            <a:ext cx="4160520" cy="157276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AR(p) Model: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yₜ = c + φ₁yₜ₋₁+...+φₚyₜ₋ₚ + εₜ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MA(q) Model: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yₜ = μ + εₜ + θ₁εₜ₋₁+...+θqεₜ₋q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ARIMA(p,d,q):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Differenced series: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Δyₜ = yₜ - yₜ₋₁  (d times)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Then fit ARMA(p,q) on Δyₜ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66"/>
                </a:solidFill>
                <a:effectLst/>
                <a:uLnTx/>
                <a:uFillTx/>
                <a:latin typeface="Courier New" pitchFamily="34" charset="0"/>
                <a:ea typeface="Courier New" pitchFamily="34" charset="-122"/>
                <a:cs typeface="Courier New" pitchFamily="34" charset="-120"/>
              </a:rPr>
              <a:t>ACF &amp; PACF: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Select q from ACF cutoff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C9A7"/>
                </a:solidFill>
                <a:effectLst/>
                <a:uLnTx/>
                <a:uFillTx/>
                <a:latin typeface="Courier New" pitchFamily="34" charset="0"/>
                <a:ea typeface="Courier New" pitchFamily="34" charset="-122"/>
                <a:cs typeface="Courier New" pitchFamily="34" charset="-120"/>
              </a:rPr>
              <a:t>Select p from PACF cutoff</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REAL-LIFE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Supply Chain
</a:t>
            </a: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Amazon forecasts weekly product demand using SARIMA with yearly seasonality (S=52). Helps pre-position inventory before festive season. Reduces stockouts by 35%.
</a:t>
            </a: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Weather Forecasting
</a:t>
            </a: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Daily temperature follows AR(1) process: tomorrow's temp ≈ 0.85 × today's temp + trend + noise. ARIMA captures mean reversion.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Facebook Prophet (additive model) extends this with holiday effects and trend changepoints for business metrics.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C9A7"/>
                </a:solidFill>
                <a:effectLst/>
                <a:uLnTx/>
                <a:uFillTx/>
                <a:latin typeface="Calibri" pitchFamily="34" charset="0"/>
                <a:ea typeface="Calibri" pitchFamily="34" charset="-122"/>
                <a:cs typeface="Calibri" pitchFamily="34" charset="-120"/>
              </a:rPr>
              <a:t>Topic 6 of 6  |  Advanced Regression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2471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 Time-Series Regression Models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D166"/>
                </a:solidFill>
                <a:effectLst/>
                <a:uLnTx/>
                <a:uFillTx/>
                <a:latin typeface="Calibri" pitchFamily="34" charset="0"/>
                <a:ea typeface="Calibri" pitchFamily="34" charset="-122"/>
                <a:cs typeface="Calibri" pitchFamily="34" charset="-120"/>
              </a:rPr>
              <a:t>Graph  •  Python Code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VISUALIZATION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6EFAC"/>
                </a:solidFill>
                <a:effectLst/>
                <a:uLnTx/>
                <a:uFillTx/>
                <a:latin typeface="Calibri" pitchFamily="34" charset="0"/>
                <a:ea typeface="Calibri" pitchFamily="34" charset="-122"/>
                <a:cs typeface="Calibri" pitchFamily="34" charset="-120"/>
              </a:rPr>
              <a:t>🐍 PYTHON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A0D9EF"/>
                </a:solidFill>
                <a:effectLst/>
                <a:uLnTx/>
                <a:uFillTx/>
                <a:latin typeface="Courier New" pitchFamily="34" charset="0"/>
                <a:ea typeface="Courier New" pitchFamily="34" charset="-122"/>
                <a:cs typeface="Courier New" pitchFamily="34" charset="-120"/>
              </a:rPr>
              <a:t>import pandas as pd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import numpy as np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from statsmodels.tsa.arima.model \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import ARIMA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from statsmodels.tsa.stattools \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import adfuller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Generate sample time series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np.random.seed(42)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n = 100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t = np.arange(n)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y = 0.5*t + 5*np.sin(t*0.3) \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  + np.random.randn(n)*2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Test stationarity (ADF test)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result = adfuller(np.diff(y))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print('p-value:', result[1])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Fit ARIMA(2,1,2)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model = ARIMA(y, order=(2,1,2))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fitted = model.fit()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print(fitted.summary())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96969"/>
                </a:solidFill>
                <a:effectLst/>
                <a:uLnTx/>
                <a:uFillTx/>
                <a:latin typeface="Courier New" pitchFamily="34" charset="0"/>
                <a:ea typeface="Courier New" pitchFamily="34" charset="-122"/>
                <a:cs typeface="Courier New" pitchFamily="34" charset="-120"/>
              </a:rPr>
              <a:t># Forecast next 10 steps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E2E8F0"/>
                </a:solidFill>
                <a:effectLst/>
                <a:uLnTx/>
                <a:uFillTx/>
                <a:latin typeface="Courier New" pitchFamily="34" charset="0"/>
                <a:ea typeface="Courier New" pitchFamily="34" charset="-122"/>
                <a:cs typeface="Courier New" pitchFamily="34" charset="-120"/>
              </a:rPr>
              <a:t>fc = fitted.forecast(steps=10)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3E88D"/>
                </a:solidFill>
                <a:effectLst/>
                <a:uLnTx/>
                <a:uFillTx/>
                <a:latin typeface="Courier New" pitchFamily="34" charset="0"/>
                <a:ea typeface="Courier New" pitchFamily="34" charset="-122"/>
                <a:cs typeface="Courier New" pitchFamily="34" charset="-120"/>
              </a:rPr>
              <a:t>print('Forecast:', fc.round(2))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D166"/>
                </a:solidFill>
                <a:effectLst/>
                <a:uLnTx/>
                <a:uFillTx/>
                <a:latin typeface="Calibri" pitchFamily="34" charset="0"/>
                <a:ea typeface="Calibri" pitchFamily="34" charset="-122"/>
                <a:cs typeface="Calibri" pitchFamily="34" charset="-120"/>
              </a:rPr>
              <a:t>Topic 6 of 6  |  Advanced Regression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212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C9A7"/>
          </a:solidFill>
          <a:ln/>
        </p:spPr>
      </p:sp>
      <p:sp>
        <p:nvSpPr>
          <p:cNvPr id="3" name="Text 1"/>
          <p:cNvSpPr/>
          <p:nvPr/>
        </p:nvSpPr>
        <p:spPr>
          <a:xfrm>
            <a:off x="182880" y="91440"/>
            <a:ext cx="877824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Quick Revision Cheat Sheet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5" name="Table 0"/>
          <p:cNvGraphicFramePr>
            <a:graphicFrameLocks noGrp="1"/>
          </p:cNvGraphicFramePr>
          <p:nvPr/>
        </p:nvGraphicFramePr>
        <p:xfrm>
          <a:off x="182880" y="777240"/>
          <a:ext cx="8778240" cy="3456432"/>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48">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Core Formula</a:t>
                      </a:r>
                      <a:endParaRPr lang="en-US" sz="12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Key Insight</a:t>
                      </a:r>
                      <a:endParaRPr lang="en-US" sz="12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Coeff. Interpretation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ŷ = β₀ + Σβᵢxᵢ</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βᵢ = Δy per unit Δxᵢ (others fixed)</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Ridge (L2)</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L + λΣβᵢ²</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Shrinks all coefs, no elimination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Lasso (L1)</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L + λΣ|βᵢ|</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Exact zeros = feature selection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Regularization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df(λ) = Σdᵢ²/(dᵢ²+λ)</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λ↑ → simpler model, more bias</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Polynomial</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φ(x) = [1,x,x²,...,xᵈ]</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Linear in feature space, nonlinear in input</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Decision Tree</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Split: min MSE(L)+MSE(R)</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Piecewise constant predictions</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6"/>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ŷ = (1/B)Σ T_b(x)</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Bagging reduces variance</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7"/>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ARIMA(p,d,q)</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Δᵈyₜ = AR(p) + MA(q)</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d=differencing for stationarity</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8"/>
                  </a:ext>
                </a:extLst>
              </a:tr>
            </a:tbl>
          </a:graphicData>
        </a:graphic>
      </p:graphicFrame>
      <p:sp>
        <p:nvSpPr>
          <p:cNvPr id="5" name="Shape 2"/>
          <p:cNvSpPr/>
          <p:nvPr/>
        </p:nvSpPr>
        <p:spPr>
          <a:xfrm>
            <a:off x="182880" y="777240"/>
            <a:ext cx="8778240" cy="384048"/>
          </a:xfrm>
          <a:prstGeom prst="rect">
            <a:avLst/>
          </a:prstGeom>
          <a:solidFill>
            <a:srgbClr val="00C9A7"/>
          </a:solidFill>
          <a:ln/>
        </p:spPr>
      </p:sp>
      <p:sp>
        <p:nvSpPr>
          <p:cNvPr id="6" name="Text 3"/>
          <p:cNvSpPr/>
          <p:nvPr/>
        </p:nvSpPr>
        <p:spPr>
          <a:xfrm>
            <a:off x="256032" y="804672"/>
            <a:ext cx="19202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Topic</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2286000" y="804672"/>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Core Formula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68112" y="804672"/>
            <a:ext cx="3566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Key Insight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0" y="4956048"/>
            <a:ext cx="9144000" cy="182880"/>
          </a:xfrm>
          <a:prstGeom prst="rect">
            <a:avLst/>
          </a:prstGeom>
          <a:solidFill>
            <a:srgbClr val="00C9A7"/>
          </a:solidFill>
          <a:ln/>
        </p:spPr>
      </p:sp>
      <p:sp>
        <p:nvSpPr>
          <p:cNvPr id="10" name="Text 7"/>
          <p:cNvSpPr/>
          <p:nvPr/>
        </p:nvSpPr>
        <p:spPr>
          <a:xfrm>
            <a:off x="182880" y="4974336"/>
            <a:ext cx="877824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All 6 Topics Covered • Definitions • Equations • Graphs • Python Code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2143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1183</TotalTime>
  <Words>5284</Words>
  <Application>Microsoft Office PowerPoint</Application>
  <PresentationFormat>On-screen Show (16:9)</PresentationFormat>
  <Paragraphs>523</Paragraphs>
  <Slides>29</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Complete Guide</dc:title>
  <dc:subject>PptxGenJS Presentation</dc:subject>
  <dc:creator>PptxGenJS</dc:creator>
  <cp:lastModifiedBy>Dimple Nagpal</cp:lastModifiedBy>
  <cp:revision>3</cp:revision>
  <dcterms:created xsi:type="dcterms:W3CDTF">2026-03-25T05:18:54Z</dcterms:created>
  <dcterms:modified xsi:type="dcterms:W3CDTF">2026-04-07T10:37:17Z</dcterms:modified>
</cp:coreProperties>
</file>