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6" r:id="rId3"/>
    <p:sldId id="3872" r:id="rId4"/>
    <p:sldId id="4017" r:id="rId5"/>
    <p:sldId id="258" r:id="rId6"/>
    <p:sldId id="259" r:id="rId7"/>
    <p:sldId id="4020" r:id="rId8"/>
    <p:sldId id="4019" r:id="rId9"/>
    <p:sldId id="4018" r:id="rId10"/>
    <p:sldId id="3941" r:id="rId11"/>
    <p:sldId id="260" r:id="rId12"/>
    <p:sldId id="261" r:id="rId13"/>
    <p:sldId id="3879" r:id="rId14"/>
    <p:sldId id="3946" r:id="rId15"/>
    <p:sldId id="3948" r:id="rId16"/>
    <p:sldId id="262" r:id="rId17"/>
    <p:sldId id="3943" r:id="rId18"/>
    <p:sldId id="4022" r:id="rId19"/>
    <p:sldId id="4023" r:id="rId20"/>
    <p:sldId id="4024" r:id="rId21"/>
    <p:sldId id="4025" r:id="rId22"/>
    <p:sldId id="3944" r:id="rId23"/>
    <p:sldId id="3945" r:id="rId24"/>
    <p:sldId id="4021" r:id="rId25"/>
    <p:sldId id="263" r:id="rId26"/>
    <p:sldId id="3949" r:id="rId27"/>
    <p:sldId id="3950" r:id="rId28"/>
    <p:sldId id="264" r:id="rId29"/>
    <p:sldId id="265" r:id="rId30"/>
    <p:sldId id="4029" r:id="rId31"/>
    <p:sldId id="3960" r:id="rId32"/>
    <p:sldId id="3961" r:id="rId33"/>
    <p:sldId id="4026" r:id="rId34"/>
    <p:sldId id="4027" r:id="rId35"/>
    <p:sldId id="3942" r:id="rId36"/>
    <p:sldId id="4028" r:id="rId37"/>
    <p:sldId id="4030" r:id="rId38"/>
    <p:sldId id="266" r:id="rId39"/>
    <p:sldId id="26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D7E4D-92FF-0BC2-AC49-C58B5CB57D5E}" name="Archana  Malik" initials="AM" userId="S::Archana.15026@lpu.in::b81a9e95-4631-499a-ba3b-8b9607d35f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5788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5247A-1BE3-FD43-9B8A-8F74B86ED01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0DC8F-FCDD-EC4F-8FD6-57FFC06F4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5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3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24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13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0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00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9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1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88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25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89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4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355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8" r:id="rId7"/>
    <p:sldLayoutId id="2147483655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F4D4-5818-473B-AAD5-4E8450BB0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1: </a:t>
            </a:r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for Numerical Computing (Lecture 5)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63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NumPy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NumPy (Numerical Python)</a:t>
            </a:r>
          </a:p>
          <a:p>
            <a:r>
              <a:t>Used for numerical computing in Python</a:t>
            </a:r>
          </a:p>
          <a:p>
            <a:r>
              <a:t>Efficient handling of arrays &amp; matrices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92D58D-9749-99F0-11C0-D1AD4E49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0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NumPy Arrays:</a:t>
            </a:r>
            <a:endParaRPr lang="en-US" sz="6000" dirty="0">
              <a:solidFill>
                <a:srgbClr val="0070C0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A45AFD4E-22FD-831F-73F8-6FF2B4E5476B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Monsterrat"/>
              </a:rPr>
              <a:t>A powerful n-dimensional data container, similar to lists but optimized for speed</a:t>
            </a:r>
            <a:r>
              <a:rPr lang="en-US" sz="6000" dirty="0"/>
              <a:t>.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72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Why NumPy?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than Python lists</a:t>
            </a:r>
          </a:p>
          <a:p>
            <a:r>
              <a:t>Supports multi-dimensional arrays</a:t>
            </a:r>
          </a:p>
          <a:p>
            <a:r>
              <a:t>Used in ML, Data Science,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NumPy Arrays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Homogeneous data type</a:t>
            </a:r>
          </a:p>
          <a:p>
            <a:r>
              <a:t>Stored in contiguous memory</a:t>
            </a:r>
          </a:p>
          <a:p>
            <a:r>
              <a:t>ndarray is core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Creating Arrays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114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array()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CCFFFF"/>
                </a:highlight>
                <a:sym typeface="Wingdings" panose="05000000000000000000" pitchFamily="2" charset="2"/>
              </a:rPr>
              <a:t> </a:t>
            </a:r>
            <a:r>
              <a:rPr lang="en-US" dirty="0">
                <a:highlight>
                  <a:srgbClr val="CCFFFF"/>
                </a:highlight>
              </a:rPr>
              <a:t>a = </a:t>
            </a:r>
            <a:r>
              <a:rPr lang="en-US" dirty="0" err="1">
                <a:highlight>
                  <a:srgbClr val="CCFFFF"/>
                </a:highlight>
              </a:rPr>
              <a:t>np.array</a:t>
            </a:r>
            <a:r>
              <a:rPr lang="en-US" dirty="0">
                <a:highlight>
                  <a:srgbClr val="CCFFFF"/>
                </a:highlight>
              </a:rPr>
              <a:t>([1, 2, 3, 4])</a:t>
            </a:r>
            <a:endParaRPr dirty="0"/>
          </a:p>
          <a:p>
            <a:r>
              <a:rPr dirty="0" err="1"/>
              <a:t>arange</a:t>
            </a:r>
            <a:r>
              <a:rPr dirty="0"/>
              <a:t>()</a:t>
            </a:r>
            <a:endParaRPr lang="en-IN" dirty="0"/>
          </a:p>
          <a:p>
            <a:pPr marL="0" indent="0">
              <a:buNone/>
            </a:pPr>
            <a:r>
              <a:rPr lang="en-IN" dirty="0">
                <a:highlight>
                  <a:srgbClr val="CCFFFF"/>
                </a:highlight>
                <a:sym typeface="Wingdings" panose="05000000000000000000" pitchFamily="2" charset="2"/>
              </a:rPr>
              <a:t> </a:t>
            </a:r>
            <a:r>
              <a:rPr lang="en-IN" dirty="0" err="1">
                <a:highlight>
                  <a:srgbClr val="CCFFFF"/>
                </a:highlight>
                <a:sym typeface="Wingdings" panose="05000000000000000000" pitchFamily="2" charset="2"/>
              </a:rPr>
              <a:t>np.arange</a:t>
            </a:r>
            <a:r>
              <a:rPr lang="en-IN" dirty="0">
                <a:highlight>
                  <a:srgbClr val="CCFFFF"/>
                </a:highlight>
                <a:sym typeface="Wingdings" panose="05000000000000000000" pitchFamily="2" charset="2"/>
              </a:rPr>
              <a:t>(0, 10, 2)</a:t>
            </a:r>
            <a:endParaRPr dirty="0">
              <a:highlight>
                <a:srgbClr val="CCFFFF"/>
              </a:highlight>
            </a:endParaRPr>
          </a:p>
          <a:p>
            <a:r>
              <a:rPr dirty="0"/>
              <a:t>zeros(), ones()</a:t>
            </a:r>
            <a:endParaRPr lang="en-IN" dirty="0"/>
          </a:p>
          <a:p>
            <a:pPr>
              <a:buFont typeface="Wingdings" panose="05000000000000000000" pitchFamily="2" charset="2"/>
              <a:buChar char="à"/>
            </a:pPr>
            <a:r>
              <a:rPr lang="pt-BR" dirty="0">
                <a:highlight>
                  <a:srgbClr val="CCFFFF"/>
                </a:highlight>
                <a:sym typeface="Wingdings" panose="05000000000000000000" pitchFamily="2" charset="2"/>
              </a:rPr>
              <a:t>np.zeros(5), np.zeros((2, 3)), np.ones((3, 2))</a:t>
            </a:r>
          </a:p>
          <a:p>
            <a:r>
              <a:rPr lang="pt-BR" dirty="0">
                <a:sym typeface="Wingdings" panose="05000000000000000000" pitchFamily="2" charset="2"/>
              </a:rPr>
              <a:t>full()</a:t>
            </a:r>
          </a:p>
          <a:p>
            <a:pPr marL="0" indent="0">
              <a:buNone/>
            </a:pPr>
            <a:r>
              <a:rPr lang="en-IN" dirty="0">
                <a:highlight>
                  <a:srgbClr val="CCFFFF"/>
                </a:highlight>
                <a:sym typeface="Wingdings" panose="05000000000000000000" pitchFamily="2" charset="2"/>
              </a:rPr>
              <a:t> </a:t>
            </a:r>
            <a:r>
              <a:rPr lang="en-IN" dirty="0" err="1">
                <a:highlight>
                  <a:srgbClr val="CCFFFF"/>
                </a:highlight>
              </a:rPr>
              <a:t>np.full</a:t>
            </a:r>
            <a:r>
              <a:rPr lang="en-IN" dirty="0">
                <a:highlight>
                  <a:srgbClr val="CCFFFF"/>
                </a:highlight>
              </a:rPr>
              <a:t>((3, 2), 7)</a:t>
            </a:r>
            <a:endParaRPr dirty="0"/>
          </a:p>
          <a:p>
            <a:r>
              <a:rPr dirty="0" err="1"/>
              <a:t>linspace</a:t>
            </a:r>
            <a:r>
              <a:rPr dirty="0"/>
              <a:t>()</a:t>
            </a:r>
            <a:r>
              <a:rPr lang="en-IN" dirty="0"/>
              <a:t>: </a:t>
            </a:r>
            <a:r>
              <a:rPr lang="en-US" dirty="0"/>
              <a:t>Creates </a:t>
            </a:r>
            <a:r>
              <a:rPr lang="en-US" b="1" dirty="0"/>
              <a:t>evenly spaced values</a:t>
            </a:r>
            <a:r>
              <a:rPr lang="en-US" dirty="0"/>
              <a:t> between a range.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 err="1">
                <a:highlight>
                  <a:srgbClr val="CCFFFF"/>
                </a:highlight>
                <a:sym typeface="Wingdings" panose="05000000000000000000" pitchFamily="2" charset="2"/>
              </a:rPr>
              <a:t>np.linspace</a:t>
            </a:r>
            <a:r>
              <a:rPr lang="en-US" dirty="0">
                <a:highlight>
                  <a:srgbClr val="CCFFFF"/>
                </a:highlight>
                <a:sym typeface="Wingdings" panose="05000000000000000000" pitchFamily="2" charset="2"/>
              </a:rPr>
              <a:t>(0, 1, 5)</a:t>
            </a:r>
          </a:p>
          <a:p>
            <a:r>
              <a:rPr lang="en-US" dirty="0">
                <a:sym typeface="Wingdings" panose="05000000000000000000" pitchFamily="2" charset="2"/>
              </a:rPr>
              <a:t>eye:</a:t>
            </a:r>
          </a:p>
          <a:p>
            <a:r>
              <a:rPr lang="en-IN" dirty="0" err="1">
                <a:highlight>
                  <a:srgbClr val="CCFFFF"/>
                </a:highlight>
              </a:rPr>
              <a:t>np.eye</a:t>
            </a:r>
            <a:r>
              <a:rPr lang="en-IN" dirty="0">
                <a:highlight>
                  <a:srgbClr val="CCFFFF"/>
                </a:highlight>
              </a:rPr>
              <a:t>(4)</a:t>
            </a:r>
          </a:p>
          <a:p>
            <a:endParaRPr lang="en-US" dirty="0">
              <a:highlight>
                <a:srgbClr val="CCFFFF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CEC1-EFA2-0C28-E9AB-36FCA58B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2D array and 3D array: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D22CB-0C1A-80B4-78C1-158C66788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3372" y="1879452"/>
            <a:ext cx="4134427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0277E1-F2CE-A772-4421-0A4027C89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866" y="3549444"/>
            <a:ext cx="3534268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3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F9E6A1-74C6-2E11-03E6-FB9B7D69B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602002"/>
              </p:ext>
            </p:extLst>
          </p:nvPr>
        </p:nvGraphicFramePr>
        <p:xfrm>
          <a:off x="838200" y="1246782"/>
          <a:ext cx="10515600" cy="29260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589112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1241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99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array()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Convert list to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21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arange()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Range-based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61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zeros()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Initialize with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179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ones()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Initialize with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5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Constant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35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linspace()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Equal spacing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859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eye()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Identity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659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40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BE50-DB76-93E6-D023-FF789C7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Task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30AF2-5FEF-59B7-C44F-61449BC21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7988" y="1690688"/>
            <a:ext cx="3536024" cy="158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7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E550-DE97-A636-251B-C03C29C2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A8F061A6-DC85-E4DC-6F20-0A4B5C3D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N-Dimensional Array: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989F0B-E2D5-AD67-4BAB-B3C172414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350"/>
            <a:ext cx="12192000" cy="442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2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Array Properties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ndim – dimensions</a:t>
            </a:r>
          </a:p>
          <a:p>
            <a:r>
              <a:t>shape – rows, columns</a:t>
            </a:r>
          </a:p>
          <a:p>
            <a:r>
              <a:t>size – total elements</a:t>
            </a:r>
          </a:p>
          <a:p>
            <a:r>
              <a:t>dtype – data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Indexing &amp; Slicing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elements using index</a:t>
            </a:r>
          </a:p>
          <a:p>
            <a:r>
              <a:t>Supports slicing like lists</a:t>
            </a:r>
          </a:p>
          <a:p>
            <a:r>
              <a:t>Boolean indexing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59B09D0E-7F04-7BFC-030C-9A199A14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N-Dimensional Array: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B97B0-2B16-871D-87BA-6092793D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145"/>
            <a:ext cx="12192000" cy="441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07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5B5D-C1EC-89AD-C8EE-FD92B7C7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A83FF35E-D9BE-7CF4-3446-4CEA63C3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Selection: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C074C-47EF-53E6-72BE-E543C9734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29" y="1480457"/>
            <a:ext cx="10933742" cy="516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54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C0A25-6697-1E43-F3F5-1505160CE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2A1FC07E-6CDA-E5A4-CBF7-14265F35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Negative Indexing and Direction: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8AC39-E605-D75B-DA97-001367D4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6918"/>
            <a:ext cx="12192000" cy="431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Mathematical Operations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Element-wise operations</a:t>
            </a:r>
          </a:p>
          <a:p>
            <a:r>
              <a:t>Add, subtract, multiply, divide</a:t>
            </a:r>
          </a:p>
          <a:p>
            <a:r>
              <a:t>Broadcasting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1168-2021-E167-36D7-F3558D0C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569B54FF-3792-A6A3-F173-7F990DB2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Arithmetic Operations: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D18DA7-04FD-BB93-FD57-386F8782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2927"/>
            <a:ext cx="12192000" cy="22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70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8253-0F91-EDE1-4120-2487A6F6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axis=0 vs axis=1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B53E6-A10E-1E6E-DF96-406B50680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045" y="2086927"/>
            <a:ext cx="5048955" cy="1943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416D9-848C-707A-1197-3E11E3289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08" y="2086927"/>
            <a:ext cx="5058481" cy="1829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761B9C-9913-28B0-A120-728817DA0D0F}"/>
              </a:ext>
            </a:extLst>
          </p:cNvPr>
          <p:cNvSpPr txBox="1"/>
          <p:nvPr/>
        </p:nvSpPr>
        <p:spPr>
          <a:xfrm>
            <a:off x="1047045" y="4312221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axis = 0 → Column-wise operation</a:t>
            </a:r>
          </a:p>
          <a:p>
            <a:pPr>
              <a:buNone/>
            </a:pPr>
            <a:r>
              <a:rPr lang="en-US" dirty="0"/>
              <a:t>👉 Works </a:t>
            </a:r>
            <a:r>
              <a:rPr lang="en-US" b="1" dirty="0"/>
              <a:t>down the rows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8566AD-93CC-1CBD-A981-955F6C463F09}"/>
              </a:ext>
            </a:extLst>
          </p:cNvPr>
          <p:cNvSpPr txBox="1"/>
          <p:nvPr/>
        </p:nvSpPr>
        <p:spPr>
          <a:xfrm>
            <a:off x="6432508" y="4307847"/>
            <a:ext cx="5058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axis = 1 → Row-wise operation</a:t>
            </a:r>
          </a:p>
          <a:p>
            <a:pPr>
              <a:buNone/>
            </a:pPr>
            <a:r>
              <a:rPr lang="en-US" dirty="0"/>
              <a:t>👉 Works </a:t>
            </a:r>
            <a:r>
              <a:rPr lang="en-US" b="1" dirty="0"/>
              <a:t>across the columns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0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C2B3-6A20-1EFD-6F46-CF3A1182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Broadcasting: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FDC2-8B64-B713-3184-C7858E0C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Broadcasting allows NumPy to perform arithmetic operations on arrays of different shapes.</a:t>
            </a:r>
          </a:p>
          <a:p>
            <a:pPr algn="just"/>
            <a:r>
              <a:rPr lang="en-US" dirty="0"/>
              <a:t>Instead of writing loops, NumPy automatically stretches the smaller array to match the shape of the larger array.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284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79B4-4EB3-1785-A805-6053FD12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210"/>
            <a:ext cx="10515600" cy="935774"/>
          </a:xfrm>
        </p:spPr>
        <p:txBody>
          <a:bodyPr/>
          <a:lstStyle/>
          <a:p>
            <a:pPr algn="ctr"/>
            <a:r>
              <a:rPr lang="en-US" b="1" dirty="0"/>
              <a:t>Broadcasting Rules: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1C6B-599E-EF8E-1E7A-45CD7EC0C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351338"/>
          </a:xfrm>
        </p:spPr>
        <p:txBody>
          <a:bodyPr/>
          <a:lstStyle/>
          <a:p>
            <a:r>
              <a:rPr lang="en-US" dirty="0"/>
              <a:t>Compare shapes of two arrays from the trailing dimensions (rightmost first).</a:t>
            </a:r>
          </a:p>
          <a:p>
            <a:r>
              <a:rPr lang="en-US" dirty="0"/>
              <a:t>Two dimensions are compatible if:</a:t>
            </a:r>
          </a:p>
          <a:p>
            <a:pPr lvl="1"/>
            <a:r>
              <a:rPr lang="en-US" dirty="0"/>
              <a:t>They are equal, or</a:t>
            </a:r>
          </a:p>
          <a:p>
            <a:pPr lvl="1"/>
            <a:r>
              <a:rPr lang="en-US" dirty="0"/>
              <a:t>One of them is 1</a:t>
            </a:r>
          </a:p>
          <a:p>
            <a:r>
              <a:rPr lang="en-US" dirty="0"/>
              <a:t>If shapes are compatible, the array with dimension 1 is “stretched” to match the other array.</a:t>
            </a:r>
          </a:p>
          <a:p>
            <a:r>
              <a:rPr lang="en-US" dirty="0"/>
              <a:t>If not compatible → Error.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395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4BB53-E652-0C1A-DE7C-3DAA224E7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60" y="870505"/>
            <a:ext cx="5231876" cy="491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813FB-54B9-885A-08D2-6B32A4C15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579" y="781464"/>
            <a:ext cx="4353533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64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BA1A-E9B5-3FEC-4632-1D4D2FCE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686CE21E-F249-6402-95F0-1B4EC6EB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Broadcasting: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6BFCE-76E1-A2F4-5A26-0912A4028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2152472"/>
            <a:ext cx="12136544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6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228D-0158-E172-968C-D8A79307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BAA0575F-EED7-FAAF-FEB2-795D0C84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Mathematical Operations: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C73F0-8AF7-A32C-2F29-D4788225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554"/>
            <a:ext cx="12192000" cy="46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26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C991-1146-DAF7-4EB3-1FA73E92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output of A @ B?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221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Statistical Functions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mean(), median()</a:t>
            </a:r>
          </a:p>
          <a:p>
            <a:r>
              <a:t>std(), var()</a:t>
            </a:r>
          </a:p>
          <a:p>
            <a:r>
              <a:t>min(), max(), sum()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4486-AAAA-6F0D-8A75-AAC7EDC5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A577A3BF-CE29-6785-5774-DB199EEB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Aggregation: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BEA2A-31BA-17F2-0322-CE2F4AA4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47" y="1540167"/>
            <a:ext cx="7914404" cy="499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7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219C-2A79-1331-C8C7-F1798B8E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73F1AABF-8855-FFFE-099F-3AE17077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Aggregation: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772CD-A8E7-4584-448F-A7BA5BF19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837349"/>
              </p:ext>
            </p:extLst>
          </p:nvPr>
        </p:nvGraphicFramePr>
        <p:xfrm>
          <a:off x="838200" y="2355374"/>
          <a:ext cx="10515600" cy="3505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736942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38846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  <a:latin typeface="Monsterrat"/>
                        </a:rPr>
                        <a:t>fn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6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6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6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effectLst/>
                          <a:latin typeface="Monsterra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6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6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6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35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a.sum()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7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01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a.min()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492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a.max()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max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104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a.cumsum()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Cumulative sum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45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a.mean()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43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a.median()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Median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3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a.corrcoef()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Correlation coefficient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752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np.std(a)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Standard deviation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1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432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Linear Algebra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dot()</a:t>
            </a:r>
          </a:p>
          <a:p>
            <a:r>
              <a:t>transpose()</a:t>
            </a:r>
          </a:p>
          <a:p>
            <a:r>
              <a:t>inverse()</a:t>
            </a:r>
          </a:p>
          <a:p>
            <a:r>
              <a:t>eigenvalues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Reshaping Arrays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reshape()</a:t>
            </a:r>
          </a:p>
          <a:p>
            <a:r>
              <a:t>flatten()</a:t>
            </a:r>
          </a:p>
          <a:p>
            <a:r>
              <a:t>ravel()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5578CA-34A8-1A80-3166-E43E0CA24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129374"/>
              </p:ext>
            </p:extLst>
          </p:nvPr>
        </p:nvGraphicFramePr>
        <p:xfrm>
          <a:off x="838200" y="1738861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911084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125304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8193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ravel()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flatten()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55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View (usually)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83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Modifying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Can modify 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Original unchanged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9699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Less (no copy)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(copy)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829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Slightly 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75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815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F7F6-177E-72B1-4DC1-3362FDBF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B018148C-7BAF-FE88-DBA8-253F7AA6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  <a:t>Restructuring of Array:</a:t>
            </a:r>
            <a:br>
              <a:rPr lang="en-IN" sz="6000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8F169-8507-7DDB-A048-AC53EBB3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78" y="1524659"/>
            <a:ext cx="9251842" cy="524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23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4B2FC-8AF9-1258-875E-E806AE01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0833AC52-4EC6-BB1E-9158-7596AD36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80" y="802610"/>
            <a:ext cx="11411999" cy="1099960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cs typeface="Times New Roman" pitchFamily="18" charset="0"/>
              </a:rPr>
              <a:t>Appending and Concatenating Arrays:</a:t>
            </a:r>
            <a:br>
              <a:rPr lang="en-IN" b="1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48303-E5DB-8C64-D5DC-7C35950AD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570"/>
            <a:ext cx="11854161" cy="361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73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FAFB-37A5-4171-6DFB-6256A65F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Matrix Operations: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31B8AA-F94F-C9E9-5D88-70BF94AB5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929" y="1467406"/>
            <a:ext cx="6286142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5015E-5524-80DD-04F9-E9FE905A4F03}"/>
              </a:ext>
            </a:extLst>
          </p:cNvPr>
          <p:cNvSpPr txBox="1"/>
          <p:nvPr/>
        </p:nvSpPr>
        <p:spPr>
          <a:xfrm>
            <a:off x="1492185" y="6021073"/>
            <a:ext cx="920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Trace of a square matrix is the sum of all its diagonal elements (from top-left to bottom-right).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406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8F9FF-E080-1394-F2FA-2379997B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52" y="849255"/>
            <a:ext cx="4296375" cy="4801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15F5AC-508C-2F86-642F-59057E641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065" y="2187704"/>
            <a:ext cx="4639322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23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2D61-519D-2737-AC9B-AF758C2C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501B2AEB-A9C3-AEC7-93CC-8DEB8A58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70"/>
            <a:ext cx="10515600" cy="685452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+mn-lt"/>
              </a:rPr>
              <a:t>Random Module: </a:t>
            </a:r>
            <a:r>
              <a:rPr lang="en-US" sz="2400" dirty="0">
                <a:latin typeface="+mn-lt"/>
              </a:rPr>
              <a:t>NumPy provides </a:t>
            </a:r>
            <a:r>
              <a:rPr lang="en-US" sz="2400" dirty="0" err="1">
                <a:latin typeface="+mn-lt"/>
              </a:rPr>
              <a:t>numpy.random</a:t>
            </a:r>
            <a:r>
              <a:rPr lang="en-US" sz="2400" dirty="0">
                <a:latin typeface="+mn-lt"/>
              </a:rPr>
              <a:t> to generate random numbers and arrays.</a:t>
            </a:r>
            <a:endParaRPr lang="en-US" sz="24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C2FED-AE7B-2B68-3145-D6AE714E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22"/>
            <a:ext cx="12192000" cy="35953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AD2772-7250-529F-7AC1-2A7353D6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55" y="5131270"/>
            <a:ext cx="3667637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67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1CD4FE-5BF6-618B-C903-F11191FF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46" y="961680"/>
            <a:ext cx="8649907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40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48A1-32E9-9A9F-F5A7-B2DB637C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331"/>
            <a:ext cx="10515600" cy="1325563"/>
          </a:xfrm>
        </p:spPr>
        <p:txBody>
          <a:bodyPr>
            <a:noAutofit/>
          </a:bodyPr>
          <a:lstStyle/>
          <a:p>
            <a:r>
              <a:rPr lang="en-US" sz="2000" b="1" dirty="0"/>
              <a:t>Task:</a:t>
            </a:r>
            <a:br>
              <a:rPr lang="en-US" sz="2000" dirty="0"/>
            </a:br>
            <a:r>
              <a:rPr lang="en-US" sz="2000" dirty="0"/>
              <a:t>An institute stores student exam scores for multiple subjects in a NumPy array.</a:t>
            </a:r>
            <a:br>
              <a:rPr lang="en-US" sz="2000" dirty="0"/>
            </a:br>
            <a:r>
              <a:rPr lang="en-US" sz="2000" dirty="0"/>
              <a:t>Each row represents a student, and each column represents a subject.</a:t>
            </a:r>
            <a:br>
              <a:rPr lang="en-US" sz="2000" dirty="0"/>
            </a:br>
            <a:r>
              <a:rPr lang="en-US" sz="2000" b="1" dirty="0"/>
              <a:t>Goal: </a:t>
            </a:r>
            <a:r>
              <a:rPr lang="en-US" sz="2000" dirty="0"/>
              <a:t>Analyze the dataset using NumPy operations to support academic decisions.</a:t>
            </a:r>
            <a:br>
              <a:rPr lang="en-US" sz="2000" dirty="0"/>
            </a:br>
            <a:endParaRPr lang="en-IN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32EC83-EE79-CC5A-2F39-BB15683C8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384463"/>
              </p:ext>
            </p:extLst>
          </p:nvPr>
        </p:nvGraphicFramePr>
        <p:xfrm>
          <a:off x="659876" y="2114894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63977">
                  <a:extLst>
                    <a:ext uri="{9D8B030D-6E8A-4147-A177-3AD203B41FA5}">
                      <a16:colId xmlns:a16="http://schemas.microsoft.com/office/drawing/2014/main" val="3467896020"/>
                    </a:ext>
                  </a:extLst>
                </a:gridCol>
                <a:gridCol w="791852">
                  <a:extLst>
                    <a:ext uri="{9D8B030D-6E8A-4147-A177-3AD203B41FA5}">
                      <a16:colId xmlns:a16="http://schemas.microsoft.com/office/drawing/2014/main" val="3857321748"/>
                    </a:ext>
                  </a:extLst>
                </a:gridCol>
                <a:gridCol w="961534">
                  <a:extLst>
                    <a:ext uri="{9D8B030D-6E8A-4147-A177-3AD203B41FA5}">
                      <a16:colId xmlns:a16="http://schemas.microsoft.com/office/drawing/2014/main" val="3935225889"/>
                    </a:ext>
                  </a:extLst>
                </a:gridCol>
                <a:gridCol w="1036948">
                  <a:extLst>
                    <a:ext uri="{9D8B030D-6E8A-4147-A177-3AD203B41FA5}">
                      <a16:colId xmlns:a16="http://schemas.microsoft.com/office/drawing/2014/main" val="4272188130"/>
                    </a:ext>
                  </a:extLst>
                </a:gridCol>
                <a:gridCol w="6461289">
                  <a:extLst>
                    <a:ext uri="{9D8B030D-6E8A-4147-A177-3AD203B41FA5}">
                      <a16:colId xmlns:a16="http://schemas.microsoft.com/office/drawing/2014/main" val="583594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85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7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206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4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23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Student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7867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F4177B1-F4D2-70F0-B61E-68465AAB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23150"/>
            <a:ext cx="66672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 the average marks of each student using NumPy.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Calculate the average marks for each subject.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 the total marks scored by each student.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Determine the maximum and minimum marks in the entire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Extract the marks of the 2nd student using slicing.</a:t>
            </a:r>
          </a:p>
        </p:txBody>
      </p:sp>
    </p:spTree>
    <p:extLst>
      <p:ext uri="{BB962C8B-B14F-4D97-AF65-F5344CB8AC3E}">
        <p14:creationId xmlns:p14="http://schemas.microsoft.com/office/powerpoint/2010/main" val="3371695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NumPy vs Python List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computation</a:t>
            </a:r>
          </a:p>
          <a:p>
            <a:r>
              <a:t>Less memory</a:t>
            </a:r>
          </a:p>
          <a:p>
            <a:r>
              <a:t>Vectorized operations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Applications of NumPy</a:t>
            </a:r>
            <a:r>
              <a:rPr lang="en-IN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</a:t>
            </a:r>
          </a:p>
          <a:p>
            <a:r>
              <a:t>Image Processing</a:t>
            </a:r>
          </a:p>
          <a:p>
            <a:r>
              <a:t>Scientific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23735</TotalTime>
  <Words>750</Words>
  <Application>Microsoft Office PowerPoint</Application>
  <PresentationFormat>Widescreen</PresentationFormat>
  <Paragraphs>179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Monsterrat</vt:lpstr>
      <vt:lpstr>Times New Roman</vt:lpstr>
      <vt:lpstr>Wingdings</vt:lpstr>
      <vt:lpstr>Office Theme</vt:lpstr>
      <vt:lpstr>UNIT 1: NumPy for Numerical Computing (Lecture 5)</vt:lpstr>
      <vt:lpstr>NumPy:</vt:lpstr>
      <vt:lpstr>NumPy Arrays:</vt:lpstr>
      <vt:lpstr>Why NumPy?</vt:lpstr>
      <vt:lpstr>NumPy Arrays:</vt:lpstr>
      <vt:lpstr>Creating Arrays:</vt:lpstr>
      <vt:lpstr>2D array and 3D array:</vt:lpstr>
      <vt:lpstr>PowerPoint Presentation</vt:lpstr>
      <vt:lpstr>Task:</vt:lpstr>
      <vt:lpstr>N-Dimensional Array: </vt:lpstr>
      <vt:lpstr>Array Properties:</vt:lpstr>
      <vt:lpstr>Indexing &amp; Slicing:</vt:lpstr>
      <vt:lpstr>N-Dimensional Array: </vt:lpstr>
      <vt:lpstr>Selection: </vt:lpstr>
      <vt:lpstr>Negative Indexing and Direction: </vt:lpstr>
      <vt:lpstr>Mathematical Operations:</vt:lpstr>
      <vt:lpstr>Arithmetic Operations: </vt:lpstr>
      <vt:lpstr>axis=0 vs axis=1</vt:lpstr>
      <vt:lpstr>Broadcasting:</vt:lpstr>
      <vt:lpstr>Broadcasting Rules:</vt:lpstr>
      <vt:lpstr>PowerPoint Presentation</vt:lpstr>
      <vt:lpstr>Broadcasting: </vt:lpstr>
      <vt:lpstr>Mathematical Operations: </vt:lpstr>
      <vt:lpstr>What is the output of A @ B?</vt:lpstr>
      <vt:lpstr>Statistical Functions:</vt:lpstr>
      <vt:lpstr>Aggregation: </vt:lpstr>
      <vt:lpstr>Aggregation: </vt:lpstr>
      <vt:lpstr>Linear Algebra:</vt:lpstr>
      <vt:lpstr>Reshaping Arrays:</vt:lpstr>
      <vt:lpstr>PowerPoint Presentation</vt:lpstr>
      <vt:lpstr>Restructuring of Array: </vt:lpstr>
      <vt:lpstr>Appending and Concatenating Arrays: </vt:lpstr>
      <vt:lpstr>Matrix Operations:</vt:lpstr>
      <vt:lpstr>PowerPoint Presentation</vt:lpstr>
      <vt:lpstr>Random Module: NumPy provides numpy.random to generate random numbers and arrays.</vt:lpstr>
      <vt:lpstr>PowerPoint Presentation</vt:lpstr>
      <vt:lpstr>Task: An institute stores student exam scores for multiple subjects in a NumPy array. Each row represents a student, and each column represents a subject. Goal: Analyze the dataset using NumPy operations to support academic decisions. </vt:lpstr>
      <vt:lpstr>NumPy vs Python List:</vt:lpstr>
      <vt:lpstr>Applications of NumPy: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Ramanjot Kaur</cp:lastModifiedBy>
  <cp:revision>387</cp:revision>
  <dcterms:created xsi:type="dcterms:W3CDTF">2024-07-09T05:25:51Z</dcterms:created>
  <dcterms:modified xsi:type="dcterms:W3CDTF">2026-02-04T08:07:13Z</dcterms:modified>
</cp:coreProperties>
</file>