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4049" r:id="rId3"/>
    <p:sldId id="4050" r:id="rId4"/>
    <p:sldId id="4051" r:id="rId5"/>
    <p:sldId id="994" r:id="rId6"/>
    <p:sldId id="4017" r:id="rId7"/>
    <p:sldId id="990" r:id="rId8"/>
    <p:sldId id="992" r:id="rId9"/>
    <p:sldId id="993" r:id="rId10"/>
    <p:sldId id="315" r:id="rId11"/>
    <p:sldId id="316" r:id="rId12"/>
    <p:sldId id="4018" r:id="rId13"/>
    <p:sldId id="4019" r:id="rId14"/>
    <p:sldId id="4027" r:id="rId15"/>
    <p:sldId id="4020" r:id="rId16"/>
    <p:sldId id="4021" r:id="rId17"/>
    <p:sldId id="4022" r:id="rId18"/>
    <p:sldId id="4028" r:id="rId19"/>
    <p:sldId id="4026" r:id="rId20"/>
    <p:sldId id="4023" r:id="rId21"/>
    <p:sldId id="4024" r:id="rId22"/>
    <p:sldId id="4025" r:id="rId23"/>
    <p:sldId id="4029" r:id="rId24"/>
    <p:sldId id="4030" r:id="rId25"/>
    <p:sldId id="4032" r:id="rId26"/>
    <p:sldId id="403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DC416D-6B4A-478C-926B-0A7753BB979E}" type="doc">
      <dgm:prSet loTypeId="urn:microsoft.com/office/officeart/2005/8/layout/hList1" loCatId="list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92A3F4A-E9DD-4258-8FC6-A6C927871CFB}">
      <dgm:prSet phldrT="[Text]" phldr="0"/>
      <dgm:spPr/>
      <dgm:t>
        <a:bodyPr/>
        <a:lstStyle/>
        <a:p>
          <a:r>
            <a:rPr lang="en-US" dirty="0"/>
            <a:t>The AI Vision</a:t>
          </a:r>
          <a:endParaRPr lang="en-IN" dirty="0"/>
        </a:p>
      </dgm:t>
    </dgm:pt>
    <dgm:pt modelId="{585C3C3E-866C-42FF-BE56-06E8787F585D}" type="parTrans" cxnId="{32D44EBF-6665-441A-834F-FAC6BAA2851A}">
      <dgm:prSet/>
      <dgm:spPr/>
      <dgm:t>
        <a:bodyPr/>
        <a:lstStyle/>
        <a:p>
          <a:endParaRPr lang="en-IN"/>
        </a:p>
      </dgm:t>
    </dgm:pt>
    <dgm:pt modelId="{D379878A-0325-4C4E-A149-483450E0A83A}" type="sibTrans" cxnId="{32D44EBF-6665-441A-834F-FAC6BAA2851A}">
      <dgm:prSet/>
      <dgm:spPr/>
      <dgm:t>
        <a:bodyPr/>
        <a:lstStyle/>
        <a:p>
          <a:endParaRPr lang="en-IN"/>
        </a:p>
      </dgm:t>
    </dgm:pt>
    <dgm:pt modelId="{30778669-8F76-4B5B-9694-25CDA323BB5B}">
      <dgm:prSet phldrT="[Text]" phldr="0"/>
      <dgm:spPr/>
      <dgm:t>
        <a:bodyPr/>
        <a:lstStyle/>
        <a:p>
          <a:r>
            <a:rPr lang="en-US" dirty="0"/>
            <a:t>The ML Engine</a:t>
          </a:r>
          <a:endParaRPr lang="en-IN" dirty="0"/>
        </a:p>
      </dgm:t>
    </dgm:pt>
    <dgm:pt modelId="{9EB699FC-ECA0-4AA9-8AFB-B3DAD3016C34}" type="parTrans" cxnId="{7E536AD7-F1FA-476E-BE98-7C3976E6A1EC}">
      <dgm:prSet/>
      <dgm:spPr/>
      <dgm:t>
        <a:bodyPr/>
        <a:lstStyle/>
        <a:p>
          <a:endParaRPr lang="en-IN"/>
        </a:p>
      </dgm:t>
    </dgm:pt>
    <dgm:pt modelId="{19640A40-D78A-4B5C-9CC1-922560860953}" type="sibTrans" cxnId="{7E536AD7-F1FA-476E-BE98-7C3976E6A1EC}">
      <dgm:prSet/>
      <dgm:spPr/>
      <dgm:t>
        <a:bodyPr/>
        <a:lstStyle/>
        <a:p>
          <a:endParaRPr lang="en-IN"/>
        </a:p>
      </dgm:t>
    </dgm:pt>
    <dgm:pt modelId="{AAFD3CB9-6206-4064-8301-6AD795437E90}">
      <dgm:prSet phldrT="[Text]" phldr="0"/>
      <dgm:spPr/>
      <dgm:t>
        <a:bodyPr/>
        <a:lstStyle/>
        <a:p>
          <a:r>
            <a:rPr lang="en-US" dirty="0"/>
            <a:t>The Data Science Insights</a:t>
          </a:r>
          <a:endParaRPr lang="en-IN" dirty="0"/>
        </a:p>
      </dgm:t>
    </dgm:pt>
    <dgm:pt modelId="{855CF0DA-99C0-49F1-B0A4-AD61AAAD4EFD}" type="parTrans" cxnId="{DD04ACE4-74DD-4982-B89E-34AFA25C737D}">
      <dgm:prSet/>
      <dgm:spPr/>
      <dgm:t>
        <a:bodyPr/>
        <a:lstStyle/>
        <a:p>
          <a:endParaRPr lang="en-IN"/>
        </a:p>
      </dgm:t>
    </dgm:pt>
    <dgm:pt modelId="{161E95CD-2716-40CC-A2BA-F1928F9BF650}" type="sibTrans" cxnId="{DD04ACE4-74DD-4982-B89E-34AFA25C737D}">
      <dgm:prSet/>
      <dgm:spPr/>
      <dgm:t>
        <a:bodyPr/>
        <a:lstStyle/>
        <a:p>
          <a:endParaRPr lang="en-IN"/>
        </a:p>
      </dgm:t>
    </dgm:pt>
    <dgm:pt modelId="{11E24544-B722-4426-8659-0ECE5D1FC124}">
      <dgm:prSet phldrT="[Text]" phldr="0"/>
      <dgm:spPr/>
      <dgm:t>
        <a:bodyPr/>
        <a:lstStyle/>
        <a:p>
          <a:r>
            <a:rPr lang="en-GB" dirty="0"/>
            <a:t>You want a robotic assistant that can walk through halls, talk to patients, and decide which emergency needs attention first. </a:t>
          </a:r>
          <a:endParaRPr lang="en-IN" dirty="0"/>
        </a:p>
      </dgm:t>
    </dgm:pt>
    <dgm:pt modelId="{B0D09BDC-8B5C-417A-A7D6-6B23DF0E4E2A}" type="parTrans" cxnId="{C6BE060C-0051-463C-BA1D-BC07210F4687}">
      <dgm:prSet/>
      <dgm:spPr/>
      <dgm:t>
        <a:bodyPr/>
        <a:lstStyle/>
        <a:p>
          <a:endParaRPr lang="en-IN"/>
        </a:p>
      </dgm:t>
    </dgm:pt>
    <dgm:pt modelId="{30D8E27F-4C43-408E-B916-36F508D6344C}" type="sibTrans" cxnId="{C6BE060C-0051-463C-BA1D-BC07210F4687}">
      <dgm:prSet/>
      <dgm:spPr/>
      <dgm:t>
        <a:bodyPr/>
        <a:lstStyle/>
        <a:p>
          <a:endParaRPr lang="en-IN"/>
        </a:p>
      </dgm:t>
    </dgm:pt>
    <dgm:pt modelId="{D79D0DD4-CE30-4D26-9143-7021B4E6F80F}">
      <dgm:prSet phldrT="[Text]" phldr="0"/>
      <dgm:spPr/>
      <dgm:t>
        <a:bodyPr/>
        <a:lstStyle/>
        <a:p>
          <a:r>
            <a:rPr lang="en-GB" dirty="0"/>
            <a:t>To make this robot useful, it needs to recognize diseases in X-rays. </a:t>
          </a:r>
          <a:endParaRPr lang="en-IN" dirty="0"/>
        </a:p>
      </dgm:t>
    </dgm:pt>
    <dgm:pt modelId="{2EC7F006-3C4D-49F1-BAA4-FA516CE6E87D}" type="parTrans" cxnId="{A7925D3B-5F4B-4107-8DC0-5A55727A6666}">
      <dgm:prSet/>
      <dgm:spPr/>
      <dgm:t>
        <a:bodyPr/>
        <a:lstStyle/>
        <a:p>
          <a:endParaRPr lang="en-IN"/>
        </a:p>
      </dgm:t>
    </dgm:pt>
    <dgm:pt modelId="{E87C0D49-1D06-48A1-B0A1-B7D022D3A60C}" type="sibTrans" cxnId="{A7925D3B-5F4B-4107-8DC0-5A55727A6666}">
      <dgm:prSet/>
      <dgm:spPr/>
      <dgm:t>
        <a:bodyPr/>
        <a:lstStyle/>
        <a:p>
          <a:endParaRPr lang="en-IN"/>
        </a:p>
      </dgm:t>
    </dgm:pt>
    <dgm:pt modelId="{B7C798BC-A341-414A-B2C2-23EF78972747}">
      <dgm:prSet phldrT="[Text]" phldr="0"/>
      <dgm:spPr/>
      <dgm:t>
        <a:bodyPr/>
        <a:lstStyle/>
        <a:p>
          <a:r>
            <a:rPr lang="en-GB" dirty="0"/>
            <a:t>Meanwhile, the hospital administrator asks, </a:t>
          </a:r>
          <a:r>
            <a:rPr lang="en-GB" i="1" dirty="0">
              <a:solidFill>
                <a:srgbClr val="C00000"/>
              </a:solidFill>
            </a:rPr>
            <a:t>"Why are patients waiting so long on Tuesdays?"</a:t>
          </a:r>
          <a:endParaRPr lang="en-IN" dirty="0">
            <a:solidFill>
              <a:srgbClr val="C00000"/>
            </a:solidFill>
          </a:endParaRPr>
        </a:p>
      </dgm:t>
    </dgm:pt>
    <dgm:pt modelId="{D82E33FC-005E-4667-B6ED-03BA909C5401}" type="parTrans" cxnId="{FFB8A25A-259E-4794-AAE2-4F4AD155F14D}">
      <dgm:prSet/>
      <dgm:spPr/>
      <dgm:t>
        <a:bodyPr/>
        <a:lstStyle/>
        <a:p>
          <a:endParaRPr lang="en-IN"/>
        </a:p>
      </dgm:t>
    </dgm:pt>
    <dgm:pt modelId="{E270E6D2-672A-484E-80C8-D3710EC40E02}" type="sibTrans" cxnId="{FFB8A25A-259E-4794-AAE2-4F4AD155F14D}">
      <dgm:prSet/>
      <dgm:spPr/>
      <dgm:t>
        <a:bodyPr/>
        <a:lstStyle/>
        <a:p>
          <a:endParaRPr lang="en-IN"/>
        </a:p>
      </dgm:t>
    </dgm:pt>
    <dgm:pt modelId="{C3511EFD-C908-439D-A1C7-E579779506EB}">
      <dgm:prSet phldrT="[Text]" phldr="0"/>
      <dgm:spPr/>
      <dgm:t>
        <a:bodyPr/>
        <a:lstStyle/>
        <a:p>
          <a:r>
            <a:rPr lang="en-GB" dirty="0"/>
            <a:t>You don't program "</a:t>
          </a:r>
          <a:r>
            <a:rPr lang="en-GB" dirty="0">
              <a:solidFill>
                <a:srgbClr val="C00000"/>
              </a:solidFill>
            </a:rPr>
            <a:t>if pixel is red, it's a </a:t>
          </a:r>
          <a:r>
            <a:rPr lang="en-GB" dirty="0" err="1">
              <a:solidFill>
                <a:srgbClr val="C00000"/>
              </a:solidFill>
            </a:rPr>
            <a:t>tumor</a:t>
          </a:r>
          <a:r>
            <a:rPr lang="en-GB" dirty="0"/>
            <a:t>".</a:t>
          </a:r>
          <a:endParaRPr lang="en-IN" dirty="0"/>
        </a:p>
      </dgm:t>
    </dgm:pt>
    <dgm:pt modelId="{8C88D3B3-8824-4093-942D-C4EDEE1D0112}" type="parTrans" cxnId="{6EE43FD8-3654-47A5-ACB7-E83CDC620A8E}">
      <dgm:prSet/>
      <dgm:spPr/>
      <dgm:t>
        <a:bodyPr/>
        <a:lstStyle/>
        <a:p>
          <a:endParaRPr lang="en-IN"/>
        </a:p>
      </dgm:t>
    </dgm:pt>
    <dgm:pt modelId="{946C5499-51A9-4343-AF5F-5101458DAB3E}" type="sibTrans" cxnId="{6EE43FD8-3654-47A5-ACB7-E83CDC620A8E}">
      <dgm:prSet/>
      <dgm:spPr/>
      <dgm:t>
        <a:bodyPr/>
        <a:lstStyle/>
        <a:p>
          <a:endParaRPr lang="en-IN"/>
        </a:p>
      </dgm:t>
    </dgm:pt>
    <dgm:pt modelId="{ACC5BBD1-93DC-4672-8CA4-9287641AF31A}">
      <dgm:prSet phldrT="[Text]" phldr="0"/>
      <dgm:spPr/>
      <dgm:t>
        <a:bodyPr/>
        <a:lstStyle/>
        <a:p>
          <a:r>
            <a:rPr lang="en-GB" dirty="0"/>
            <a:t>Instead, you feed it 50,000 X-rays so it can </a:t>
          </a:r>
          <a:r>
            <a:rPr lang="en-GB" i="1" dirty="0">
              <a:solidFill>
                <a:srgbClr val="C00000"/>
              </a:solidFill>
            </a:rPr>
            <a:t>learn</a:t>
          </a:r>
          <a:r>
            <a:rPr lang="en-GB" dirty="0">
              <a:solidFill>
                <a:srgbClr val="C00000"/>
              </a:solidFill>
            </a:rPr>
            <a:t> the patterns of a </a:t>
          </a:r>
          <a:r>
            <a:rPr lang="en-GB" dirty="0" err="1">
              <a:solidFill>
                <a:srgbClr val="C00000"/>
              </a:solidFill>
            </a:rPr>
            <a:t>tumor</a:t>
          </a:r>
          <a:r>
            <a:rPr lang="en-GB" dirty="0">
              <a:solidFill>
                <a:srgbClr val="C00000"/>
              </a:solidFill>
            </a:rPr>
            <a:t> on its own</a:t>
          </a:r>
          <a:r>
            <a:rPr lang="en-GB" dirty="0"/>
            <a:t>.</a:t>
          </a:r>
          <a:endParaRPr lang="en-IN" dirty="0"/>
        </a:p>
      </dgm:t>
    </dgm:pt>
    <dgm:pt modelId="{03E76F55-ADDD-4A26-993A-3E051010633F}" type="parTrans" cxnId="{1CAB8ADF-C0D4-4EC6-B1FE-EE6F7DCF555B}">
      <dgm:prSet/>
      <dgm:spPr/>
      <dgm:t>
        <a:bodyPr/>
        <a:lstStyle/>
        <a:p>
          <a:endParaRPr lang="en-IN"/>
        </a:p>
      </dgm:t>
    </dgm:pt>
    <dgm:pt modelId="{24775D14-EEF4-4D7A-97D6-F68467AD5C6A}" type="sibTrans" cxnId="{1CAB8ADF-C0D4-4EC6-B1FE-EE6F7DCF555B}">
      <dgm:prSet/>
      <dgm:spPr/>
      <dgm:t>
        <a:bodyPr/>
        <a:lstStyle/>
        <a:p>
          <a:endParaRPr lang="en-IN"/>
        </a:p>
      </dgm:t>
    </dgm:pt>
    <dgm:pt modelId="{3341F9C5-A001-4C3A-BA6E-9929971F8810}">
      <dgm:prSet phldrT="[Text]" phldr="0"/>
      <dgm:spPr/>
      <dgm:t>
        <a:bodyPr/>
        <a:lstStyle/>
        <a:p>
          <a:r>
            <a:rPr lang="en-GB" dirty="0"/>
            <a:t>You dive into the logs, </a:t>
          </a:r>
          <a:r>
            <a:rPr lang="en-GB" dirty="0">
              <a:solidFill>
                <a:srgbClr val="C00000"/>
              </a:solidFill>
            </a:rPr>
            <a:t>clean up the messy data, create visualizations, and discover </a:t>
          </a:r>
          <a:r>
            <a:rPr lang="en-GB" dirty="0"/>
            <a:t>that a specific lab is understaffed during lunch hours. You've just </a:t>
          </a:r>
          <a:r>
            <a:rPr lang="en-GB" dirty="0">
              <a:solidFill>
                <a:srgbClr val="C00000"/>
              </a:solidFill>
            </a:rPr>
            <a:t>extracted a "business insight</a:t>
          </a:r>
          <a:r>
            <a:rPr lang="en-GB" dirty="0"/>
            <a:t>" from data.</a:t>
          </a:r>
          <a:endParaRPr lang="en-IN" dirty="0"/>
        </a:p>
      </dgm:t>
    </dgm:pt>
    <dgm:pt modelId="{1E7C231D-E134-472F-8729-79BE9F9C3C96}" type="parTrans" cxnId="{C1D289E7-8021-4BC7-A0B7-911E58753804}">
      <dgm:prSet/>
      <dgm:spPr/>
      <dgm:t>
        <a:bodyPr/>
        <a:lstStyle/>
        <a:p>
          <a:endParaRPr lang="en-IN"/>
        </a:p>
      </dgm:t>
    </dgm:pt>
    <dgm:pt modelId="{518207AA-A87F-4576-A26E-D3B317E08AFE}" type="sibTrans" cxnId="{C1D289E7-8021-4BC7-A0B7-911E58753804}">
      <dgm:prSet/>
      <dgm:spPr/>
      <dgm:t>
        <a:bodyPr/>
        <a:lstStyle/>
        <a:p>
          <a:endParaRPr lang="en-IN"/>
        </a:p>
      </dgm:t>
    </dgm:pt>
    <dgm:pt modelId="{359B8FF1-7372-468D-8A47-146E957475D5}">
      <dgm:prSet phldrT="[Text]" phldr="0"/>
      <dgm:spPr/>
      <dgm:t>
        <a:bodyPr/>
        <a:lstStyle/>
        <a:p>
          <a:r>
            <a:rPr lang="en-GB" dirty="0"/>
            <a:t>This robot is </a:t>
          </a:r>
          <a:r>
            <a:rPr lang="en-GB" dirty="0">
              <a:solidFill>
                <a:srgbClr val="C00000"/>
              </a:solidFill>
            </a:rPr>
            <a:t>mimicking human-like </a:t>
          </a:r>
          <a:r>
            <a:rPr lang="en-GB" dirty="0" err="1">
              <a:solidFill>
                <a:srgbClr val="C00000"/>
              </a:solidFill>
            </a:rPr>
            <a:t>behavior</a:t>
          </a:r>
          <a:r>
            <a:rPr lang="en-GB" dirty="0">
              <a:solidFill>
                <a:srgbClr val="C00000"/>
              </a:solidFill>
            </a:rPr>
            <a:t> and reasoning</a:t>
          </a:r>
          <a:r>
            <a:rPr lang="en-GB" dirty="0"/>
            <a:t>.</a:t>
          </a:r>
          <a:endParaRPr lang="en-IN" dirty="0"/>
        </a:p>
      </dgm:t>
    </dgm:pt>
    <dgm:pt modelId="{46E92251-4E06-4C48-8DB6-41ED007BD40F}" type="parTrans" cxnId="{A2608148-50E9-4C8E-965F-7D0137092D2B}">
      <dgm:prSet/>
      <dgm:spPr/>
      <dgm:t>
        <a:bodyPr/>
        <a:lstStyle/>
        <a:p>
          <a:endParaRPr lang="en-IN"/>
        </a:p>
      </dgm:t>
    </dgm:pt>
    <dgm:pt modelId="{FF912AB2-8669-4958-965D-FEA04D4F5F6F}" type="sibTrans" cxnId="{A2608148-50E9-4C8E-965F-7D0137092D2B}">
      <dgm:prSet/>
      <dgm:spPr/>
      <dgm:t>
        <a:bodyPr/>
        <a:lstStyle/>
        <a:p>
          <a:endParaRPr lang="en-IN"/>
        </a:p>
      </dgm:t>
    </dgm:pt>
    <dgm:pt modelId="{1792EA0A-1ECF-4D05-8D6C-5D1515D57CDB}" type="pres">
      <dgm:prSet presAssocID="{D9DC416D-6B4A-478C-926B-0A7753BB979E}" presName="Name0" presStyleCnt="0">
        <dgm:presLayoutVars>
          <dgm:dir/>
          <dgm:animLvl val="lvl"/>
          <dgm:resizeHandles val="exact"/>
        </dgm:presLayoutVars>
      </dgm:prSet>
      <dgm:spPr/>
    </dgm:pt>
    <dgm:pt modelId="{037AE9BA-77BE-48F6-BFC4-121D0174B1B2}" type="pres">
      <dgm:prSet presAssocID="{192A3F4A-E9DD-4258-8FC6-A6C927871CFB}" presName="composite" presStyleCnt="0"/>
      <dgm:spPr/>
    </dgm:pt>
    <dgm:pt modelId="{D0128363-6BE2-418E-8832-3C98AAC7EB95}" type="pres">
      <dgm:prSet presAssocID="{192A3F4A-E9DD-4258-8FC6-A6C927871CF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147E62B-DA0D-40AB-BDED-9F1CF94B22E8}" type="pres">
      <dgm:prSet presAssocID="{192A3F4A-E9DD-4258-8FC6-A6C927871CFB}" presName="desTx" presStyleLbl="alignAccFollowNode1" presStyleIdx="0" presStyleCnt="3">
        <dgm:presLayoutVars>
          <dgm:bulletEnabled val="1"/>
        </dgm:presLayoutVars>
      </dgm:prSet>
      <dgm:spPr/>
    </dgm:pt>
    <dgm:pt modelId="{977CDE1C-146E-4625-8CFC-E60EDE5995C2}" type="pres">
      <dgm:prSet presAssocID="{D379878A-0325-4C4E-A149-483450E0A83A}" presName="space" presStyleCnt="0"/>
      <dgm:spPr/>
    </dgm:pt>
    <dgm:pt modelId="{1A273072-67F9-42B5-B835-0CF5348B502B}" type="pres">
      <dgm:prSet presAssocID="{30778669-8F76-4B5B-9694-25CDA323BB5B}" presName="composite" presStyleCnt="0"/>
      <dgm:spPr/>
    </dgm:pt>
    <dgm:pt modelId="{E27B7B15-0A26-42D0-BCBB-A14FD12680A2}" type="pres">
      <dgm:prSet presAssocID="{30778669-8F76-4B5B-9694-25CDA323BB5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16320E4-C563-4A83-B375-71EC61FE4534}" type="pres">
      <dgm:prSet presAssocID="{30778669-8F76-4B5B-9694-25CDA323BB5B}" presName="desTx" presStyleLbl="alignAccFollowNode1" presStyleIdx="1" presStyleCnt="3">
        <dgm:presLayoutVars>
          <dgm:bulletEnabled val="1"/>
        </dgm:presLayoutVars>
      </dgm:prSet>
      <dgm:spPr/>
    </dgm:pt>
    <dgm:pt modelId="{73E7E09D-551B-493F-A2D6-6808B6B144BB}" type="pres">
      <dgm:prSet presAssocID="{19640A40-D78A-4B5C-9CC1-922560860953}" presName="space" presStyleCnt="0"/>
      <dgm:spPr/>
    </dgm:pt>
    <dgm:pt modelId="{726C1AB6-4FEE-4F68-9DEB-2BF79757AC56}" type="pres">
      <dgm:prSet presAssocID="{AAFD3CB9-6206-4064-8301-6AD795437E90}" presName="composite" presStyleCnt="0"/>
      <dgm:spPr/>
    </dgm:pt>
    <dgm:pt modelId="{4F3B034F-780F-4118-90B6-A076D60DFC61}" type="pres">
      <dgm:prSet presAssocID="{AAFD3CB9-6206-4064-8301-6AD795437E9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F0CD806-E99D-448A-9B5F-7E7F51E0B6A6}" type="pres">
      <dgm:prSet presAssocID="{AAFD3CB9-6206-4064-8301-6AD795437E9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25A9903-B1CB-42B2-8B18-76116AE92140}" type="presOf" srcId="{C3511EFD-C908-439D-A1C7-E579779506EB}" destId="{D16320E4-C563-4A83-B375-71EC61FE4534}" srcOrd="0" destOrd="1" presId="urn:microsoft.com/office/officeart/2005/8/layout/hList1"/>
    <dgm:cxn modelId="{C6BE060C-0051-463C-BA1D-BC07210F4687}" srcId="{192A3F4A-E9DD-4258-8FC6-A6C927871CFB}" destId="{11E24544-B722-4426-8659-0ECE5D1FC124}" srcOrd="0" destOrd="0" parTransId="{B0D09BDC-8B5C-417A-A7D6-6B23DF0E4E2A}" sibTransId="{30D8E27F-4C43-408E-B916-36F508D6344C}"/>
    <dgm:cxn modelId="{5BFE890F-B3C7-4529-AB83-FA3699D80161}" type="presOf" srcId="{192A3F4A-E9DD-4258-8FC6-A6C927871CFB}" destId="{D0128363-6BE2-418E-8832-3C98AAC7EB95}" srcOrd="0" destOrd="0" presId="urn:microsoft.com/office/officeart/2005/8/layout/hList1"/>
    <dgm:cxn modelId="{A7925D3B-5F4B-4107-8DC0-5A55727A6666}" srcId="{30778669-8F76-4B5B-9694-25CDA323BB5B}" destId="{D79D0DD4-CE30-4D26-9143-7021B4E6F80F}" srcOrd="0" destOrd="0" parTransId="{2EC7F006-3C4D-49F1-BAA4-FA516CE6E87D}" sibTransId="{E87C0D49-1D06-48A1-B0A1-B7D022D3A60C}"/>
    <dgm:cxn modelId="{37DFA644-6764-4477-8115-13D109307DE5}" type="presOf" srcId="{AAFD3CB9-6206-4064-8301-6AD795437E90}" destId="{4F3B034F-780F-4118-90B6-A076D60DFC61}" srcOrd="0" destOrd="0" presId="urn:microsoft.com/office/officeart/2005/8/layout/hList1"/>
    <dgm:cxn modelId="{A2608148-50E9-4C8E-965F-7D0137092D2B}" srcId="{192A3F4A-E9DD-4258-8FC6-A6C927871CFB}" destId="{359B8FF1-7372-468D-8A47-146E957475D5}" srcOrd="1" destOrd="0" parTransId="{46E92251-4E06-4C48-8DB6-41ED007BD40F}" sibTransId="{FF912AB2-8669-4958-965D-FEA04D4F5F6F}"/>
    <dgm:cxn modelId="{0E7E6A6C-F09A-4E40-A7ED-231EDED5012C}" type="presOf" srcId="{11E24544-B722-4426-8659-0ECE5D1FC124}" destId="{9147E62B-DA0D-40AB-BDED-9F1CF94B22E8}" srcOrd="0" destOrd="0" presId="urn:microsoft.com/office/officeart/2005/8/layout/hList1"/>
    <dgm:cxn modelId="{FFB8A25A-259E-4794-AAE2-4F4AD155F14D}" srcId="{AAFD3CB9-6206-4064-8301-6AD795437E90}" destId="{B7C798BC-A341-414A-B2C2-23EF78972747}" srcOrd="0" destOrd="0" parTransId="{D82E33FC-005E-4667-B6ED-03BA909C5401}" sibTransId="{E270E6D2-672A-484E-80C8-D3710EC40E02}"/>
    <dgm:cxn modelId="{1D5D0CA2-9724-40A6-A5AE-42E92890B9A1}" type="presOf" srcId="{359B8FF1-7372-468D-8A47-146E957475D5}" destId="{9147E62B-DA0D-40AB-BDED-9F1CF94B22E8}" srcOrd="0" destOrd="1" presId="urn:microsoft.com/office/officeart/2005/8/layout/hList1"/>
    <dgm:cxn modelId="{A2E684AA-E090-4585-806B-B45B30F42A21}" type="presOf" srcId="{30778669-8F76-4B5B-9694-25CDA323BB5B}" destId="{E27B7B15-0A26-42D0-BCBB-A14FD12680A2}" srcOrd="0" destOrd="0" presId="urn:microsoft.com/office/officeart/2005/8/layout/hList1"/>
    <dgm:cxn modelId="{21827FAC-3195-4FBA-A2A0-11031529DB27}" type="presOf" srcId="{D9DC416D-6B4A-478C-926B-0A7753BB979E}" destId="{1792EA0A-1ECF-4D05-8D6C-5D1515D57CDB}" srcOrd="0" destOrd="0" presId="urn:microsoft.com/office/officeart/2005/8/layout/hList1"/>
    <dgm:cxn modelId="{32D44EBF-6665-441A-834F-FAC6BAA2851A}" srcId="{D9DC416D-6B4A-478C-926B-0A7753BB979E}" destId="{192A3F4A-E9DD-4258-8FC6-A6C927871CFB}" srcOrd="0" destOrd="0" parTransId="{585C3C3E-866C-42FF-BE56-06E8787F585D}" sibTransId="{D379878A-0325-4C4E-A149-483450E0A83A}"/>
    <dgm:cxn modelId="{7E536AD7-F1FA-476E-BE98-7C3976E6A1EC}" srcId="{D9DC416D-6B4A-478C-926B-0A7753BB979E}" destId="{30778669-8F76-4B5B-9694-25CDA323BB5B}" srcOrd="1" destOrd="0" parTransId="{9EB699FC-ECA0-4AA9-8AFB-B3DAD3016C34}" sibTransId="{19640A40-D78A-4B5C-9CC1-922560860953}"/>
    <dgm:cxn modelId="{6EE43FD8-3654-47A5-ACB7-E83CDC620A8E}" srcId="{30778669-8F76-4B5B-9694-25CDA323BB5B}" destId="{C3511EFD-C908-439D-A1C7-E579779506EB}" srcOrd="1" destOrd="0" parTransId="{8C88D3B3-8824-4093-942D-C4EDEE1D0112}" sibTransId="{946C5499-51A9-4343-AF5F-5101458DAB3E}"/>
    <dgm:cxn modelId="{1CAB8ADF-C0D4-4EC6-B1FE-EE6F7DCF555B}" srcId="{30778669-8F76-4B5B-9694-25CDA323BB5B}" destId="{ACC5BBD1-93DC-4672-8CA4-9287641AF31A}" srcOrd="2" destOrd="0" parTransId="{03E76F55-ADDD-4A26-993A-3E051010633F}" sibTransId="{24775D14-EEF4-4D7A-97D6-F68467AD5C6A}"/>
    <dgm:cxn modelId="{584322E1-3E6B-460D-9866-D58126143051}" type="presOf" srcId="{ACC5BBD1-93DC-4672-8CA4-9287641AF31A}" destId="{D16320E4-C563-4A83-B375-71EC61FE4534}" srcOrd="0" destOrd="2" presId="urn:microsoft.com/office/officeart/2005/8/layout/hList1"/>
    <dgm:cxn modelId="{DD04ACE4-74DD-4982-B89E-34AFA25C737D}" srcId="{D9DC416D-6B4A-478C-926B-0A7753BB979E}" destId="{AAFD3CB9-6206-4064-8301-6AD795437E90}" srcOrd="2" destOrd="0" parTransId="{855CF0DA-99C0-49F1-B0A4-AD61AAAD4EFD}" sibTransId="{161E95CD-2716-40CC-A2BA-F1928F9BF650}"/>
    <dgm:cxn modelId="{A8C298E5-E05B-455C-B666-DE3B94F475BF}" type="presOf" srcId="{D79D0DD4-CE30-4D26-9143-7021B4E6F80F}" destId="{D16320E4-C563-4A83-B375-71EC61FE4534}" srcOrd="0" destOrd="0" presId="urn:microsoft.com/office/officeart/2005/8/layout/hList1"/>
    <dgm:cxn modelId="{C1D289E7-8021-4BC7-A0B7-911E58753804}" srcId="{AAFD3CB9-6206-4064-8301-6AD795437E90}" destId="{3341F9C5-A001-4C3A-BA6E-9929971F8810}" srcOrd="1" destOrd="0" parTransId="{1E7C231D-E134-472F-8729-79BE9F9C3C96}" sibTransId="{518207AA-A87F-4576-A26E-D3B317E08AFE}"/>
    <dgm:cxn modelId="{6C0460F1-626A-4D88-9017-FFC81A52541A}" type="presOf" srcId="{B7C798BC-A341-414A-B2C2-23EF78972747}" destId="{9F0CD806-E99D-448A-9B5F-7E7F51E0B6A6}" srcOrd="0" destOrd="0" presId="urn:microsoft.com/office/officeart/2005/8/layout/hList1"/>
    <dgm:cxn modelId="{B9A88DFB-C43C-4B92-B197-47BD5B060AE7}" type="presOf" srcId="{3341F9C5-A001-4C3A-BA6E-9929971F8810}" destId="{9F0CD806-E99D-448A-9B5F-7E7F51E0B6A6}" srcOrd="0" destOrd="1" presId="urn:microsoft.com/office/officeart/2005/8/layout/hList1"/>
    <dgm:cxn modelId="{DD0A8FFA-2145-4764-89D1-25EE15BEAC0E}" type="presParOf" srcId="{1792EA0A-1ECF-4D05-8D6C-5D1515D57CDB}" destId="{037AE9BA-77BE-48F6-BFC4-121D0174B1B2}" srcOrd="0" destOrd="0" presId="urn:microsoft.com/office/officeart/2005/8/layout/hList1"/>
    <dgm:cxn modelId="{C602C311-5EFA-4E2A-8093-4DB6F4E952FA}" type="presParOf" srcId="{037AE9BA-77BE-48F6-BFC4-121D0174B1B2}" destId="{D0128363-6BE2-418E-8832-3C98AAC7EB95}" srcOrd="0" destOrd="0" presId="urn:microsoft.com/office/officeart/2005/8/layout/hList1"/>
    <dgm:cxn modelId="{541CE7F1-6A01-4C26-977E-04618E7893DC}" type="presParOf" srcId="{037AE9BA-77BE-48F6-BFC4-121D0174B1B2}" destId="{9147E62B-DA0D-40AB-BDED-9F1CF94B22E8}" srcOrd="1" destOrd="0" presId="urn:microsoft.com/office/officeart/2005/8/layout/hList1"/>
    <dgm:cxn modelId="{DD39ADB2-4792-40C7-9DD8-5E007EF0326B}" type="presParOf" srcId="{1792EA0A-1ECF-4D05-8D6C-5D1515D57CDB}" destId="{977CDE1C-146E-4625-8CFC-E60EDE5995C2}" srcOrd="1" destOrd="0" presId="urn:microsoft.com/office/officeart/2005/8/layout/hList1"/>
    <dgm:cxn modelId="{85122FB3-EB41-4DEC-BBFB-D1F33287005A}" type="presParOf" srcId="{1792EA0A-1ECF-4D05-8D6C-5D1515D57CDB}" destId="{1A273072-67F9-42B5-B835-0CF5348B502B}" srcOrd="2" destOrd="0" presId="urn:microsoft.com/office/officeart/2005/8/layout/hList1"/>
    <dgm:cxn modelId="{19AD67FA-0DD0-4323-B5CF-46506CA95509}" type="presParOf" srcId="{1A273072-67F9-42B5-B835-0CF5348B502B}" destId="{E27B7B15-0A26-42D0-BCBB-A14FD12680A2}" srcOrd="0" destOrd="0" presId="urn:microsoft.com/office/officeart/2005/8/layout/hList1"/>
    <dgm:cxn modelId="{22D1AE9B-6D2B-40AC-8C0B-7742DE28A2F0}" type="presParOf" srcId="{1A273072-67F9-42B5-B835-0CF5348B502B}" destId="{D16320E4-C563-4A83-B375-71EC61FE4534}" srcOrd="1" destOrd="0" presId="urn:microsoft.com/office/officeart/2005/8/layout/hList1"/>
    <dgm:cxn modelId="{B4EC7EC6-EC05-4D9E-BF67-8BADB3DF30C4}" type="presParOf" srcId="{1792EA0A-1ECF-4D05-8D6C-5D1515D57CDB}" destId="{73E7E09D-551B-493F-A2D6-6808B6B144BB}" srcOrd="3" destOrd="0" presId="urn:microsoft.com/office/officeart/2005/8/layout/hList1"/>
    <dgm:cxn modelId="{FE1F056C-34EB-4A69-AF84-F6DFAC1472F3}" type="presParOf" srcId="{1792EA0A-1ECF-4D05-8D6C-5D1515D57CDB}" destId="{726C1AB6-4FEE-4F68-9DEB-2BF79757AC56}" srcOrd="4" destOrd="0" presId="urn:microsoft.com/office/officeart/2005/8/layout/hList1"/>
    <dgm:cxn modelId="{6EDBA35B-BEA8-4190-9C47-D015FA73C547}" type="presParOf" srcId="{726C1AB6-4FEE-4F68-9DEB-2BF79757AC56}" destId="{4F3B034F-780F-4118-90B6-A076D60DFC61}" srcOrd="0" destOrd="0" presId="urn:microsoft.com/office/officeart/2005/8/layout/hList1"/>
    <dgm:cxn modelId="{3DBABFA2-C481-43B0-95FA-56EFDF765B8D}" type="presParOf" srcId="{726C1AB6-4FEE-4F68-9DEB-2BF79757AC56}" destId="{9F0CD806-E99D-448A-9B5F-7E7F51E0B6A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DC416D-6B4A-478C-926B-0A7753BB979E}" type="doc">
      <dgm:prSet loTypeId="urn:microsoft.com/office/officeart/2005/8/layout/lProcess2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D4F731CA-A8D0-48AD-A8FC-0A2616B4734C}">
      <dgm:prSet/>
      <dgm:spPr/>
      <dgm:t>
        <a:bodyPr/>
        <a:lstStyle/>
        <a:p>
          <a:pPr>
            <a:buNone/>
          </a:pPr>
          <a:r>
            <a:rPr lang="en-GB" b="1" dirty="0"/>
            <a:t>AI is the "</a:t>
          </a:r>
          <a:r>
            <a:rPr lang="en-GB" b="1" dirty="0">
              <a:solidFill>
                <a:srgbClr val="C00000"/>
              </a:solidFill>
            </a:rPr>
            <a:t>What</a:t>
          </a:r>
          <a:r>
            <a:rPr lang="en-GB" b="1" dirty="0"/>
            <a:t>":</a:t>
          </a:r>
          <a:endParaRPr lang="en-GB" dirty="0"/>
        </a:p>
      </dgm:t>
    </dgm:pt>
    <dgm:pt modelId="{C1123845-7A62-43F8-849C-69EE6F06A66C}" type="parTrans" cxnId="{50A2003D-25A5-4AEF-AAB2-991ACDE0AD7C}">
      <dgm:prSet/>
      <dgm:spPr/>
      <dgm:t>
        <a:bodyPr/>
        <a:lstStyle/>
        <a:p>
          <a:endParaRPr lang="en-IN"/>
        </a:p>
      </dgm:t>
    </dgm:pt>
    <dgm:pt modelId="{A56A4288-9E7F-4EAD-B13C-EA44EA8BB493}" type="sibTrans" cxnId="{50A2003D-25A5-4AEF-AAB2-991ACDE0AD7C}">
      <dgm:prSet/>
      <dgm:spPr/>
      <dgm:t>
        <a:bodyPr/>
        <a:lstStyle/>
        <a:p>
          <a:endParaRPr lang="en-IN"/>
        </a:p>
      </dgm:t>
    </dgm:pt>
    <dgm:pt modelId="{25F84FF1-1BF8-4E7E-A99E-BA194F8CF0E1}">
      <dgm:prSet/>
      <dgm:spPr/>
      <dgm:t>
        <a:bodyPr/>
        <a:lstStyle/>
        <a:p>
          <a:pPr>
            <a:buNone/>
          </a:pPr>
          <a:r>
            <a:rPr lang="en-GB" b="1" dirty="0"/>
            <a:t>ML is the "</a:t>
          </a:r>
          <a:r>
            <a:rPr lang="en-GB" b="1" dirty="0">
              <a:solidFill>
                <a:srgbClr val="C00000"/>
              </a:solidFill>
            </a:rPr>
            <a:t>How</a:t>
          </a:r>
          <a:r>
            <a:rPr lang="en-GB" b="1" dirty="0"/>
            <a:t>":</a:t>
          </a:r>
          <a:endParaRPr lang="en-GB" dirty="0"/>
        </a:p>
      </dgm:t>
    </dgm:pt>
    <dgm:pt modelId="{7829825D-C2F9-4706-B6D9-05881A472D27}" type="parTrans" cxnId="{64329B39-35D2-4CD8-95AD-CBCC76BBDC10}">
      <dgm:prSet/>
      <dgm:spPr/>
      <dgm:t>
        <a:bodyPr/>
        <a:lstStyle/>
        <a:p>
          <a:endParaRPr lang="en-IN"/>
        </a:p>
      </dgm:t>
    </dgm:pt>
    <dgm:pt modelId="{7AB1420A-86B9-47C2-8EB3-AB4F59E2D792}" type="sibTrans" cxnId="{64329B39-35D2-4CD8-95AD-CBCC76BBDC10}">
      <dgm:prSet/>
      <dgm:spPr/>
      <dgm:t>
        <a:bodyPr/>
        <a:lstStyle/>
        <a:p>
          <a:endParaRPr lang="en-IN"/>
        </a:p>
      </dgm:t>
    </dgm:pt>
    <dgm:pt modelId="{6CBAAFB1-85C1-476B-A2FA-84A25B1A6BF4}">
      <dgm:prSet/>
      <dgm:spPr/>
      <dgm:t>
        <a:bodyPr/>
        <a:lstStyle/>
        <a:p>
          <a:pPr>
            <a:buNone/>
          </a:pPr>
          <a:r>
            <a:rPr lang="en-GB" b="1" dirty="0"/>
            <a:t>Data Science is the "</a:t>
          </a:r>
          <a:r>
            <a:rPr lang="en-GB" b="1" dirty="0">
              <a:solidFill>
                <a:srgbClr val="C00000"/>
              </a:solidFill>
            </a:rPr>
            <a:t>Why</a:t>
          </a:r>
          <a:r>
            <a:rPr lang="en-GB" b="1" dirty="0"/>
            <a:t>":</a:t>
          </a:r>
          <a:endParaRPr lang="en-GB" dirty="0"/>
        </a:p>
      </dgm:t>
    </dgm:pt>
    <dgm:pt modelId="{3376227A-0AEC-4D62-8090-BF00247DB2D5}" type="parTrans" cxnId="{0F7D9475-DE22-4E1E-97A8-848C61344E82}">
      <dgm:prSet/>
      <dgm:spPr/>
      <dgm:t>
        <a:bodyPr/>
        <a:lstStyle/>
        <a:p>
          <a:endParaRPr lang="en-IN"/>
        </a:p>
      </dgm:t>
    </dgm:pt>
    <dgm:pt modelId="{210D222D-53CE-4E41-8BCB-F55A3597F748}" type="sibTrans" cxnId="{0F7D9475-DE22-4E1E-97A8-848C61344E82}">
      <dgm:prSet/>
      <dgm:spPr/>
      <dgm:t>
        <a:bodyPr/>
        <a:lstStyle/>
        <a:p>
          <a:endParaRPr lang="en-IN"/>
        </a:p>
      </dgm:t>
    </dgm:pt>
    <dgm:pt modelId="{8199B3F6-388D-49C2-9126-549EDE662389}">
      <dgm:prSet/>
      <dgm:spPr/>
      <dgm:t>
        <a:bodyPr/>
        <a:lstStyle/>
        <a:p>
          <a:pPr>
            <a:buNone/>
          </a:pPr>
          <a:r>
            <a:rPr lang="en-GB" dirty="0"/>
            <a:t>The goal of making a machine "smart".</a:t>
          </a:r>
        </a:p>
      </dgm:t>
    </dgm:pt>
    <dgm:pt modelId="{3CCB995D-C870-4FB0-9D93-9AB98AA14C4A}" type="parTrans" cxnId="{DD9C12A5-618E-4350-9D14-4DC62D9B9DAA}">
      <dgm:prSet/>
      <dgm:spPr/>
      <dgm:t>
        <a:bodyPr/>
        <a:lstStyle/>
        <a:p>
          <a:endParaRPr lang="en-IN"/>
        </a:p>
      </dgm:t>
    </dgm:pt>
    <dgm:pt modelId="{C73F35BF-F69D-4155-956D-488CE6AA16D3}" type="sibTrans" cxnId="{DD9C12A5-618E-4350-9D14-4DC62D9B9DAA}">
      <dgm:prSet/>
      <dgm:spPr/>
      <dgm:t>
        <a:bodyPr/>
        <a:lstStyle/>
        <a:p>
          <a:endParaRPr lang="en-IN"/>
        </a:p>
      </dgm:t>
    </dgm:pt>
    <dgm:pt modelId="{7E47C851-3AA4-49C5-8DEC-87858874B018}">
      <dgm:prSet/>
      <dgm:spPr/>
      <dgm:t>
        <a:bodyPr/>
        <a:lstStyle/>
        <a:p>
          <a:pPr>
            <a:buNone/>
          </a:pPr>
          <a:r>
            <a:rPr lang="en-GB"/>
            <a:t>The mathematical engine that allows the machine to learn.</a:t>
          </a:r>
          <a:endParaRPr lang="en-GB" dirty="0"/>
        </a:p>
      </dgm:t>
    </dgm:pt>
    <dgm:pt modelId="{B4C1D0A6-B4D0-4A0C-BCC2-BCA3BF565615}" type="parTrans" cxnId="{6B25C17A-EB8B-4640-B0DB-08BED082FB0F}">
      <dgm:prSet/>
      <dgm:spPr/>
      <dgm:t>
        <a:bodyPr/>
        <a:lstStyle/>
        <a:p>
          <a:endParaRPr lang="en-IN"/>
        </a:p>
      </dgm:t>
    </dgm:pt>
    <dgm:pt modelId="{487B8E09-81B6-453C-83AF-A19D9CC4D906}" type="sibTrans" cxnId="{6B25C17A-EB8B-4640-B0DB-08BED082FB0F}">
      <dgm:prSet/>
      <dgm:spPr/>
      <dgm:t>
        <a:bodyPr/>
        <a:lstStyle/>
        <a:p>
          <a:endParaRPr lang="en-IN"/>
        </a:p>
      </dgm:t>
    </dgm:pt>
    <dgm:pt modelId="{A0D9D56A-91CB-4808-B2D1-C2036C6A11C7}">
      <dgm:prSet/>
      <dgm:spPr/>
      <dgm:t>
        <a:bodyPr/>
        <a:lstStyle/>
        <a:p>
          <a:pPr>
            <a:buNone/>
          </a:pPr>
          <a:r>
            <a:rPr lang="en-GB"/>
            <a:t>The holistic process of using data (including ML) to answer specific questions.</a:t>
          </a:r>
          <a:endParaRPr lang="en-GB" dirty="0"/>
        </a:p>
      </dgm:t>
    </dgm:pt>
    <dgm:pt modelId="{5B23585A-66FC-4203-83CE-6FEC17A81F1B}" type="parTrans" cxnId="{AC0AD0FA-2E09-4F5E-B4EB-651226D24BC0}">
      <dgm:prSet/>
      <dgm:spPr/>
      <dgm:t>
        <a:bodyPr/>
        <a:lstStyle/>
        <a:p>
          <a:endParaRPr lang="en-IN"/>
        </a:p>
      </dgm:t>
    </dgm:pt>
    <dgm:pt modelId="{B06068D6-FFDE-43E6-A5CC-A40432A5B7CF}" type="sibTrans" cxnId="{AC0AD0FA-2E09-4F5E-B4EB-651226D24BC0}">
      <dgm:prSet/>
      <dgm:spPr/>
      <dgm:t>
        <a:bodyPr/>
        <a:lstStyle/>
        <a:p>
          <a:endParaRPr lang="en-IN"/>
        </a:p>
      </dgm:t>
    </dgm:pt>
    <dgm:pt modelId="{B156A6AF-BC5E-4052-A381-A9ACC82C0B29}" type="pres">
      <dgm:prSet presAssocID="{D9DC416D-6B4A-478C-926B-0A7753BB979E}" presName="theList" presStyleCnt="0">
        <dgm:presLayoutVars>
          <dgm:dir/>
          <dgm:animLvl val="lvl"/>
          <dgm:resizeHandles val="exact"/>
        </dgm:presLayoutVars>
      </dgm:prSet>
      <dgm:spPr/>
    </dgm:pt>
    <dgm:pt modelId="{BB3BBE25-715F-4688-AB35-1A017AF71FD6}" type="pres">
      <dgm:prSet presAssocID="{D4F731CA-A8D0-48AD-A8FC-0A2616B4734C}" presName="compNode" presStyleCnt="0"/>
      <dgm:spPr/>
    </dgm:pt>
    <dgm:pt modelId="{F4006A0B-ED19-495F-92A2-EAB24CD35D31}" type="pres">
      <dgm:prSet presAssocID="{D4F731CA-A8D0-48AD-A8FC-0A2616B4734C}" presName="aNode" presStyleLbl="bgShp" presStyleIdx="0" presStyleCnt="3"/>
      <dgm:spPr/>
    </dgm:pt>
    <dgm:pt modelId="{5F0F680B-44A3-4690-ABEA-3926071B2C09}" type="pres">
      <dgm:prSet presAssocID="{D4F731CA-A8D0-48AD-A8FC-0A2616B4734C}" presName="textNode" presStyleLbl="bgShp" presStyleIdx="0" presStyleCnt="3"/>
      <dgm:spPr/>
    </dgm:pt>
    <dgm:pt modelId="{CBCF459B-CC05-4C35-A8C6-9375BBA1D5F7}" type="pres">
      <dgm:prSet presAssocID="{D4F731CA-A8D0-48AD-A8FC-0A2616B4734C}" presName="compChildNode" presStyleCnt="0"/>
      <dgm:spPr/>
    </dgm:pt>
    <dgm:pt modelId="{184D6FDB-4801-42F7-9CEC-CEE3837D918C}" type="pres">
      <dgm:prSet presAssocID="{D4F731CA-A8D0-48AD-A8FC-0A2616B4734C}" presName="theInnerList" presStyleCnt="0"/>
      <dgm:spPr/>
    </dgm:pt>
    <dgm:pt modelId="{833A3EAC-B55B-452B-88EA-76E6309D8CB8}" type="pres">
      <dgm:prSet presAssocID="{8199B3F6-388D-49C2-9126-549EDE662389}" presName="childNode" presStyleLbl="node1" presStyleIdx="0" presStyleCnt="3">
        <dgm:presLayoutVars>
          <dgm:bulletEnabled val="1"/>
        </dgm:presLayoutVars>
      </dgm:prSet>
      <dgm:spPr/>
    </dgm:pt>
    <dgm:pt modelId="{494BE27E-CE33-4091-AFE9-D80CE7AD300D}" type="pres">
      <dgm:prSet presAssocID="{D4F731CA-A8D0-48AD-A8FC-0A2616B4734C}" presName="aSpace" presStyleCnt="0"/>
      <dgm:spPr/>
    </dgm:pt>
    <dgm:pt modelId="{6E021450-B28D-4B46-8B0C-1274B4FEFFB0}" type="pres">
      <dgm:prSet presAssocID="{25F84FF1-1BF8-4E7E-A99E-BA194F8CF0E1}" presName="compNode" presStyleCnt="0"/>
      <dgm:spPr/>
    </dgm:pt>
    <dgm:pt modelId="{D9223734-1ED1-4C01-8A3E-91C22B130705}" type="pres">
      <dgm:prSet presAssocID="{25F84FF1-1BF8-4E7E-A99E-BA194F8CF0E1}" presName="aNode" presStyleLbl="bgShp" presStyleIdx="1" presStyleCnt="3"/>
      <dgm:spPr/>
    </dgm:pt>
    <dgm:pt modelId="{DD778083-ED2A-4F04-B89E-5EF9ACF6FA99}" type="pres">
      <dgm:prSet presAssocID="{25F84FF1-1BF8-4E7E-A99E-BA194F8CF0E1}" presName="textNode" presStyleLbl="bgShp" presStyleIdx="1" presStyleCnt="3"/>
      <dgm:spPr/>
    </dgm:pt>
    <dgm:pt modelId="{E68773CE-08B8-4667-B82C-B8A8022D90B5}" type="pres">
      <dgm:prSet presAssocID="{25F84FF1-1BF8-4E7E-A99E-BA194F8CF0E1}" presName="compChildNode" presStyleCnt="0"/>
      <dgm:spPr/>
    </dgm:pt>
    <dgm:pt modelId="{1B9128BC-047C-4E94-8E23-E02262F14F94}" type="pres">
      <dgm:prSet presAssocID="{25F84FF1-1BF8-4E7E-A99E-BA194F8CF0E1}" presName="theInnerList" presStyleCnt="0"/>
      <dgm:spPr/>
    </dgm:pt>
    <dgm:pt modelId="{F77F6453-3329-462D-88B7-A9C72B4D931E}" type="pres">
      <dgm:prSet presAssocID="{7E47C851-3AA4-49C5-8DEC-87858874B018}" presName="childNode" presStyleLbl="node1" presStyleIdx="1" presStyleCnt="3">
        <dgm:presLayoutVars>
          <dgm:bulletEnabled val="1"/>
        </dgm:presLayoutVars>
      </dgm:prSet>
      <dgm:spPr/>
    </dgm:pt>
    <dgm:pt modelId="{0757C89A-D4C4-443F-842E-1712BD5BC68D}" type="pres">
      <dgm:prSet presAssocID="{25F84FF1-1BF8-4E7E-A99E-BA194F8CF0E1}" presName="aSpace" presStyleCnt="0"/>
      <dgm:spPr/>
    </dgm:pt>
    <dgm:pt modelId="{E467BBBD-536B-4FE9-BD91-16468370D5A1}" type="pres">
      <dgm:prSet presAssocID="{6CBAAFB1-85C1-476B-A2FA-84A25B1A6BF4}" presName="compNode" presStyleCnt="0"/>
      <dgm:spPr/>
    </dgm:pt>
    <dgm:pt modelId="{6DA367FF-A44B-4BA5-B32B-446CCD035E3D}" type="pres">
      <dgm:prSet presAssocID="{6CBAAFB1-85C1-476B-A2FA-84A25B1A6BF4}" presName="aNode" presStyleLbl="bgShp" presStyleIdx="2" presStyleCnt="3"/>
      <dgm:spPr/>
    </dgm:pt>
    <dgm:pt modelId="{7FF06E60-0744-4A62-A562-680F6DCEA06F}" type="pres">
      <dgm:prSet presAssocID="{6CBAAFB1-85C1-476B-A2FA-84A25B1A6BF4}" presName="textNode" presStyleLbl="bgShp" presStyleIdx="2" presStyleCnt="3"/>
      <dgm:spPr/>
    </dgm:pt>
    <dgm:pt modelId="{349AAA13-B251-478A-85AA-535EC8A38F1E}" type="pres">
      <dgm:prSet presAssocID="{6CBAAFB1-85C1-476B-A2FA-84A25B1A6BF4}" presName="compChildNode" presStyleCnt="0"/>
      <dgm:spPr/>
    </dgm:pt>
    <dgm:pt modelId="{3A89DEDD-DD4E-4D6D-A91C-9978557806B0}" type="pres">
      <dgm:prSet presAssocID="{6CBAAFB1-85C1-476B-A2FA-84A25B1A6BF4}" presName="theInnerList" presStyleCnt="0"/>
      <dgm:spPr/>
    </dgm:pt>
    <dgm:pt modelId="{2C749EEF-790F-4022-AAD2-D223E8B13FD5}" type="pres">
      <dgm:prSet presAssocID="{A0D9D56A-91CB-4808-B2D1-C2036C6A11C7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64329B39-35D2-4CD8-95AD-CBCC76BBDC10}" srcId="{D9DC416D-6B4A-478C-926B-0A7753BB979E}" destId="{25F84FF1-1BF8-4E7E-A99E-BA194F8CF0E1}" srcOrd="1" destOrd="0" parTransId="{7829825D-C2F9-4706-B6D9-05881A472D27}" sibTransId="{7AB1420A-86B9-47C2-8EB3-AB4F59E2D792}"/>
    <dgm:cxn modelId="{50A2003D-25A5-4AEF-AAB2-991ACDE0AD7C}" srcId="{D9DC416D-6B4A-478C-926B-0A7753BB979E}" destId="{D4F731CA-A8D0-48AD-A8FC-0A2616B4734C}" srcOrd="0" destOrd="0" parTransId="{C1123845-7A62-43F8-849C-69EE6F06A66C}" sibTransId="{A56A4288-9E7F-4EAD-B13C-EA44EA8BB493}"/>
    <dgm:cxn modelId="{972D3064-0077-4A73-8468-B220842F234F}" type="presOf" srcId="{D4F731CA-A8D0-48AD-A8FC-0A2616B4734C}" destId="{F4006A0B-ED19-495F-92A2-EAB24CD35D31}" srcOrd="0" destOrd="0" presId="urn:microsoft.com/office/officeart/2005/8/layout/lProcess2"/>
    <dgm:cxn modelId="{E1CAC964-B19A-42C8-8BFA-FD3003534678}" type="presOf" srcId="{6CBAAFB1-85C1-476B-A2FA-84A25B1A6BF4}" destId="{6DA367FF-A44B-4BA5-B32B-446CCD035E3D}" srcOrd="0" destOrd="0" presId="urn:microsoft.com/office/officeart/2005/8/layout/lProcess2"/>
    <dgm:cxn modelId="{0F7D9475-DE22-4E1E-97A8-848C61344E82}" srcId="{D9DC416D-6B4A-478C-926B-0A7753BB979E}" destId="{6CBAAFB1-85C1-476B-A2FA-84A25B1A6BF4}" srcOrd="2" destOrd="0" parTransId="{3376227A-0AEC-4D62-8090-BF00247DB2D5}" sibTransId="{210D222D-53CE-4E41-8BCB-F55A3597F748}"/>
    <dgm:cxn modelId="{927A957A-8A37-43FF-B068-11A8D2AD0CAF}" type="presOf" srcId="{6CBAAFB1-85C1-476B-A2FA-84A25B1A6BF4}" destId="{7FF06E60-0744-4A62-A562-680F6DCEA06F}" srcOrd="1" destOrd="0" presId="urn:microsoft.com/office/officeart/2005/8/layout/lProcess2"/>
    <dgm:cxn modelId="{6B25C17A-EB8B-4640-B0DB-08BED082FB0F}" srcId="{25F84FF1-1BF8-4E7E-A99E-BA194F8CF0E1}" destId="{7E47C851-3AA4-49C5-8DEC-87858874B018}" srcOrd="0" destOrd="0" parTransId="{B4C1D0A6-B4D0-4A0C-BCC2-BCA3BF565615}" sibTransId="{487B8E09-81B6-453C-83AF-A19D9CC4D906}"/>
    <dgm:cxn modelId="{D1189D81-E0DC-42B3-9DA9-6C868342183B}" type="presOf" srcId="{D9DC416D-6B4A-478C-926B-0A7753BB979E}" destId="{B156A6AF-BC5E-4052-A381-A9ACC82C0B29}" srcOrd="0" destOrd="0" presId="urn:microsoft.com/office/officeart/2005/8/layout/lProcess2"/>
    <dgm:cxn modelId="{48E90083-5838-44B1-B2FC-1B77BD051632}" type="presOf" srcId="{A0D9D56A-91CB-4808-B2D1-C2036C6A11C7}" destId="{2C749EEF-790F-4022-AAD2-D223E8B13FD5}" srcOrd="0" destOrd="0" presId="urn:microsoft.com/office/officeart/2005/8/layout/lProcess2"/>
    <dgm:cxn modelId="{B9F7CD88-AD2F-4A82-886B-0DD7704925A3}" type="presOf" srcId="{25F84FF1-1BF8-4E7E-A99E-BA194F8CF0E1}" destId="{D9223734-1ED1-4C01-8A3E-91C22B130705}" srcOrd="0" destOrd="0" presId="urn:microsoft.com/office/officeart/2005/8/layout/lProcess2"/>
    <dgm:cxn modelId="{DD9C12A5-618E-4350-9D14-4DC62D9B9DAA}" srcId="{D4F731CA-A8D0-48AD-A8FC-0A2616B4734C}" destId="{8199B3F6-388D-49C2-9126-549EDE662389}" srcOrd="0" destOrd="0" parTransId="{3CCB995D-C870-4FB0-9D93-9AB98AA14C4A}" sibTransId="{C73F35BF-F69D-4155-956D-488CE6AA16D3}"/>
    <dgm:cxn modelId="{550D99A9-D5E5-4978-8CB3-E94C7AD0E44C}" type="presOf" srcId="{25F84FF1-1BF8-4E7E-A99E-BA194F8CF0E1}" destId="{DD778083-ED2A-4F04-B89E-5EF9ACF6FA99}" srcOrd="1" destOrd="0" presId="urn:microsoft.com/office/officeart/2005/8/layout/lProcess2"/>
    <dgm:cxn modelId="{193D8BCC-0110-4DCD-8480-4351B93BABA2}" type="presOf" srcId="{8199B3F6-388D-49C2-9126-549EDE662389}" destId="{833A3EAC-B55B-452B-88EA-76E6309D8CB8}" srcOrd="0" destOrd="0" presId="urn:microsoft.com/office/officeart/2005/8/layout/lProcess2"/>
    <dgm:cxn modelId="{E2FAAECC-9B07-4471-806E-6D91CE69348C}" type="presOf" srcId="{D4F731CA-A8D0-48AD-A8FC-0A2616B4734C}" destId="{5F0F680B-44A3-4690-ABEA-3926071B2C09}" srcOrd="1" destOrd="0" presId="urn:microsoft.com/office/officeart/2005/8/layout/lProcess2"/>
    <dgm:cxn modelId="{AE3A1CF1-2399-41CE-B976-CD21A70FD93B}" type="presOf" srcId="{7E47C851-3AA4-49C5-8DEC-87858874B018}" destId="{F77F6453-3329-462D-88B7-A9C72B4D931E}" srcOrd="0" destOrd="0" presId="urn:microsoft.com/office/officeart/2005/8/layout/lProcess2"/>
    <dgm:cxn modelId="{AC0AD0FA-2E09-4F5E-B4EB-651226D24BC0}" srcId="{6CBAAFB1-85C1-476B-A2FA-84A25B1A6BF4}" destId="{A0D9D56A-91CB-4808-B2D1-C2036C6A11C7}" srcOrd="0" destOrd="0" parTransId="{5B23585A-66FC-4203-83CE-6FEC17A81F1B}" sibTransId="{B06068D6-FFDE-43E6-A5CC-A40432A5B7CF}"/>
    <dgm:cxn modelId="{4973D4F4-7EAD-4354-9220-794E15E7DACE}" type="presParOf" srcId="{B156A6AF-BC5E-4052-A381-A9ACC82C0B29}" destId="{BB3BBE25-715F-4688-AB35-1A017AF71FD6}" srcOrd="0" destOrd="0" presId="urn:microsoft.com/office/officeart/2005/8/layout/lProcess2"/>
    <dgm:cxn modelId="{7ADF2D34-EFDD-4E8F-929B-4E68C37178A1}" type="presParOf" srcId="{BB3BBE25-715F-4688-AB35-1A017AF71FD6}" destId="{F4006A0B-ED19-495F-92A2-EAB24CD35D31}" srcOrd="0" destOrd="0" presId="urn:microsoft.com/office/officeart/2005/8/layout/lProcess2"/>
    <dgm:cxn modelId="{34D9D7CA-90B3-47B6-AE26-022B43FB2739}" type="presParOf" srcId="{BB3BBE25-715F-4688-AB35-1A017AF71FD6}" destId="{5F0F680B-44A3-4690-ABEA-3926071B2C09}" srcOrd="1" destOrd="0" presId="urn:microsoft.com/office/officeart/2005/8/layout/lProcess2"/>
    <dgm:cxn modelId="{05312C39-806C-4514-A815-DD23F80B561F}" type="presParOf" srcId="{BB3BBE25-715F-4688-AB35-1A017AF71FD6}" destId="{CBCF459B-CC05-4C35-A8C6-9375BBA1D5F7}" srcOrd="2" destOrd="0" presId="urn:microsoft.com/office/officeart/2005/8/layout/lProcess2"/>
    <dgm:cxn modelId="{BE674A59-23EA-41A2-8044-A3AF14042ECF}" type="presParOf" srcId="{CBCF459B-CC05-4C35-A8C6-9375BBA1D5F7}" destId="{184D6FDB-4801-42F7-9CEC-CEE3837D918C}" srcOrd="0" destOrd="0" presId="urn:microsoft.com/office/officeart/2005/8/layout/lProcess2"/>
    <dgm:cxn modelId="{5011473A-F1F6-4FDC-BCF9-A73E0D9A5C98}" type="presParOf" srcId="{184D6FDB-4801-42F7-9CEC-CEE3837D918C}" destId="{833A3EAC-B55B-452B-88EA-76E6309D8CB8}" srcOrd="0" destOrd="0" presId="urn:microsoft.com/office/officeart/2005/8/layout/lProcess2"/>
    <dgm:cxn modelId="{A309F1D4-C48E-4992-9806-1C0443DADA4A}" type="presParOf" srcId="{B156A6AF-BC5E-4052-A381-A9ACC82C0B29}" destId="{494BE27E-CE33-4091-AFE9-D80CE7AD300D}" srcOrd="1" destOrd="0" presId="urn:microsoft.com/office/officeart/2005/8/layout/lProcess2"/>
    <dgm:cxn modelId="{5F7A136E-F477-4878-9A8A-0AC1920C9669}" type="presParOf" srcId="{B156A6AF-BC5E-4052-A381-A9ACC82C0B29}" destId="{6E021450-B28D-4B46-8B0C-1274B4FEFFB0}" srcOrd="2" destOrd="0" presId="urn:microsoft.com/office/officeart/2005/8/layout/lProcess2"/>
    <dgm:cxn modelId="{CD46F780-5693-4E37-B474-1DDA8C36A525}" type="presParOf" srcId="{6E021450-B28D-4B46-8B0C-1274B4FEFFB0}" destId="{D9223734-1ED1-4C01-8A3E-91C22B130705}" srcOrd="0" destOrd="0" presId="urn:microsoft.com/office/officeart/2005/8/layout/lProcess2"/>
    <dgm:cxn modelId="{52183367-344E-4326-8958-2A399C004C93}" type="presParOf" srcId="{6E021450-B28D-4B46-8B0C-1274B4FEFFB0}" destId="{DD778083-ED2A-4F04-B89E-5EF9ACF6FA99}" srcOrd="1" destOrd="0" presId="urn:microsoft.com/office/officeart/2005/8/layout/lProcess2"/>
    <dgm:cxn modelId="{F0F5CBD9-210E-4425-8F03-1B953E822B8F}" type="presParOf" srcId="{6E021450-B28D-4B46-8B0C-1274B4FEFFB0}" destId="{E68773CE-08B8-4667-B82C-B8A8022D90B5}" srcOrd="2" destOrd="0" presId="urn:microsoft.com/office/officeart/2005/8/layout/lProcess2"/>
    <dgm:cxn modelId="{FA8781D9-CAE5-4A15-B708-E738E7F89DB3}" type="presParOf" srcId="{E68773CE-08B8-4667-B82C-B8A8022D90B5}" destId="{1B9128BC-047C-4E94-8E23-E02262F14F94}" srcOrd="0" destOrd="0" presId="urn:microsoft.com/office/officeart/2005/8/layout/lProcess2"/>
    <dgm:cxn modelId="{C007CA75-3A32-4380-8100-51E614E04118}" type="presParOf" srcId="{1B9128BC-047C-4E94-8E23-E02262F14F94}" destId="{F77F6453-3329-462D-88B7-A9C72B4D931E}" srcOrd="0" destOrd="0" presId="urn:microsoft.com/office/officeart/2005/8/layout/lProcess2"/>
    <dgm:cxn modelId="{79BFCE24-E2A6-498B-95AA-C198EB6D553B}" type="presParOf" srcId="{B156A6AF-BC5E-4052-A381-A9ACC82C0B29}" destId="{0757C89A-D4C4-443F-842E-1712BD5BC68D}" srcOrd="3" destOrd="0" presId="urn:microsoft.com/office/officeart/2005/8/layout/lProcess2"/>
    <dgm:cxn modelId="{501B977B-1326-4F47-AD48-1F557F8602F9}" type="presParOf" srcId="{B156A6AF-BC5E-4052-A381-A9ACC82C0B29}" destId="{E467BBBD-536B-4FE9-BD91-16468370D5A1}" srcOrd="4" destOrd="0" presId="urn:microsoft.com/office/officeart/2005/8/layout/lProcess2"/>
    <dgm:cxn modelId="{FA20F66D-F5FA-454D-8F6F-FDA384FFAB02}" type="presParOf" srcId="{E467BBBD-536B-4FE9-BD91-16468370D5A1}" destId="{6DA367FF-A44B-4BA5-B32B-446CCD035E3D}" srcOrd="0" destOrd="0" presId="urn:microsoft.com/office/officeart/2005/8/layout/lProcess2"/>
    <dgm:cxn modelId="{445D8954-54DA-46E6-92D1-122DBE7AEF16}" type="presParOf" srcId="{E467BBBD-536B-4FE9-BD91-16468370D5A1}" destId="{7FF06E60-0744-4A62-A562-680F6DCEA06F}" srcOrd="1" destOrd="0" presId="urn:microsoft.com/office/officeart/2005/8/layout/lProcess2"/>
    <dgm:cxn modelId="{31377E7C-0921-4AD1-9B77-A790DC468C65}" type="presParOf" srcId="{E467BBBD-536B-4FE9-BD91-16468370D5A1}" destId="{349AAA13-B251-478A-85AA-535EC8A38F1E}" srcOrd="2" destOrd="0" presId="urn:microsoft.com/office/officeart/2005/8/layout/lProcess2"/>
    <dgm:cxn modelId="{CA3B9FC0-CF34-41B3-BFDF-26CFF9CCA22F}" type="presParOf" srcId="{349AAA13-B251-478A-85AA-535EC8A38F1E}" destId="{3A89DEDD-DD4E-4D6D-A91C-9978557806B0}" srcOrd="0" destOrd="0" presId="urn:microsoft.com/office/officeart/2005/8/layout/lProcess2"/>
    <dgm:cxn modelId="{0A7180D3-FAAB-4E2C-923C-8611A7CE33DF}" type="presParOf" srcId="{3A89DEDD-DD4E-4D6D-A91C-9978557806B0}" destId="{2C749EEF-790F-4022-AAD2-D223E8B13FD5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128363-6BE2-418E-8832-3C98AAC7EB95}">
      <dsp:nvSpPr>
        <dsp:cNvPr id="0" name=""/>
        <dsp:cNvSpPr/>
      </dsp:nvSpPr>
      <dsp:spPr>
        <a:xfrm>
          <a:off x="3391" y="56378"/>
          <a:ext cx="3307117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AI Vision</a:t>
          </a:r>
          <a:endParaRPr lang="en-IN" sz="2000" kern="1200" dirty="0"/>
        </a:p>
      </dsp:txBody>
      <dsp:txXfrm>
        <a:off x="3391" y="56378"/>
        <a:ext cx="3307117" cy="576000"/>
      </dsp:txXfrm>
    </dsp:sp>
    <dsp:sp modelId="{9147E62B-DA0D-40AB-BDED-9F1CF94B22E8}">
      <dsp:nvSpPr>
        <dsp:cNvPr id="0" name=""/>
        <dsp:cNvSpPr/>
      </dsp:nvSpPr>
      <dsp:spPr>
        <a:xfrm>
          <a:off x="3391" y="632378"/>
          <a:ext cx="3307117" cy="346770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You want a robotic assistant that can walk through halls, talk to patients, and decide which emergency needs attention first.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This robot is </a:t>
          </a:r>
          <a:r>
            <a:rPr lang="en-GB" sz="2000" kern="1200" dirty="0">
              <a:solidFill>
                <a:srgbClr val="C00000"/>
              </a:solidFill>
            </a:rPr>
            <a:t>mimicking human-like </a:t>
          </a:r>
          <a:r>
            <a:rPr lang="en-GB" sz="2000" kern="1200" dirty="0" err="1">
              <a:solidFill>
                <a:srgbClr val="C00000"/>
              </a:solidFill>
            </a:rPr>
            <a:t>behavior</a:t>
          </a:r>
          <a:r>
            <a:rPr lang="en-GB" sz="2000" kern="1200" dirty="0">
              <a:solidFill>
                <a:srgbClr val="C00000"/>
              </a:solidFill>
            </a:rPr>
            <a:t> and reasoning</a:t>
          </a:r>
          <a:r>
            <a:rPr lang="en-GB" sz="2000" kern="1200" dirty="0"/>
            <a:t>.</a:t>
          </a:r>
          <a:endParaRPr lang="en-IN" sz="2000" kern="1200" dirty="0"/>
        </a:p>
      </dsp:txBody>
      <dsp:txXfrm>
        <a:off x="3391" y="632378"/>
        <a:ext cx="3307117" cy="3467707"/>
      </dsp:txXfrm>
    </dsp:sp>
    <dsp:sp modelId="{E27B7B15-0A26-42D0-BCBB-A14FD12680A2}">
      <dsp:nvSpPr>
        <dsp:cNvPr id="0" name=""/>
        <dsp:cNvSpPr/>
      </dsp:nvSpPr>
      <dsp:spPr>
        <a:xfrm>
          <a:off x="3773505" y="56378"/>
          <a:ext cx="3307117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ML Engine</a:t>
          </a:r>
          <a:endParaRPr lang="en-IN" sz="2000" kern="1200" dirty="0"/>
        </a:p>
      </dsp:txBody>
      <dsp:txXfrm>
        <a:off x="3773505" y="56378"/>
        <a:ext cx="3307117" cy="576000"/>
      </dsp:txXfrm>
    </dsp:sp>
    <dsp:sp modelId="{D16320E4-C563-4A83-B375-71EC61FE4534}">
      <dsp:nvSpPr>
        <dsp:cNvPr id="0" name=""/>
        <dsp:cNvSpPr/>
      </dsp:nvSpPr>
      <dsp:spPr>
        <a:xfrm>
          <a:off x="3773505" y="632378"/>
          <a:ext cx="3307117" cy="346770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To make this robot useful, it needs to recognize diseases in X-rays. 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You don't program "</a:t>
          </a:r>
          <a:r>
            <a:rPr lang="en-GB" sz="2000" kern="1200" dirty="0">
              <a:solidFill>
                <a:srgbClr val="C00000"/>
              </a:solidFill>
            </a:rPr>
            <a:t>if pixel is red, it's a </a:t>
          </a:r>
          <a:r>
            <a:rPr lang="en-GB" sz="2000" kern="1200" dirty="0" err="1">
              <a:solidFill>
                <a:srgbClr val="C00000"/>
              </a:solidFill>
            </a:rPr>
            <a:t>tumor</a:t>
          </a:r>
          <a:r>
            <a:rPr lang="en-GB" sz="2000" kern="1200" dirty="0"/>
            <a:t>".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Instead, you feed it 50,000 X-rays so it can </a:t>
          </a:r>
          <a:r>
            <a:rPr lang="en-GB" sz="2000" i="1" kern="1200" dirty="0">
              <a:solidFill>
                <a:srgbClr val="C00000"/>
              </a:solidFill>
            </a:rPr>
            <a:t>learn</a:t>
          </a:r>
          <a:r>
            <a:rPr lang="en-GB" sz="2000" kern="1200" dirty="0">
              <a:solidFill>
                <a:srgbClr val="C00000"/>
              </a:solidFill>
            </a:rPr>
            <a:t> the patterns of a </a:t>
          </a:r>
          <a:r>
            <a:rPr lang="en-GB" sz="2000" kern="1200" dirty="0" err="1">
              <a:solidFill>
                <a:srgbClr val="C00000"/>
              </a:solidFill>
            </a:rPr>
            <a:t>tumor</a:t>
          </a:r>
          <a:r>
            <a:rPr lang="en-GB" sz="2000" kern="1200" dirty="0">
              <a:solidFill>
                <a:srgbClr val="C00000"/>
              </a:solidFill>
            </a:rPr>
            <a:t> on its own</a:t>
          </a:r>
          <a:r>
            <a:rPr lang="en-GB" sz="2000" kern="1200" dirty="0"/>
            <a:t>.</a:t>
          </a:r>
          <a:endParaRPr lang="en-IN" sz="2000" kern="1200" dirty="0"/>
        </a:p>
      </dsp:txBody>
      <dsp:txXfrm>
        <a:off x="3773505" y="632378"/>
        <a:ext cx="3307117" cy="3467707"/>
      </dsp:txXfrm>
    </dsp:sp>
    <dsp:sp modelId="{4F3B034F-780F-4118-90B6-A076D60DFC61}">
      <dsp:nvSpPr>
        <dsp:cNvPr id="0" name=""/>
        <dsp:cNvSpPr/>
      </dsp:nvSpPr>
      <dsp:spPr>
        <a:xfrm>
          <a:off x="7543618" y="56378"/>
          <a:ext cx="3307117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Data Science Insights</a:t>
          </a:r>
          <a:endParaRPr lang="en-IN" sz="2000" kern="1200" dirty="0"/>
        </a:p>
      </dsp:txBody>
      <dsp:txXfrm>
        <a:off x="7543618" y="56378"/>
        <a:ext cx="3307117" cy="576000"/>
      </dsp:txXfrm>
    </dsp:sp>
    <dsp:sp modelId="{9F0CD806-E99D-448A-9B5F-7E7F51E0B6A6}">
      <dsp:nvSpPr>
        <dsp:cNvPr id="0" name=""/>
        <dsp:cNvSpPr/>
      </dsp:nvSpPr>
      <dsp:spPr>
        <a:xfrm>
          <a:off x="7543618" y="632378"/>
          <a:ext cx="3307117" cy="3467707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Meanwhile, the hospital administrator asks, </a:t>
          </a:r>
          <a:r>
            <a:rPr lang="en-GB" sz="2000" i="1" kern="1200" dirty="0">
              <a:solidFill>
                <a:srgbClr val="C00000"/>
              </a:solidFill>
            </a:rPr>
            <a:t>"Why are patients waiting so long on Tuesdays?"</a:t>
          </a:r>
          <a:endParaRPr lang="en-IN" sz="2000" kern="1200" dirty="0">
            <a:solidFill>
              <a:srgbClr val="C00000"/>
            </a:solidFill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You dive into the logs, </a:t>
          </a:r>
          <a:r>
            <a:rPr lang="en-GB" sz="2000" kern="1200" dirty="0">
              <a:solidFill>
                <a:srgbClr val="C00000"/>
              </a:solidFill>
            </a:rPr>
            <a:t>clean up the messy data, create visualizations, and discover </a:t>
          </a:r>
          <a:r>
            <a:rPr lang="en-GB" sz="2000" kern="1200" dirty="0"/>
            <a:t>that a specific lab is understaffed during lunch hours. You've just </a:t>
          </a:r>
          <a:r>
            <a:rPr lang="en-GB" sz="2000" kern="1200" dirty="0">
              <a:solidFill>
                <a:srgbClr val="C00000"/>
              </a:solidFill>
            </a:rPr>
            <a:t>extracted a "business insight</a:t>
          </a:r>
          <a:r>
            <a:rPr lang="en-GB" sz="2000" kern="1200" dirty="0"/>
            <a:t>" from data.</a:t>
          </a:r>
          <a:endParaRPr lang="en-IN" sz="2000" kern="1200" dirty="0"/>
        </a:p>
      </dsp:txBody>
      <dsp:txXfrm>
        <a:off x="7543618" y="632378"/>
        <a:ext cx="3307117" cy="34677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006A0B-ED19-495F-92A2-EAB24CD35D31}">
      <dsp:nvSpPr>
        <dsp:cNvPr id="0" name=""/>
        <dsp:cNvSpPr/>
      </dsp:nvSpPr>
      <dsp:spPr>
        <a:xfrm>
          <a:off x="1242" y="0"/>
          <a:ext cx="3230027" cy="36384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AI is the "</a:t>
          </a:r>
          <a:r>
            <a:rPr lang="en-GB" sz="3200" b="1" kern="1200" dirty="0">
              <a:solidFill>
                <a:srgbClr val="C00000"/>
              </a:solidFill>
            </a:rPr>
            <a:t>What</a:t>
          </a:r>
          <a:r>
            <a:rPr lang="en-GB" sz="3200" b="1" kern="1200" dirty="0"/>
            <a:t>":</a:t>
          </a:r>
          <a:endParaRPr lang="en-GB" sz="3200" kern="1200" dirty="0"/>
        </a:p>
      </dsp:txBody>
      <dsp:txXfrm>
        <a:off x="1242" y="0"/>
        <a:ext cx="3230027" cy="1091526"/>
      </dsp:txXfrm>
    </dsp:sp>
    <dsp:sp modelId="{833A3EAC-B55B-452B-88EA-76E6309D8CB8}">
      <dsp:nvSpPr>
        <dsp:cNvPr id="0" name=""/>
        <dsp:cNvSpPr/>
      </dsp:nvSpPr>
      <dsp:spPr>
        <a:xfrm>
          <a:off x="324245" y="1091526"/>
          <a:ext cx="2584022" cy="23649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The goal of making a machine "smart".</a:t>
          </a:r>
        </a:p>
      </dsp:txBody>
      <dsp:txXfrm>
        <a:off x="393513" y="1160794"/>
        <a:ext cx="2445486" cy="2226438"/>
      </dsp:txXfrm>
    </dsp:sp>
    <dsp:sp modelId="{D9223734-1ED1-4C01-8A3E-91C22B130705}">
      <dsp:nvSpPr>
        <dsp:cNvPr id="0" name=""/>
        <dsp:cNvSpPr/>
      </dsp:nvSpPr>
      <dsp:spPr>
        <a:xfrm>
          <a:off x="3473522" y="0"/>
          <a:ext cx="3230027" cy="36384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ML is the "</a:t>
          </a:r>
          <a:r>
            <a:rPr lang="en-GB" sz="3200" b="1" kern="1200" dirty="0">
              <a:solidFill>
                <a:srgbClr val="C00000"/>
              </a:solidFill>
            </a:rPr>
            <a:t>How</a:t>
          </a:r>
          <a:r>
            <a:rPr lang="en-GB" sz="3200" b="1" kern="1200" dirty="0"/>
            <a:t>":</a:t>
          </a:r>
          <a:endParaRPr lang="en-GB" sz="3200" kern="1200" dirty="0"/>
        </a:p>
      </dsp:txBody>
      <dsp:txXfrm>
        <a:off x="3473522" y="0"/>
        <a:ext cx="3230027" cy="1091526"/>
      </dsp:txXfrm>
    </dsp:sp>
    <dsp:sp modelId="{F77F6453-3329-462D-88B7-A9C72B4D931E}">
      <dsp:nvSpPr>
        <dsp:cNvPr id="0" name=""/>
        <dsp:cNvSpPr/>
      </dsp:nvSpPr>
      <dsp:spPr>
        <a:xfrm>
          <a:off x="3796524" y="1091526"/>
          <a:ext cx="2584022" cy="236497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 mathematical engine that allows the machine to learn.</a:t>
          </a:r>
          <a:endParaRPr lang="en-GB" sz="2600" kern="1200" dirty="0"/>
        </a:p>
      </dsp:txBody>
      <dsp:txXfrm>
        <a:off x="3865792" y="1160794"/>
        <a:ext cx="2445486" cy="2226438"/>
      </dsp:txXfrm>
    </dsp:sp>
    <dsp:sp modelId="{6DA367FF-A44B-4BA5-B32B-446CCD035E3D}">
      <dsp:nvSpPr>
        <dsp:cNvPr id="0" name=""/>
        <dsp:cNvSpPr/>
      </dsp:nvSpPr>
      <dsp:spPr>
        <a:xfrm>
          <a:off x="6945801" y="0"/>
          <a:ext cx="3230027" cy="36384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Data Science is the "</a:t>
          </a:r>
          <a:r>
            <a:rPr lang="en-GB" sz="3200" b="1" kern="1200" dirty="0">
              <a:solidFill>
                <a:srgbClr val="C00000"/>
              </a:solidFill>
            </a:rPr>
            <a:t>Why</a:t>
          </a:r>
          <a:r>
            <a:rPr lang="en-GB" sz="3200" b="1" kern="1200" dirty="0"/>
            <a:t>":</a:t>
          </a:r>
          <a:endParaRPr lang="en-GB" sz="3200" kern="1200" dirty="0"/>
        </a:p>
      </dsp:txBody>
      <dsp:txXfrm>
        <a:off x="6945801" y="0"/>
        <a:ext cx="3230027" cy="1091526"/>
      </dsp:txXfrm>
    </dsp:sp>
    <dsp:sp modelId="{2C749EEF-790F-4022-AAD2-D223E8B13FD5}">
      <dsp:nvSpPr>
        <dsp:cNvPr id="0" name=""/>
        <dsp:cNvSpPr/>
      </dsp:nvSpPr>
      <dsp:spPr>
        <a:xfrm>
          <a:off x="7268804" y="1091526"/>
          <a:ext cx="2584022" cy="23649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040" tIns="49530" rIns="6604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The holistic process of using data (including ML) to answer specific questions.</a:t>
          </a:r>
          <a:endParaRPr lang="en-GB" sz="2600" kern="1200" dirty="0"/>
        </a:p>
      </dsp:txBody>
      <dsp:txXfrm>
        <a:off x="7338072" y="1160794"/>
        <a:ext cx="2445486" cy="2226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8F879-319F-46BE-A287-F89F8174776D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1F2E0-A3AF-497F-AF60-7D1EA37A94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8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309F-0F2E-484C-B43F-FA9A73BFF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6F155-A8BF-479F-8DE8-9EC3B880C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115F8-E9D0-4207-B05F-F8796D2B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6E65-1881-4999-B58F-3230C4CB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0C7D0-3C63-4E45-8653-C1290DA0B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2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9C99-69A3-445B-A297-D2F143B0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97CC-ACC2-4A3E-AACE-28A2FC958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21D45-6A19-40A6-9E78-1F7485D59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2418-3911-4BE7-812F-B47886B3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A5D2E-564A-4165-9F39-A94590A1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94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8D34A-3ED9-4E0E-AC3F-E98842CD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0EF9-CB54-4FBA-A7C5-C37499EC5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78155-BBCE-41AA-BDFF-951D47E5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6315-3707-4572-8F56-CE2F4B85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E36A-2BAF-49F9-B275-209AB8FE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70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8264-8FB7-4FAA-88EE-0ACF04B7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A26D-67BF-4692-BB9C-93A67947C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7354B-C38A-4914-9660-F0A09E78C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5A7A5-45BA-45F0-B95B-56C1D37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5FCD7-F87D-4AA2-BEE2-4DD21F7B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F75BA-F41F-4C59-AAAD-A3E06711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78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8E9B-B8CB-4CD3-A501-185889E3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7F121-431A-4B32-8774-954175586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C4AE6-EDA0-4AC7-84E2-60E077125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74F95-D0E6-4809-A5C3-F3EC74DCD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173A5-667D-4645-95E0-48EF7CD1F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3FC8C-6BB3-46D7-A319-722C3B27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D07CA-1F53-48BA-A0D9-10331F8A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56825-7F63-4520-BEF6-5F1EF756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79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A287-DA0F-4B5B-BB4F-CCAFB2FC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078DE-4C2A-43B6-AA20-AE74234A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BBD8F-38E2-44B0-A6D8-0E3B9F81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2FC11-5C23-4168-9304-0004F135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3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48E08B-A059-4F44-A9C3-69989C075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300D1-69EB-424C-8A19-8A48AA6E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85DF9-8E32-42CD-9DC0-4DC9FC5E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49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DE41-7D34-4628-99BC-316FEABE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B28A4-768B-45DE-A946-0AF2F8D9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2D7AD-CA68-4315-8A44-AEBB2D167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F3ACB-4A0D-47D8-8874-6C2DF208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49881-3949-4098-AC6B-4296BF25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FB6FF-1692-453E-A2D0-325F76CB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818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37FA-9461-46F1-924B-ECB75A86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E7F1B-B64F-4359-A95A-621088E6C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EC747-3CF6-4718-A1B6-ED4334582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AAA85-35BD-4937-8EF6-BD949EB2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9940E-243C-4014-881A-50BE80F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F40E4-683C-40B6-B5A2-8AE16BBC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00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2A50-34D1-458F-813C-3E04086C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D3888-1B77-4DDE-A87A-508C15CF6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7029-4584-499C-8F5F-06C65FF8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5FE10-E6C7-462F-A639-F15EBD66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4F3B-5C0F-46A3-9A35-2A3C1C35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9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84E508-2F45-4442-9894-F74D7FE9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04802-0B98-486D-8821-9E829B849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B4213-998C-4F97-BE0D-DFEAB9D9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84013-E00A-40E9-A7A6-C77A6081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8D303-9AF8-4C0B-ACB7-648145CE7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004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77A07-64D1-40DA-ACD8-AC4A514A8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C2629-FF8E-40C3-AE45-0939A3E7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4B13F-3960-4A60-B7C1-A8C86D7F2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3BB6C-610C-45E8-9629-6789F53623E3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A227E-00C3-4ED0-870A-4EE2FED0C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DB23-5CF2-4B10-B7A8-DE412D17D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82B72-2E71-4BE5-A0B2-55AFA3BB8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94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datacamp.com/blog/what-is-a-generative-mode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F4D4-5818-473B-AAD5-4E8450BB08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1: </a:t>
            </a:r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Foundation (Lecture 2)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635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3284-B02D-C0EC-CA6A-581B3D57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4DCA-8579-CCE5-E4C6-8C41F2564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is a type of Machine Learning where the model is trained on labeled data?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Unsupervised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Reinforcement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Deep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51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76A6-DF14-B4B5-894D-81AED4B0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B204-A0D3-32B7-0E83-01A925BC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6AFF-EC59-3E3F-7A13-DDDBE23E3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type of Machine Learning is used when an agent learns by interacting with the environment to maximize a reward?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Unsupervised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Reinforcement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Semi-Supervised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66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7465-D5AD-770A-7D0B-C2EB79B05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6BCB-4905-A631-BFF8-75101C53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723B8-D61E-3E59-5ACE-350EECFBD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 where the robot improves performance through trial and error belongs to which type?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Unsupervised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Reinforcement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Semi-Supervised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826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218D1-0760-A98E-BCCF-8B02BCFA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F64F12-C3E0-8481-F672-4EB842C6C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14"/>
          <a:stretch>
            <a:fillRect/>
          </a:stretch>
        </p:blipFill>
        <p:spPr>
          <a:xfrm>
            <a:off x="-1" y="1281952"/>
            <a:ext cx="12192001" cy="5576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FF8BB6-38AC-0AA0-2551-CBBDAE118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76464"/>
            <a:ext cx="9144000" cy="705488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</a:rPr>
              <a:t>AI vs ML vs Data Science</a:t>
            </a:r>
          </a:p>
        </p:txBody>
      </p:sp>
    </p:spTree>
    <p:extLst>
      <p:ext uri="{BB962C8B-B14F-4D97-AF65-F5344CB8AC3E}">
        <p14:creationId xmlns:p14="http://schemas.microsoft.com/office/powerpoint/2010/main" val="156388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CF44C24-20F7-8806-85A9-E0AA6EDE2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80" y="773805"/>
            <a:ext cx="10001839" cy="575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05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489F6-A6E5-0570-404D-91E75A51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1271"/>
            <a:ext cx="10515600" cy="781261"/>
          </a:xfrm>
        </p:spPr>
        <p:txBody>
          <a:bodyPr/>
          <a:lstStyle/>
          <a:p>
            <a:r>
              <a:rPr lang="en-US" dirty="0"/>
              <a:t>The story of a </a:t>
            </a:r>
            <a:r>
              <a:rPr lang="en-US" dirty="0">
                <a:solidFill>
                  <a:srgbClr val="C00000"/>
                </a:solidFill>
              </a:rPr>
              <a:t>Smart Hospital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55261-5E20-A629-7BDA-3C3F6FA3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Imagine you are building a futuristic “</a:t>
            </a:r>
            <a:r>
              <a:rPr lang="en-GB" b="1" dirty="0">
                <a:solidFill>
                  <a:srgbClr val="C00000"/>
                </a:solidFill>
              </a:rPr>
              <a:t>Smart Hospital</a:t>
            </a:r>
            <a:r>
              <a:rPr lang="en-GB" dirty="0"/>
              <a:t>”.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09BB730-14F3-55AA-3CFF-47711A477E4B}"/>
              </a:ext>
            </a:extLst>
          </p:cNvPr>
          <p:cNvGraphicFramePr/>
          <p:nvPr/>
        </p:nvGraphicFramePr>
        <p:xfrm>
          <a:off x="838200" y="2473377"/>
          <a:ext cx="10854128" cy="415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293B3FAB-8E24-45B2-527F-E1808F81F95C}"/>
              </a:ext>
            </a:extLst>
          </p:cNvPr>
          <p:cNvSpPr txBox="1">
            <a:spLocks/>
          </p:cNvSpPr>
          <p:nvPr/>
        </p:nvSpPr>
        <p:spPr>
          <a:xfrm>
            <a:off x="1524000" y="495783"/>
            <a:ext cx="9144000" cy="70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r>
              <a:rPr lang="en-IN" sz="4000" dirty="0">
                <a:solidFill>
                  <a:srgbClr val="C00000"/>
                </a:solidFill>
              </a:rPr>
              <a:t>AI vs ML vs Data Science</a:t>
            </a:r>
          </a:p>
        </p:txBody>
      </p:sp>
    </p:spTree>
    <p:extLst>
      <p:ext uri="{BB962C8B-B14F-4D97-AF65-F5344CB8AC3E}">
        <p14:creationId xmlns:p14="http://schemas.microsoft.com/office/powerpoint/2010/main" val="287069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5D8B-4DBF-7FA3-DE68-4B1006E1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E33D5-D7CD-CAC1-9085-16CF48DA5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1501" y="390549"/>
            <a:ext cx="9144000" cy="705488"/>
          </a:xfrm>
        </p:spPr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</a:rPr>
              <a:t>AI vs ML vs Data Science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0C474-2230-5845-DD1B-2BDFE41D2DF2}"/>
              </a:ext>
            </a:extLst>
          </p:cNvPr>
          <p:cNvSpPr txBox="1"/>
          <p:nvPr/>
        </p:nvSpPr>
        <p:spPr>
          <a:xfrm>
            <a:off x="4998" y="1096037"/>
            <a:ext cx="12187002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GB" sz="2000" b="1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these fields overlap significantly, their core objectives and methodologies differ. Here is a breakdown…</a:t>
            </a:r>
            <a:endParaRPr lang="en-IN" sz="2000" b="1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955018-6128-3927-4DF6-20455785C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4777"/>
              </p:ext>
            </p:extLst>
          </p:nvPr>
        </p:nvGraphicFramePr>
        <p:xfrm>
          <a:off x="618761" y="1748250"/>
          <a:ext cx="10949480" cy="4971304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015345">
                  <a:extLst>
                    <a:ext uri="{9D8B030D-6E8A-4147-A177-3AD203B41FA5}">
                      <a16:colId xmlns:a16="http://schemas.microsoft.com/office/drawing/2014/main" val="1177373121"/>
                    </a:ext>
                  </a:extLst>
                </a:gridCol>
                <a:gridCol w="3459395">
                  <a:extLst>
                    <a:ext uri="{9D8B030D-6E8A-4147-A177-3AD203B41FA5}">
                      <a16:colId xmlns:a16="http://schemas.microsoft.com/office/drawing/2014/main" val="3272603142"/>
                    </a:ext>
                  </a:extLst>
                </a:gridCol>
                <a:gridCol w="2737370">
                  <a:extLst>
                    <a:ext uri="{9D8B030D-6E8A-4147-A177-3AD203B41FA5}">
                      <a16:colId xmlns:a16="http://schemas.microsoft.com/office/drawing/2014/main" val="2815293339"/>
                    </a:ext>
                  </a:extLst>
                </a:gridCol>
                <a:gridCol w="2737370">
                  <a:extLst>
                    <a:ext uri="{9D8B030D-6E8A-4147-A177-3AD203B41FA5}">
                      <a16:colId xmlns:a16="http://schemas.microsoft.com/office/drawing/2014/main" val="545243933"/>
                    </a:ext>
                  </a:extLst>
                </a:gridCol>
              </a:tblGrid>
              <a:tr h="464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Feature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Artificial Intelligence (AI)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Machine Learning (ML)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 Science (DS)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33916"/>
                  </a:ext>
                </a:extLst>
              </a:tr>
              <a:tr h="89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Core Definition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Systems that mimic human intelligence to perform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 subset of AI that learns patterns from data without explicit programming.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An interdisciplinary field used to extract insights and "meaning" from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618508"/>
                  </a:ext>
                </a:extLst>
              </a:tr>
              <a:tr h="89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Primary Goal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To create "smart" machines that can reason and act.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To build models that improve their performance as they see more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To find hidden patterns and actionable insights to solve problems.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486954"/>
                  </a:ext>
                </a:extLst>
              </a:tr>
              <a:tr h="1115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 Type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Often uses rules and logic; doesn't always need "big data".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Highly dependent on large, high-quality structured/unstructured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Handles the entire data pipeline (cleaning, processing, and analyzing).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25870"/>
                  </a:ext>
                </a:extLst>
              </a:tr>
              <a:tr h="707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Key Tools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Logic engines, Neural Networks, Robotics.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NumPy</a:t>
                      </a:r>
                      <a:r>
                        <a:rPr lang="en-IN" sz="1600"/>
                        <a:t>, Scikit-Learn, TensorFlow, PyTorch.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Pandas</a:t>
                      </a:r>
                      <a:r>
                        <a:rPr lang="en-IN" sz="1600"/>
                        <a:t>, </a:t>
                      </a:r>
                      <a:r>
                        <a:rPr lang="en-IN" sz="1600" b="1"/>
                        <a:t>Matplotlib</a:t>
                      </a:r>
                      <a:r>
                        <a:rPr lang="en-IN" sz="1600"/>
                        <a:t>, SQL, Tableau.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988849"/>
                  </a:ext>
                </a:extLst>
              </a:tr>
              <a:tr h="894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Real-World Example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 humanoid robot or a self-driving car's decision-making system.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A Netflix "Recommended for You" list or a Spam Filter.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Analyzing</a:t>
                      </a:r>
                      <a:r>
                        <a:rPr lang="en-GB" sz="1600" dirty="0"/>
                        <a:t> 5 years of sales data to predict next year's budget.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613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04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EAE1-6838-79E7-7021-B9884B1B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BB3E-FB9F-47ED-1BC4-81F9AA3B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3935"/>
            <a:ext cx="10515600" cy="877887"/>
          </a:xfrm>
        </p:spPr>
        <p:txBody>
          <a:bodyPr/>
          <a:lstStyle/>
          <a:p>
            <a:r>
              <a:rPr lang="en-US" dirty="0"/>
              <a:t>Key Takeaways!</a:t>
            </a: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9ACCA6D-AD14-885F-CB43-67204AD8B025}"/>
              </a:ext>
            </a:extLst>
          </p:cNvPr>
          <p:cNvGraphicFramePr/>
          <p:nvPr/>
        </p:nvGraphicFramePr>
        <p:xfrm>
          <a:off x="1176728" y="1766513"/>
          <a:ext cx="10177072" cy="3638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A706ECB0-FA63-4638-0C7B-0869FECB0D13}"/>
              </a:ext>
            </a:extLst>
          </p:cNvPr>
          <p:cNvSpPr txBox="1">
            <a:spLocks/>
          </p:cNvSpPr>
          <p:nvPr/>
        </p:nvSpPr>
        <p:spPr>
          <a:xfrm>
            <a:off x="1524000" y="446499"/>
            <a:ext cx="9144000" cy="70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r>
              <a:rPr lang="en-IN" sz="4000" dirty="0">
                <a:solidFill>
                  <a:srgbClr val="C00000"/>
                </a:solidFill>
              </a:rPr>
              <a:t>AI vs ML vs Data Science</a:t>
            </a:r>
          </a:p>
        </p:txBody>
      </p:sp>
    </p:spTree>
    <p:extLst>
      <p:ext uri="{BB962C8B-B14F-4D97-AF65-F5344CB8AC3E}">
        <p14:creationId xmlns:p14="http://schemas.microsoft.com/office/powerpoint/2010/main" val="144792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030B-29D6-46C8-98B4-92BBF548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36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CD28-7A89-4456-B462-A7B7C60C8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29" y="13637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can we apply supervised learning?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spam emails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of the above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22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030B-29D6-46C8-98B4-92BBF5482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1188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CD28-7A89-4456-B462-A7B7C60C8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1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can we apply supervised learning?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spam emails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</a:t>
            </a:r>
          </a:p>
          <a:p>
            <a:pPr marL="514350" indent="-514350">
              <a:buAutoNum type="alpha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pPr marL="514350" indent="-514350">
              <a:buAutoNum type="alphaUcPeriod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of the above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49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33A4-D9AD-55E0-87C1-AF46271A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9151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models: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53C3-AA2C-289A-F989-4B9162D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66" y="1410846"/>
            <a:ext cx="10949233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models summarize data using a fixed number of parameters, regardless of the size of the dataset. They make strong assumptions about the underlying data distribution.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fixed structure.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estimating a finite number of parameters.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assume a specific form of the function (like linear, Gaussian, etc.).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require less data to train.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and faster to compute.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6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7990-57DC-34AB-C172-5F782BF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06A86-0FB3-87BB-5DFB-99F7A45CE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10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(parameters: slope m and intercept b)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(mean μ and standard deviation σ)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30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1570-7BAC-92B3-49C6-230490F8C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Parametric Model Scenario: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real-estate firm predicts house prices using area, number of rooms, and location score.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Regression (Parametric)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Parametric?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is approximately LINEAR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Limited, well-defined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interpret coefficients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valuation tools, bank loan approvals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18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BBCD-1E51-164E-CCEB-E996F33F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1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interpretable.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when model assumptions are correct.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perform poorly if the model assumptions are wrong.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flexible enough for complex relationships.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57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74E9-62FD-D94E-7CB7-ACE038324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Models: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30DF4-AB1E-8FCE-E6D3-ECA09733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24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models do not assume a specific functional form for the relationship between input and output. The number of parameters can grow with the size of the data.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can capture complex patterns.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need more data to perform well.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adapt their complexity to the data.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slower to compute, especially on large datasets.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7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7FBF-F16D-5B98-9F91-3BEE96AD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EE769-8339-C497-887E-A9B18DC7D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/ Random forests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density estimation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036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7AE1-3B7F-1E67-BA94-6CFB0B04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Model Scenario: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C294-0BEA-66E6-A66C-7FAADB6DC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687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housing portal uses 20+ features including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neighborhood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trends, crime rate, school ratings, and buyer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 / Random Forest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Non-Parametric?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NON-LINEAR interactions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fixed equation assumed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real-estate recommendation platforms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64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A2E509-280A-9B9A-437A-4C4C1EDAC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485" y="637617"/>
            <a:ext cx="9175030" cy="61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7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5DD2-B6E5-0DE2-BB71-CA7242DD6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25" y="1065229"/>
            <a:ext cx="10571375" cy="511173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flexible, can model non-linear relationships.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assumptions about the underlying distribution.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large datasets to avoid overfitting.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less interpretable.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more expensive.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6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6DCE0D-7B12-4A97-769E-EF134BF7E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96250"/>
              </p:ext>
            </p:extLst>
          </p:nvPr>
        </p:nvGraphicFramePr>
        <p:xfrm>
          <a:off x="848412" y="1366887"/>
          <a:ext cx="10505388" cy="4051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1796">
                  <a:extLst>
                    <a:ext uri="{9D8B030D-6E8A-4147-A177-3AD203B41FA5}">
                      <a16:colId xmlns:a16="http://schemas.microsoft.com/office/drawing/2014/main" val="3905914668"/>
                    </a:ext>
                  </a:extLst>
                </a:gridCol>
                <a:gridCol w="3501796">
                  <a:extLst>
                    <a:ext uri="{9D8B030D-6E8A-4147-A177-3AD203B41FA5}">
                      <a16:colId xmlns:a16="http://schemas.microsoft.com/office/drawing/2014/main" val="2633351527"/>
                    </a:ext>
                  </a:extLst>
                </a:gridCol>
                <a:gridCol w="3501796">
                  <a:extLst>
                    <a:ext uri="{9D8B030D-6E8A-4147-A177-3AD203B41FA5}">
                      <a16:colId xmlns:a16="http://schemas.microsoft.com/office/drawing/2014/main" val="1349629520"/>
                    </a:ext>
                  </a:extLst>
                </a:gridCol>
              </a:tblGrid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Non-Parametric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37592"/>
                  </a:ext>
                </a:extLst>
              </a:tr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Grows with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675820"/>
                  </a:ext>
                </a:extLst>
              </a:tr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Assumptions about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(e.g., linearity)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 or 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611088"/>
                  </a:ext>
                </a:extLst>
              </a:tr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446529"/>
                  </a:ext>
                </a:extLst>
              </a:tr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49025"/>
                  </a:ext>
                </a:extLst>
              </a:tr>
              <a:tr h="522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037828"/>
                  </a:ext>
                </a:extLst>
              </a:tr>
              <a:tr h="9149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Linear/Logistic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KNN, Decision Trees, SVM (with kernel)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793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79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A1E9-31CB-BD3E-5620-1644F7AE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vs Discriminative Models: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BC32CE-6EC8-842E-7801-52C9F3C357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7483" y="1326005"/>
            <a:ext cx="9897034" cy="4351338"/>
          </a:xfrm>
        </p:spPr>
      </p:pic>
    </p:spTree>
    <p:extLst>
      <p:ext uri="{BB962C8B-B14F-4D97-AF65-F5344CB8AC3E}">
        <p14:creationId xmlns:p14="http://schemas.microsoft.com/office/powerpoint/2010/main" val="383845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6D70-C754-909E-E98A-A31295ED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Generative Models?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D4A1-6703-DEFE-5F77-F0FF9373C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260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set of example data points,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their associated labels,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generative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learns the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probability distribution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P(D, 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uses this underlying distribution to generate new data similar to the training examples or address classification problems.</a:t>
            </a:r>
          </a:p>
          <a:p>
            <a:pPr marL="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E6C543-FBD8-C72A-86AC-EC260B2EE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44" y="3294068"/>
            <a:ext cx="7754432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70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C2CC6-9CC4-47B3-D5D9-A114D47C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Discriminative Models?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B29B5-C606-726B-D608-A92E4B8B9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833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training dataset consisting of data points,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their associated labels,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discriminative model learns the conditional probability distribution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P(D | 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uses this conditional probability distribution to predict the class of new data points. 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81252-A9B2-D41B-E734-03E2F67FF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836" y="3933255"/>
            <a:ext cx="7716327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568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CBAB2-F85E-9516-1425-923EE0EA5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128" y="546636"/>
            <a:ext cx="7964325" cy="615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55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C424CC-ED3C-1B87-77EB-8ABFA26AA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920637"/>
              </p:ext>
            </p:extLst>
          </p:nvPr>
        </p:nvGraphicFramePr>
        <p:xfrm>
          <a:off x="838200" y="1417320"/>
          <a:ext cx="10515600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79950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03271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4279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Discriminative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021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they 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data is generated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to separate classes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862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P(X, Y)</a:t>
                      </a:r>
                      <a:r>
                        <a:rPr lang="es-E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</a:t>
                      </a:r>
                      <a:r>
                        <a:rPr lang="es-E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P(X | Y)</a:t>
                      </a:r>
                      <a:endParaRPr lang="es-E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P(Y | X)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879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boundary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021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generate data?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669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missing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24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with smaller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larger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22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309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Boundary-based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9957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62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7725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55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1241</Words>
  <Application>Microsoft Office PowerPoint</Application>
  <PresentationFormat>Widescreen</PresentationFormat>
  <Paragraphs>181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UNIT 1: Machine Learning Foundation (Lecture 2)</vt:lpstr>
      <vt:lpstr>Quiz Time:</vt:lpstr>
      <vt:lpstr>Quiz Time:</vt:lpstr>
      <vt:lpstr>Quiz Time:</vt:lpstr>
      <vt:lpstr>AI vs ML vs Data Science</vt:lpstr>
      <vt:lpstr>PowerPoint Presentation</vt:lpstr>
      <vt:lpstr>The story of a Smart Hospital</vt:lpstr>
      <vt:lpstr>AI vs ML vs Data Science</vt:lpstr>
      <vt:lpstr>Key Takeaways!</vt:lpstr>
      <vt:lpstr>MCQ:</vt:lpstr>
      <vt:lpstr>MCQ:</vt:lpstr>
      <vt:lpstr>Parametric models:</vt:lpstr>
      <vt:lpstr>Examples:</vt:lpstr>
      <vt:lpstr>PowerPoint Presentation</vt:lpstr>
      <vt:lpstr>PowerPoint Presentation</vt:lpstr>
      <vt:lpstr>Non-Parametric Models:</vt:lpstr>
      <vt:lpstr>Examples:</vt:lpstr>
      <vt:lpstr>Non-Parametric Model Scenario:</vt:lpstr>
      <vt:lpstr>PowerPoint Presentation</vt:lpstr>
      <vt:lpstr>PowerPoint Presentation</vt:lpstr>
      <vt:lpstr>PowerPoint Presentation</vt:lpstr>
      <vt:lpstr>Generative vs Discriminative Models:</vt:lpstr>
      <vt:lpstr>What Are Generative Models?</vt:lpstr>
      <vt:lpstr>What Are Discriminative Models?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1: Introduction to Machine Learning (Lecture 1)</dc:title>
  <dc:creator>Ramanjot</dc:creator>
  <cp:lastModifiedBy>Ramanjot Kaur</cp:lastModifiedBy>
  <cp:revision>81</cp:revision>
  <dcterms:created xsi:type="dcterms:W3CDTF">2024-01-18T09:28:43Z</dcterms:created>
  <dcterms:modified xsi:type="dcterms:W3CDTF">2026-01-27T03:11:34Z</dcterms:modified>
</cp:coreProperties>
</file>