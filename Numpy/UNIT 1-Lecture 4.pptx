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4075" r:id="rId3"/>
    <p:sldId id="4076" r:id="rId4"/>
    <p:sldId id="4077" r:id="rId5"/>
    <p:sldId id="4078" r:id="rId6"/>
    <p:sldId id="4079" r:id="rId7"/>
    <p:sldId id="4080" r:id="rId8"/>
    <p:sldId id="4081" r:id="rId9"/>
    <p:sldId id="4068" r:id="rId10"/>
    <p:sldId id="4067" r:id="rId11"/>
    <p:sldId id="4069" r:id="rId12"/>
    <p:sldId id="4070" r:id="rId13"/>
    <p:sldId id="4071" r:id="rId14"/>
    <p:sldId id="4072" r:id="rId15"/>
    <p:sldId id="4073" r:id="rId16"/>
    <p:sldId id="40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E8F879-319F-46BE-A287-F89F8174776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A1F2E0-A3AF-497F-AF60-7D1EA37A94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68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1309F-0F2E-484C-B43F-FA9A73BFF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6F155-A8BF-479F-8DE8-9EC3B880CD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115F8-E9D0-4207-B05F-F8796D2B1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BB6C-610C-45E8-9629-6789F53623E3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76E65-1881-4999-B58F-3230C4CB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0C7D0-3C63-4E45-8653-C1290DA0B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82B72-2E71-4BE5-A0B2-55AFA3BB8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820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29C99-69A3-445B-A297-D2F143B01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597CC-ACC2-4A3E-AACE-28A2FC958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21D45-6A19-40A6-9E78-1F7485D59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BB6C-610C-45E8-9629-6789F53623E3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62418-3911-4BE7-812F-B47886B39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A5D2E-564A-4165-9F39-A94590A1E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82B72-2E71-4BE5-A0B2-55AFA3BB8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942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8D34A-3ED9-4E0E-AC3F-E98842CDA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20EF9-CB54-4FBA-A7C5-C37499EC5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78155-BBCE-41AA-BDFF-951D47E51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BB6C-610C-45E8-9629-6789F53623E3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A6315-3707-4572-8F56-CE2F4B857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6E36A-2BAF-49F9-B275-209AB8FEE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82B72-2E71-4BE5-A0B2-55AFA3BB8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709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F8264-8FB7-4FAA-88EE-0ACF04B75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AA26D-67BF-4692-BB9C-93A67947CD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D7354B-C38A-4914-9660-F0A09E78CF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5A7A5-45BA-45F0-B95B-56C1D378B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BB6C-610C-45E8-9629-6789F53623E3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5FCD7-F87D-4AA2-BEE2-4DD21F7BF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F75BA-F41F-4C59-AAAD-A3E06711A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82B72-2E71-4BE5-A0B2-55AFA3BB8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778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38E9B-B8CB-4CD3-A501-185889E32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7F121-431A-4B32-8774-954175586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1C4AE6-EDA0-4AC7-84E2-60E077125F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F74F95-D0E6-4809-A5C3-F3EC74DCD6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173A5-667D-4645-95E0-48EF7CD1F0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53FC8C-6BB3-46D7-A319-722C3B279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BB6C-610C-45E8-9629-6789F53623E3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0D07CA-1F53-48BA-A0D9-10331F8A4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B56825-7F63-4520-BEF6-5F1EF756E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82B72-2E71-4BE5-A0B2-55AFA3BB8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795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A287-DA0F-4B5B-BB4F-CCAFB2FCE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7078DE-4C2A-43B6-AA20-AE74234A1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BB6C-610C-45E8-9629-6789F53623E3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0BBD8F-38E2-44B0-A6D8-0E3B9F815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82FC11-5C23-4168-9304-0004F1354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82B72-2E71-4BE5-A0B2-55AFA3BB8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431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48E08B-A059-4F44-A9C3-69989C075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BB6C-610C-45E8-9629-6789F53623E3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8300D1-69EB-424C-8A19-8A48AA6E2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85DF9-8E32-42CD-9DC0-4DC9FC5E1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82B72-2E71-4BE5-A0B2-55AFA3BB8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498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3DE41-7D34-4628-99BC-316FEABEE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B28A4-768B-45DE-A946-0AF2F8D96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02D7AD-CA68-4315-8A44-AEBB2D167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F3ACB-4A0D-47D8-8874-6C2DF2086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BB6C-610C-45E8-9629-6789F53623E3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949881-3949-4098-AC6B-4296BF25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FB6FF-1692-453E-A2D0-325F76CB0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82B72-2E71-4BE5-A0B2-55AFA3BB8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186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C37FA-9461-46F1-924B-ECB75A86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E7F1B-B64F-4359-A95A-621088E6C3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EC747-3CF6-4718-A1B6-ED4334582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AAA85-35BD-4937-8EF6-BD949EB2B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BB6C-610C-45E8-9629-6789F53623E3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9940E-243C-4014-881A-50BE80FDE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4F40E4-683C-40B6-B5A2-8AE16BBC1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82B72-2E71-4BE5-A0B2-55AFA3BB8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100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F2A50-34D1-458F-813C-3E04086C5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BD3888-1B77-4DDE-A87A-508C15CF6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67029-4584-499C-8F5F-06C65FF83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BB6C-610C-45E8-9629-6789F53623E3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5FE10-E6C7-462F-A639-F15EBD66A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04F3B-5C0F-46A3-9A35-2A3C1C35B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82B72-2E71-4BE5-A0B2-55AFA3BB8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099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84E508-2F45-4442-9894-F74D7FE91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004802-0B98-486D-8821-9E829B849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B4213-998C-4F97-BE0D-DFEAB9D9A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BB6C-610C-45E8-9629-6789F53623E3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84013-E00A-40E9-A7A6-C77A6081D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8D303-9AF8-4C0B-ACB7-648145CE7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82B72-2E71-4BE5-A0B2-55AFA3BB8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004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77A07-64D1-40DA-ACD8-AC4A514A8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C2629-FF8E-40C3-AE45-0939A3E7F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4B13F-3960-4A60-B7C1-A8C86D7F2E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3BB6C-610C-45E8-9629-6789F53623E3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A227E-00C3-4ED0-870A-4EE2FED0C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6DB23-5CF2-4B10-B7A8-DE412D17D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82B72-2E71-4BE5-A0B2-55AFA3BB8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94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8F4D4-5818-473B-AAD5-4E8450BB08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1: </a:t>
            </a:r>
            <a:r>
              <a:rPr lang="en-IN" sz="36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Foundation (Lecture 4)</a:t>
            </a: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635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C7AA4-3FEF-CB7D-E3BE-F92848B1B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TASK 1: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792DC-1631-A762-46A5-35C36EADA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hospital uses an AI model to detect COVID-19.</a:t>
            </a:r>
          </a:p>
          <a:p>
            <a:r>
              <a:rPr lang="en-US" dirty="0"/>
              <a:t>Total patients tested = 200</a:t>
            </a:r>
          </a:p>
          <a:p>
            <a:r>
              <a:rPr lang="en-US" dirty="0"/>
              <a:t>Actual COVID-positive patients = 50</a:t>
            </a:r>
          </a:p>
          <a:p>
            <a:r>
              <a:rPr lang="en-US" dirty="0"/>
              <a:t>The model correctly identified 45 COVID-positive patients</a:t>
            </a:r>
          </a:p>
          <a:p>
            <a:r>
              <a:rPr lang="en-US" dirty="0"/>
              <a:t>The model wrongly predicted 20 healthy patients as COVID-positive</a:t>
            </a:r>
          </a:p>
          <a:p>
            <a:r>
              <a:rPr lang="en-US" b="1" dirty="0"/>
              <a:t>Questions</a:t>
            </a:r>
          </a:p>
          <a:p>
            <a:r>
              <a:rPr lang="en-US" dirty="0"/>
              <a:t>Construct the confusion matrix</a:t>
            </a:r>
          </a:p>
          <a:p>
            <a:r>
              <a:rPr lang="en-US" dirty="0"/>
              <a:t>Calculate Accuracy</a:t>
            </a:r>
          </a:p>
          <a:p>
            <a:r>
              <a:rPr lang="en-US" dirty="0"/>
              <a:t>Calculate Precision</a:t>
            </a:r>
          </a:p>
          <a:p>
            <a:r>
              <a:rPr lang="en-US" dirty="0"/>
              <a:t>Calculate Recall</a:t>
            </a:r>
          </a:p>
          <a:p>
            <a:r>
              <a:rPr lang="en-US" dirty="0"/>
              <a:t>Calculate F1-Score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3904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C83ABF6-8E3E-4C6C-2762-0064425C33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68634"/>
            <a:ext cx="360226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TP = 45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FN = 50 − 45 = 5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FP = 20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TN = 200 − (45 + 5 + 20) = 130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46F69C-A883-A41D-25A8-913A980AFD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880209"/>
              </p:ext>
            </p:extLst>
          </p:nvPr>
        </p:nvGraphicFramePr>
        <p:xfrm>
          <a:off x="838200" y="3452654"/>
          <a:ext cx="10515600" cy="109728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5650031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0752390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244836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Predicted Positive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Predicted Negative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5344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Actual Positive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45 (TP)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 (FN)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4299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Actual Negative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 (FP)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130 (TN)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0924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6987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CFE4AB5-90A2-C17A-74F9-BD3D20CC9A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8774" y="1562903"/>
            <a:ext cx="417934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= (45 + 130) / 200 = 87.5%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Precision = 45 / (45 + 20) = 69.2%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 = 45 / (45 + 5) = 90%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F1-Score </a:t>
            </a:r>
            <a:r>
              <a:rPr lang="en-US" altLang="en-US" sz="1800" dirty="0">
                <a:latin typeface="Arial" panose="020B0604020202020204" pitchFamily="34" charset="0"/>
              </a:rPr>
              <a:t>=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78.3%</a:t>
            </a:r>
          </a:p>
        </p:txBody>
      </p:sp>
    </p:spTree>
    <p:extLst>
      <p:ext uri="{BB962C8B-B14F-4D97-AF65-F5344CB8AC3E}">
        <p14:creationId xmlns:p14="http://schemas.microsoft.com/office/powerpoint/2010/main" val="779076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2AAA7-7ECF-AFE7-62FF-B0ED16693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TASK 2: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90660-3960-63C3-23B9-372B620C3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ML model predicts whether a student will Pass an exam.</a:t>
            </a:r>
          </a:p>
          <a:p>
            <a:r>
              <a:rPr lang="en-US" dirty="0"/>
              <a:t>Total students = 150</a:t>
            </a:r>
          </a:p>
          <a:p>
            <a:r>
              <a:rPr lang="en-US" dirty="0"/>
              <a:t>Actual Pass = 90</a:t>
            </a:r>
          </a:p>
          <a:p>
            <a:r>
              <a:rPr lang="en-US" dirty="0"/>
              <a:t>Actual Fail = 60</a:t>
            </a:r>
          </a:p>
          <a:p>
            <a:r>
              <a:rPr lang="en-US" dirty="0"/>
              <a:t>Correctly predicted Pass = 75</a:t>
            </a:r>
          </a:p>
          <a:p>
            <a:r>
              <a:rPr lang="en-US" dirty="0"/>
              <a:t>Incorrectly predicted Pass = 15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9962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6E9994E-34CA-8554-67F1-9C3795928B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8456" y="1610036"/>
            <a:ext cx="228139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TP = 75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FP = 15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FN = 90 − 75 = 15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TN = 60 − 15 = 45</a:t>
            </a:r>
          </a:p>
        </p:txBody>
      </p:sp>
    </p:spTree>
    <p:extLst>
      <p:ext uri="{BB962C8B-B14F-4D97-AF65-F5344CB8AC3E}">
        <p14:creationId xmlns:p14="http://schemas.microsoft.com/office/powerpoint/2010/main" val="3746646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A5A6-7643-E592-42DF-336AE8A5E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TASK 3: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CA895-2981-33A0-7B64-ABD1B55F8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bank detects Fraudulent transactions.</a:t>
            </a:r>
          </a:p>
          <a:p>
            <a:r>
              <a:rPr lang="en-US" dirty="0"/>
              <a:t>Total transactions = 1000</a:t>
            </a:r>
          </a:p>
          <a:p>
            <a:r>
              <a:rPr lang="en-US" dirty="0"/>
              <a:t>Actual fraud cases = 80</a:t>
            </a:r>
          </a:p>
          <a:p>
            <a:r>
              <a:rPr lang="en-US" dirty="0"/>
              <a:t>Correctly detected fraud = 60</a:t>
            </a:r>
          </a:p>
          <a:p>
            <a:r>
              <a:rPr lang="en-US" dirty="0"/>
              <a:t>False alarms (normal marked as fraud) = 40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0441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0697437-8129-4506-DA1E-8833DDF2D8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5078" y="1308378"/>
            <a:ext cx="385874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TP = 60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FN = 80 − 60 = 20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FP = 40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TN = 1000 − (60 + 20 + 40) = 880</a:t>
            </a:r>
          </a:p>
        </p:txBody>
      </p:sp>
    </p:spTree>
    <p:extLst>
      <p:ext uri="{BB962C8B-B14F-4D97-AF65-F5344CB8AC3E}">
        <p14:creationId xmlns:p14="http://schemas.microsoft.com/office/powerpoint/2010/main" val="518615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47ACE-FE8A-0FC4-CDD0-75C0AB414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Overfitting and Underfitting: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D8B82-0357-60DD-4CC6-4649C6A8A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Underfitting</a:t>
            </a:r>
            <a:r>
              <a:rPr lang="en-US" dirty="0"/>
              <a:t> → Model is </a:t>
            </a:r>
            <a:r>
              <a:rPr lang="en-US" b="1" dirty="0"/>
              <a:t>too simple</a:t>
            </a:r>
            <a:r>
              <a:rPr lang="en-US" dirty="0"/>
              <a:t>, didn’t learn enough</a:t>
            </a:r>
          </a:p>
          <a:p>
            <a:r>
              <a:rPr lang="en-US" b="1" dirty="0"/>
              <a:t>Overfitting</a:t>
            </a:r>
            <a:r>
              <a:rPr lang="en-US" dirty="0"/>
              <a:t> → Model is </a:t>
            </a:r>
            <a:r>
              <a:rPr lang="en-US" b="1" dirty="0"/>
              <a:t>too complex</a:t>
            </a:r>
            <a:r>
              <a:rPr lang="en-US" dirty="0"/>
              <a:t>, learned </a:t>
            </a:r>
            <a:r>
              <a:rPr lang="en-US" i="1" dirty="0"/>
              <a:t>too much</a:t>
            </a:r>
            <a:r>
              <a:rPr lang="en-US" dirty="0"/>
              <a:t> (including noise)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B6A583-E113-FD3E-8B1C-C5581D16BB9D}"/>
              </a:ext>
            </a:extLst>
          </p:cNvPr>
          <p:cNvSpPr txBox="1"/>
          <p:nvPr/>
        </p:nvSpPr>
        <p:spPr>
          <a:xfrm>
            <a:off x="838200" y="3429000"/>
            <a:ext cx="6094428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Underfitting</a:t>
            </a:r>
          </a:p>
          <a:p>
            <a:pPr>
              <a:buNone/>
            </a:pPr>
            <a:r>
              <a:rPr lang="en-US" dirty="0"/>
              <a:t>A student: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Studies only </a:t>
            </a:r>
            <a:r>
              <a:rPr lang="en-US" b="1" dirty="0"/>
              <a:t>headings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Doesn’t understand concepts</a:t>
            </a:r>
          </a:p>
          <a:p>
            <a:pPr>
              <a:buNone/>
            </a:pP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Performs </a:t>
            </a:r>
            <a:r>
              <a:rPr lang="en-US" b="1" dirty="0"/>
              <a:t>poorly in both class tests and final exam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AB76B3-8902-2971-ECB2-0CE7E0432E98}"/>
              </a:ext>
            </a:extLst>
          </p:cNvPr>
          <p:cNvSpPr txBox="1"/>
          <p:nvPr/>
        </p:nvSpPr>
        <p:spPr>
          <a:xfrm>
            <a:off x="275734" y="5067789"/>
            <a:ext cx="6094428" cy="14773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Overfitting</a:t>
            </a:r>
          </a:p>
          <a:p>
            <a:pPr>
              <a:buNone/>
            </a:pPr>
            <a:r>
              <a:rPr lang="en-US" dirty="0"/>
              <a:t>A student: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Memorizes </a:t>
            </a:r>
            <a:r>
              <a:rPr lang="en-US" b="1" dirty="0"/>
              <a:t>exact questions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Learns answers word-by-word</a:t>
            </a:r>
          </a:p>
          <a:p>
            <a:pPr>
              <a:buNone/>
            </a:pP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Performs </a:t>
            </a:r>
            <a:r>
              <a:rPr lang="en-US" b="1" dirty="0"/>
              <a:t>great in class tests</a:t>
            </a:r>
            <a:r>
              <a:rPr lang="en-US" dirty="0"/>
              <a:t>, </a:t>
            </a:r>
            <a:r>
              <a:rPr lang="en-US" b="1" dirty="0"/>
              <a:t>bad in final exam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DFB0DB-3F34-F90E-C558-30D27A7916B8}"/>
              </a:ext>
            </a:extLst>
          </p:cNvPr>
          <p:cNvSpPr txBox="1"/>
          <p:nvPr/>
        </p:nvSpPr>
        <p:spPr>
          <a:xfrm>
            <a:off x="6506852" y="5015547"/>
            <a:ext cx="5314360" cy="147732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Good Fit</a:t>
            </a:r>
          </a:p>
          <a:p>
            <a:pPr>
              <a:buNone/>
            </a:pPr>
            <a:r>
              <a:rPr lang="en-US" dirty="0"/>
              <a:t>A student: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Understands concepts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solve </a:t>
            </a:r>
            <a:r>
              <a:rPr lang="en-US" b="1" dirty="0"/>
              <a:t>new questions</a:t>
            </a:r>
            <a:endParaRPr lang="en-US" dirty="0"/>
          </a:p>
          <a:p>
            <a:pPr>
              <a:buNone/>
            </a:pP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Performs </a:t>
            </a:r>
            <a:r>
              <a:rPr lang="en-US" b="1" dirty="0"/>
              <a:t>well everywhere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042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3F9F387-774A-62A7-8024-A3C07C85354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20720"/>
            <a:ext cx="10515600" cy="4090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6718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22480-0869-5BEA-B846-387CFC5E4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Underfitting: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5BBAD-663A-9697-84AE-C562B1C82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What happens?</a:t>
            </a:r>
          </a:p>
          <a:p>
            <a:r>
              <a:rPr lang="en-US" dirty="0"/>
              <a:t>Model is </a:t>
            </a:r>
            <a:r>
              <a:rPr lang="en-US" b="1" dirty="0"/>
              <a:t>too simple</a:t>
            </a:r>
            <a:endParaRPr lang="en-US" dirty="0"/>
          </a:p>
          <a:p>
            <a:r>
              <a:rPr lang="en-US" dirty="0"/>
              <a:t>Cannot capture the data pattern</a:t>
            </a:r>
          </a:p>
          <a:p>
            <a:r>
              <a:rPr lang="en-US" b="1" dirty="0"/>
              <a:t>Causes</a:t>
            </a:r>
          </a:p>
          <a:p>
            <a:r>
              <a:rPr lang="en-US" dirty="0"/>
              <a:t>Too few features</a:t>
            </a:r>
          </a:p>
          <a:p>
            <a:r>
              <a:rPr lang="en-US" dirty="0"/>
              <a:t>Model too basic (e.g., linear model for complex data)</a:t>
            </a:r>
          </a:p>
          <a:p>
            <a:r>
              <a:rPr lang="en-US" dirty="0"/>
              <a:t>Not enough training time</a:t>
            </a:r>
          </a:p>
          <a:p>
            <a:r>
              <a:rPr lang="en-US" b="1" dirty="0"/>
              <a:t>Signs</a:t>
            </a:r>
          </a:p>
          <a:p>
            <a:r>
              <a:rPr lang="en-US" dirty="0"/>
              <a:t>Low accuracy</a:t>
            </a:r>
          </a:p>
          <a:p>
            <a:r>
              <a:rPr lang="en-US" dirty="0"/>
              <a:t>High error on both training &amp; test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8059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295B2-F2F8-E88A-BB81-AA78E56C5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Overfitting: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4BD48-C6BE-9853-3478-B7D55DDD8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What happens?</a:t>
            </a:r>
          </a:p>
          <a:p>
            <a:r>
              <a:rPr lang="en-US" dirty="0"/>
              <a:t>Model learns </a:t>
            </a:r>
            <a:r>
              <a:rPr lang="en-US" b="1" dirty="0"/>
              <a:t>noise + outliers</a:t>
            </a:r>
            <a:endParaRPr lang="en-US" dirty="0"/>
          </a:p>
          <a:p>
            <a:r>
              <a:rPr lang="en-US" dirty="0"/>
              <a:t>Fits training data </a:t>
            </a:r>
            <a:r>
              <a:rPr lang="en-US" b="1" dirty="0"/>
              <a:t>too perfectly</a:t>
            </a:r>
            <a:endParaRPr lang="en-US" dirty="0"/>
          </a:p>
          <a:p>
            <a:r>
              <a:rPr lang="en-US" b="1" dirty="0"/>
              <a:t>Causes</a:t>
            </a:r>
          </a:p>
          <a:p>
            <a:r>
              <a:rPr lang="en-US" dirty="0"/>
              <a:t>Too many features</a:t>
            </a:r>
          </a:p>
          <a:p>
            <a:r>
              <a:rPr lang="en-US" dirty="0"/>
              <a:t>Very complex model</a:t>
            </a:r>
          </a:p>
          <a:p>
            <a:r>
              <a:rPr lang="en-US" dirty="0"/>
              <a:t>Small dataset</a:t>
            </a:r>
          </a:p>
          <a:p>
            <a:r>
              <a:rPr lang="en-US" b="1" dirty="0"/>
              <a:t>Signs</a:t>
            </a:r>
          </a:p>
          <a:p>
            <a:r>
              <a:rPr lang="en-US" dirty="0"/>
              <a:t>Very low training error</a:t>
            </a:r>
          </a:p>
          <a:p>
            <a:r>
              <a:rPr lang="en-US" dirty="0"/>
              <a:t>High test error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1792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5E2279-F904-B7AC-769B-AA1A6E8E1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03" y="730162"/>
            <a:ext cx="9621593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530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D14CB4-65B4-0624-71EF-B22E11631390}"/>
              </a:ext>
            </a:extLst>
          </p:cNvPr>
          <p:cNvSpPr txBox="1"/>
          <p:nvPr/>
        </p:nvSpPr>
        <p:spPr>
          <a:xfrm>
            <a:off x="678729" y="1027522"/>
            <a:ext cx="1016209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/>
              <a:t>What is Bias–Variance Trade-off?</a:t>
            </a:r>
          </a:p>
          <a:p>
            <a:pPr algn="just">
              <a:buNone/>
            </a:pP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The Bias–Variance Trade-off is the balance between underfitting and overfitting.</a:t>
            </a:r>
          </a:p>
          <a:p>
            <a:pPr algn="just">
              <a:buNone/>
            </a:pPr>
            <a:r>
              <a:rPr lang="en-US" sz="2400" dirty="0"/>
              <a:t>You cannot minimize bias and variance at the same time improving one usually worsens the other.</a:t>
            </a:r>
          </a:p>
          <a:p>
            <a:pPr algn="just">
              <a:buNone/>
            </a:pPr>
            <a:br>
              <a:rPr lang="en-US" sz="2400" dirty="0"/>
            </a:br>
            <a:endParaRPr lang="en-US" sz="2400" dirty="0"/>
          </a:p>
          <a:p>
            <a:pPr algn="just">
              <a:buNone/>
            </a:pPr>
            <a:r>
              <a:rPr lang="en-US" sz="2400" b="1" dirty="0"/>
              <a:t>Simple Intuition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/>
              <a:t>High Bias</a:t>
            </a:r>
            <a:r>
              <a:rPr lang="en-US" sz="2400" dirty="0"/>
              <a:t> → Model too simple → Underfitting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/>
              <a:t>High Variance</a:t>
            </a:r>
            <a:r>
              <a:rPr lang="en-US" sz="2400" dirty="0"/>
              <a:t> → Model too complex → Overfitting</a:t>
            </a:r>
          </a:p>
          <a:p>
            <a:pPr algn="just">
              <a:buNone/>
            </a:pP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/>
              <a:t> Goal: </a:t>
            </a:r>
            <a:r>
              <a:rPr lang="en-US" sz="2400" b="1" dirty="0"/>
              <a:t>Find the sweet spot</a:t>
            </a:r>
            <a:r>
              <a:rPr lang="en-US" sz="2400" dirty="0"/>
              <a:t> where total error is minimum.</a:t>
            </a:r>
          </a:p>
        </p:txBody>
      </p:sp>
    </p:spTree>
    <p:extLst>
      <p:ext uri="{BB962C8B-B14F-4D97-AF65-F5344CB8AC3E}">
        <p14:creationId xmlns:p14="http://schemas.microsoft.com/office/powerpoint/2010/main" val="2400028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05CF64-FB37-6C72-927F-0B3260CDDE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72" b="5848"/>
          <a:stretch>
            <a:fillRect/>
          </a:stretch>
        </p:blipFill>
        <p:spPr>
          <a:xfrm>
            <a:off x="0" y="877886"/>
            <a:ext cx="12192000" cy="598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59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B71E2-4033-FD30-313D-0222FBD94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Applications and Use-cases of ML: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D27617-FF83-4C72-0455-5A7F3B321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8060" y="1825625"/>
            <a:ext cx="79758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364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507</Words>
  <Application>Microsoft Office PowerPoint</Application>
  <PresentationFormat>Widescreen</PresentationFormat>
  <Paragraphs>99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Wingdings</vt:lpstr>
      <vt:lpstr>Office Theme</vt:lpstr>
      <vt:lpstr>UNIT 1: Machine Learning Foundation (Lecture 4)</vt:lpstr>
      <vt:lpstr>TASK 1:</vt:lpstr>
      <vt:lpstr>PowerPoint Presentation</vt:lpstr>
      <vt:lpstr>PowerPoint Presentation</vt:lpstr>
      <vt:lpstr>TASK 2:</vt:lpstr>
      <vt:lpstr>PowerPoint Presentation</vt:lpstr>
      <vt:lpstr>TASK 3:</vt:lpstr>
      <vt:lpstr>PowerPoint Presentation</vt:lpstr>
      <vt:lpstr>Overfitting and Underfitting:</vt:lpstr>
      <vt:lpstr>PowerPoint Presentation</vt:lpstr>
      <vt:lpstr>Underfitting:</vt:lpstr>
      <vt:lpstr>Overfitting:</vt:lpstr>
      <vt:lpstr>PowerPoint Presentation</vt:lpstr>
      <vt:lpstr>PowerPoint Presentation</vt:lpstr>
      <vt:lpstr>PowerPoint Presentation</vt:lpstr>
      <vt:lpstr>Applications and Use-cases of ML: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1: Introduction to Machine Learning (Lecture 1)</dc:title>
  <dc:creator>Ramanjot</dc:creator>
  <cp:lastModifiedBy>Ramanjot Kaur</cp:lastModifiedBy>
  <cp:revision>127</cp:revision>
  <dcterms:created xsi:type="dcterms:W3CDTF">2024-01-18T09:28:43Z</dcterms:created>
  <dcterms:modified xsi:type="dcterms:W3CDTF">2026-01-28T03:41:47Z</dcterms:modified>
</cp:coreProperties>
</file>