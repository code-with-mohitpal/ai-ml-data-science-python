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72" r:id="rId12"/>
    <p:sldId id="270" r:id="rId13"/>
    <p:sldId id="266" r:id="rId14"/>
    <p:sldId id="271" r:id="rId15"/>
    <p:sldId id="267" r:id="rId16"/>
    <p:sldId id="268" r:id="rId17"/>
    <p:sldId id="269"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2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8119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256032" cy="5143500"/>
          </a:xfrm>
          <a:prstGeom prst="rect">
            <a:avLst/>
          </a:prstGeom>
          <a:solidFill>
            <a:srgbClr val="00C9A7"/>
          </a:solidFill>
          <a:ln/>
        </p:spPr>
      </p:sp>
      <p:sp>
        <p:nvSpPr>
          <p:cNvPr id="3" name="Shape 1"/>
          <p:cNvSpPr/>
          <p:nvPr/>
        </p:nvSpPr>
        <p:spPr>
          <a:xfrm>
            <a:off x="6858000" y="-457200"/>
            <a:ext cx="3200400" cy="3200400"/>
          </a:xfrm>
          <a:prstGeom prst="ellipse">
            <a:avLst/>
          </a:prstGeom>
          <a:solidFill>
            <a:srgbClr val="2D6A8F">
              <a:alpha val="25000"/>
            </a:srgbClr>
          </a:solidFill>
          <a:ln w="12700">
            <a:solidFill>
              <a:srgbClr val="2D6A8F"/>
            </a:solidFill>
            <a:prstDash val="solid"/>
          </a:ln>
        </p:spPr>
      </p:sp>
      <p:sp>
        <p:nvSpPr>
          <p:cNvPr id="4" name="Shape 2"/>
          <p:cNvSpPr/>
          <p:nvPr/>
        </p:nvSpPr>
        <p:spPr>
          <a:xfrm>
            <a:off x="7772400" y="2286000"/>
            <a:ext cx="2286000" cy="2286000"/>
          </a:xfrm>
          <a:prstGeom prst="ellipse">
            <a:avLst/>
          </a:prstGeom>
          <a:solidFill>
            <a:srgbClr val="00C9A7">
              <a:alpha val="20000"/>
            </a:srgbClr>
          </a:solidFill>
          <a:ln w="12700">
            <a:solidFill>
              <a:srgbClr val="00C9A7"/>
            </a:solidFill>
            <a:prstDash val="solid"/>
          </a:ln>
        </p:spPr>
      </p:sp>
      <p:sp>
        <p:nvSpPr>
          <p:cNvPr id="5" name="Text 3"/>
          <p:cNvSpPr/>
          <p:nvPr/>
        </p:nvSpPr>
        <p:spPr>
          <a:xfrm>
            <a:off x="502920" y="548640"/>
            <a:ext cx="7315200" cy="1005840"/>
          </a:xfrm>
          <a:prstGeom prst="rect">
            <a:avLst/>
          </a:prstGeom>
          <a:noFill/>
          <a:ln/>
        </p:spPr>
        <p:txBody>
          <a:bodyPr wrap="square" lIns="0" tIns="0" rIns="0" bIns="0"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Advanced Regression</a:t>
            </a:r>
            <a:endParaRPr lang="en-US" sz="4200" dirty="0"/>
          </a:p>
        </p:txBody>
      </p:sp>
      <p:sp>
        <p:nvSpPr>
          <p:cNvPr id="6" name="Text 4"/>
          <p:cNvSpPr/>
          <p:nvPr/>
        </p:nvSpPr>
        <p:spPr>
          <a:xfrm>
            <a:off x="502920" y="1463040"/>
            <a:ext cx="7315200" cy="822960"/>
          </a:xfrm>
          <a:prstGeom prst="rect">
            <a:avLst/>
          </a:prstGeom>
          <a:noFill/>
          <a:ln/>
        </p:spPr>
        <p:txBody>
          <a:bodyPr wrap="square" lIns="0" tIns="0" rIns="0" bIns="0" rtlCol="0" anchor="ctr"/>
          <a:lstStyle/>
          <a:p>
            <a:pPr marL="0" indent="0">
              <a:buNone/>
            </a:pPr>
            <a:r>
              <a:rPr lang="en-US" sz="3800" b="1" dirty="0">
                <a:solidFill>
                  <a:srgbClr val="00C9A7"/>
                </a:solidFill>
                <a:latin typeface="Calibri" pitchFamily="34" charset="0"/>
                <a:ea typeface="Calibri" pitchFamily="34" charset="-122"/>
                <a:cs typeface="Calibri" pitchFamily="34" charset="-120"/>
              </a:rPr>
              <a:t>Models &amp; Concepts</a:t>
            </a:r>
            <a:endParaRPr lang="en-US" sz="3800" dirty="0"/>
          </a:p>
        </p:txBody>
      </p:sp>
      <p:sp>
        <p:nvSpPr>
          <p:cNvPr id="7" name="Text 5"/>
          <p:cNvSpPr/>
          <p:nvPr/>
        </p:nvSpPr>
        <p:spPr>
          <a:xfrm>
            <a:off x="502920" y="2423160"/>
            <a:ext cx="7772400" cy="502920"/>
          </a:xfrm>
          <a:prstGeom prst="rect">
            <a:avLst/>
          </a:prstGeom>
          <a:noFill/>
          <a:ln/>
        </p:spPr>
        <p:txBody>
          <a:bodyPr wrap="square" lIns="0" tIns="0" rIns="0" bIns="0" rtlCol="0" anchor="ctr"/>
          <a:lstStyle/>
          <a:p>
            <a:pPr marL="0" indent="0">
              <a:buNone/>
            </a:pPr>
            <a:r>
              <a:rPr lang="en-US" sz="1700" i="1" dirty="0">
                <a:solidFill>
                  <a:srgbClr val="E8F4F8"/>
                </a:solidFill>
                <a:latin typeface="Calibri" pitchFamily="34" charset="0"/>
                <a:ea typeface="Calibri" pitchFamily="34" charset="-122"/>
                <a:cs typeface="Calibri" pitchFamily="34" charset="-120"/>
              </a:rPr>
              <a:t>10-Mark Questions — Complete Study Guide</a:t>
            </a:r>
            <a:endParaRPr lang="en-US" sz="1700" dirty="0"/>
          </a:p>
        </p:txBody>
      </p:sp>
      <p:sp>
        <p:nvSpPr>
          <p:cNvPr id="8" name="Shape 6"/>
          <p:cNvSpPr/>
          <p:nvPr/>
        </p:nvSpPr>
        <p:spPr>
          <a:xfrm>
            <a:off x="502920" y="3063240"/>
            <a:ext cx="4023360" cy="384048"/>
          </a:xfrm>
          <a:prstGeom prst="rect">
            <a:avLst/>
          </a:prstGeom>
          <a:solidFill>
            <a:srgbClr val="2D6A8F">
              <a:alpha val="60000"/>
            </a:srgbClr>
          </a:solidFill>
          <a:ln w="19050">
            <a:solidFill>
              <a:srgbClr val="00C9A7"/>
            </a:solidFill>
            <a:prstDash val="solid"/>
          </a:ln>
        </p:spPr>
      </p:sp>
      <p:sp>
        <p:nvSpPr>
          <p:cNvPr id="9" name="Text 7"/>
          <p:cNvSpPr/>
          <p:nvPr/>
        </p:nvSpPr>
        <p:spPr>
          <a:xfrm>
            <a:off x="612648" y="3099816"/>
            <a:ext cx="3840480" cy="31089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1. Interpretation of Coefficients</a:t>
            </a:r>
            <a:endParaRPr lang="en-US" sz="1200" dirty="0"/>
          </a:p>
        </p:txBody>
      </p:sp>
      <p:sp>
        <p:nvSpPr>
          <p:cNvPr id="10" name="Shape 8"/>
          <p:cNvSpPr/>
          <p:nvPr/>
        </p:nvSpPr>
        <p:spPr>
          <a:xfrm>
            <a:off x="502920" y="3538728"/>
            <a:ext cx="4023360" cy="384048"/>
          </a:xfrm>
          <a:prstGeom prst="rect">
            <a:avLst/>
          </a:prstGeom>
          <a:solidFill>
            <a:srgbClr val="2D6A8F">
              <a:alpha val="60000"/>
            </a:srgbClr>
          </a:solidFill>
          <a:ln w="19050">
            <a:solidFill>
              <a:srgbClr val="00C9A7"/>
            </a:solidFill>
            <a:prstDash val="solid"/>
          </a:ln>
        </p:spPr>
      </p:sp>
      <p:sp>
        <p:nvSpPr>
          <p:cNvPr id="11" name="Text 9"/>
          <p:cNvSpPr/>
          <p:nvPr/>
        </p:nvSpPr>
        <p:spPr>
          <a:xfrm>
            <a:off x="612648" y="3575304"/>
            <a:ext cx="3840480" cy="31089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2. Regularized Regression Models</a:t>
            </a:r>
            <a:endParaRPr lang="en-US" sz="1200" dirty="0"/>
          </a:p>
        </p:txBody>
      </p:sp>
      <p:sp>
        <p:nvSpPr>
          <p:cNvPr id="12" name="Shape 10"/>
          <p:cNvSpPr/>
          <p:nvPr/>
        </p:nvSpPr>
        <p:spPr>
          <a:xfrm>
            <a:off x="502920" y="4014216"/>
            <a:ext cx="4023360" cy="384048"/>
          </a:xfrm>
          <a:prstGeom prst="rect">
            <a:avLst/>
          </a:prstGeom>
          <a:solidFill>
            <a:srgbClr val="2D6A8F">
              <a:alpha val="60000"/>
            </a:srgbClr>
          </a:solidFill>
          <a:ln w="19050">
            <a:solidFill>
              <a:srgbClr val="00C9A7"/>
            </a:solidFill>
            <a:prstDash val="solid"/>
          </a:ln>
        </p:spPr>
      </p:sp>
      <p:sp>
        <p:nvSpPr>
          <p:cNvPr id="13" name="Text 11"/>
          <p:cNvSpPr/>
          <p:nvPr/>
        </p:nvSpPr>
        <p:spPr>
          <a:xfrm>
            <a:off x="612648" y="4050792"/>
            <a:ext cx="3840480" cy="31089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3. Regularization &amp; Model Complexity</a:t>
            </a:r>
            <a:endParaRPr lang="en-US" sz="1200" dirty="0"/>
          </a:p>
        </p:txBody>
      </p:sp>
      <p:sp>
        <p:nvSpPr>
          <p:cNvPr id="14" name="Shape 12"/>
          <p:cNvSpPr/>
          <p:nvPr/>
        </p:nvSpPr>
        <p:spPr>
          <a:xfrm>
            <a:off x="4754880" y="3063240"/>
            <a:ext cx="4206240" cy="384048"/>
          </a:xfrm>
          <a:prstGeom prst="rect">
            <a:avLst/>
          </a:prstGeom>
          <a:solidFill>
            <a:srgbClr val="2D6A8F">
              <a:alpha val="60000"/>
            </a:srgbClr>
          </a:solidFill>
          <a:ln w="19050">
            <a:solidFill>
              <a:srgbClr val="00C9A7"/>
            </a:solidFill>
            <a:prstDash val="solid"/>
          </a:ln>
        </p:spPr>
      </p:sp>
      <p:sp>
        <p:nvSpPr>
          <p:cNvPr id="15" name="Text 13"/>
          <p:cNvSpPr/>
          <p:nvPr/>
        </p:nvSpPr>
        <p:spPr>
          <a:xfrm>
            <a:off x="4864608" y="3099816"/>
            <a:ext cx="4023360" cy="31089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4. Polynomial Feature Expansion</a:t>
            </a:r>
            <a:endParaRPr lang="en-US" sz="1200" dirty="0"/>
          </a:p>
        </p:txBody>
      </p:sp>
      <p:sp>
        <p:nvSpPr>
          <p:cNvPr id="16" name="Shape 14"/>
          <p:cNvSpPr/>
          <p:nvPr/>
        </p:nvSpPr>
        <p:spPr>
          <a:xfrm>
            <a:off x="4754880" y="3538728"/>
            <a:ext cx="4206240" cy="384048"/>
          </a:xfrm>
          <a:prstGeom prst="rect">
            <a:avLst/>
          </a:prstGeom>
          <a:solidFill>
            <a:srgbClr val="2D6A8F">
              <a:alpha val="60000"/>
            </a:srgbClr>
          </a:solidFill>
          <a:ln w="19050">
            <a:solidFill>
              <a:srgbClr val="00C9A7"/>
            </a:solidFill>
            <a:prstDash val="solid"/>
          </a:ln>
        </p:spPr>
      </p:sp>
      <p:sp>
        <p:nvSpPr>
          <p:cNvPr id="17" name="Text 15"/>
          <p:cNvSpPr/>
          <p:nvPr/>
        </p:nvSpPr>
        <p:spPr>
          <a:xfrm>
            <a:off x="4864608" y="3575304"/>
            <a:ext cx="4023360" cy="31089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5. Tree-Based Regression Models</a:t>
            </a:r>
            <a:endParaRPr lang="en-US" sz="1200" dirty="0"/>
          </a:p>
        </p:txBody>
      </p:sp>
      <p:sp>
        <p:nvSpPr>
          <p:cNvPr id="18" name="Shape 16"/>
          <p:cNvSpPr/>
          <p:nvPr/>
        </p:nvSpPr>
        <p:spPr>
          <a:xfrm>
            <a:off x="4754880" y="4014216"/>
            <a:ext cx="4206240" cy="384048"/>
          </a:xfrm>
          <a:prstGeom prst="rect">
            <a:avLst/>
          </a:prstGeom>
          <a:solidFill>
            <a:srgbClr val="2D6A8F">
              <a:alpha val="60000"/>
            </a:srgbClr>
          </a:solidFill>
          <a:ln w="19050">
            <a:solidFill>
              <a:srgbClr val="00C9A7"/>
            </a:solidFill>
            <a:prstDash val="solid"/>
          </a:ln>
        </p:spPr>
      </p:sp>
      <p:sp>
        <p:nvSpPr>
          <p:cNvPr id="19" name="Text 17"/>
          <p:cNvSpPr/>
          <p:nvPr/>
        </p:nvSpPr>
        <p:spPr>
          <a:xfrm>
            <a:off x="4864608" y="4050792"/>
            <a:ext cx="4023360" cy="31089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6. Time-Series Regression Models</a:t>
            </a:r>
            <a:endParaRPr lang="en-US" sz="1200" dirty="0"/>
          </a:p>
        </p:txBody>
      </p:sp>
      <p:sp>
        <p:nvSpPr>
          <p:cNvPr id="20" name="Text 18"/>
          <p:cNvSpPr/>
          <p:nvPr/>
        </p:nvSpPr>
        <p:spPr>
          <a:xfrm>
            <a:off x="502920" y="4800600"/>
            <a:ext cx="8229600" cy="2286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B.Tech / M.Tech / MCA — Machine Learning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p:spPr>
      </p:sp>
      <p:sp>
        <p:nvSpPr>
          <p:cNvPr id="3" name="Shape 1"/>
          <p:cNvSpPr/>
          <p:nvPr/>
        </p:nvSpPr>
        <p:spPr>
          <a:xfrm>
            <a:off x="0" y="658368"/>
            <a:ext cx="9144000" cy="36576"/>
          </a:xfrm>
          <a:prstGeom prst="rect">
            <a:avLst/>
          </a:prstGeom>
          <a:solidFill>
            <a:srgbClr val="00C9A7"/>
          </a:solidFill>
          <a:ln/>
        </p:spPr>
      </p:sp>
      <p:sp>
        <p:nvSpPr>
          <p:cNvPr id="4" name="Text 2"/>
          <p:cNvSpPr/>
          <p:nvPr/>
        </p:nvSpPr>
        <p:spPr>
          <a:xfrm>
            <a:off x="164592" y="64008"/>
            <a:ext cx="7772400" cy="53035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1. Interpretation of Coefficients</a:t>
            </a:r>
            <a:endParaRPr lang="en-US" sz="2200" dirty="0"/>
          </a:p>
        </p:txBody>
      </p:sp>
      <p:sp>
        <p:nvSpPr>
          <p:cNvPr id="5" name="Text 3"/>
          <p:cNvSpPr/>
          <p:nvPr/>
        </p:nvSpPr>
        <p:spPr>
          <a:xfrm>
            <a:off x="7315200" y="182880"/>
            <a:ext cx="1645920" cy="320040"/>
          </a:xfrm>
          <a:prstGeom prst="rect">
            <a:avLst/>
          </a:prstGeom>
          <a:noFill/>
          <a:ln/>
        </p:spPr>
        <p:txBody>
          <a:bodyPr wrap="square" lIns="0" tIns="0" rIns="0" bIns="0" rtlCol="0" anchor="ctr"/>
          <a:lstStyle/>
          <a:p>
            <a:pPr marL="0" indent="0" algn="r">
              <a:buNone/>
            </a:pPr>
            <a:r>
              <a:rPr lang="en-US" sz="850" dirty="0">
                <a:solidFill>
                  <a:srgbClr val="00C9A7"/>
                </a:solidFill>
                <a:latin typeface="Calibri" pitchFamily="34" charset="0"/>
                <a:ea typeface="Calibri" pitchFamily="34" charset="-122"/>
                <a:cs typeface="Calibri" pitchFamily="34" charset="-120"/>
              </a:rPr>
              <a:t>Definition  •  Equation  •  Real-Life Example</a:t>
            </a:r>
            <a:endParaRPr lang="en-US" sz="850" dirty="0"/>
          </a:p>
        </p:txBody>
      </p:sp>
      <p:sp>
        <p:nvSpPr>
          <p:cNvPr id="6" name="Shape 4"/>
          <p:cNvSpPr/>
          <p:nvPr/>
        </p:nvSpPr>
        <p:spPr>
          <a:xfrm>
            <a:off x="164592" y="822960"/>
            <a:ext cx="4160520" cy="329184"/>
          </a:xfrm>
          <a:prstGeom prst="rect">
            <a:avLst/>
          </a:prstGeom>
          <a:solidFill>
            <a:srgbClr val="1E2761"/>
          </a:solidFill>
          <a:ln/>
          <a:effectLst>
            <a:outerShdw blurRad="101600" dist="38100" dir="8100000" algn="bl" rotWithShape="0">
              <a:srgbClr val="000000">
                <a:alpha val="12000"/>
              </a:srgbClr>
            </a:outerShdw>
          </a:effectLst>
        </p:spPr>
      </p:sp>
      <p:sp>
        <p:nvSpPr>
          <p:cNvPr id="7" name="Text 5"/>
          <p:cNvSpPr/>
          <p:nvPr/>
        </p:nvSpPr>
        <p:spPr>
          <a:xfrm>
            <a:off x="201168" y="841248"/>
            <a:ext cx="4114800" cy="274320"/>
          </a:xfrm>
          <a:prstGeom prst="rect">
            <a:avLst/>
          </a:prstGeom>
          <a:noFill/>
          <a:ln/>
        </p:spPr>
        <p:txBody>
          <a:bodyPr wrap="square" lIns="0" tIns="0" rIns="0" bIns="0" rtlCol="0" anchor="ctr"/>
          <a:lstStyle/>
          <a:p>
            <a:pPr marL="0" indent="0">
              <a:buNone/>
            </a:pPr>
            <a:r>
              <a:rPr lang="en-US" sz="1200" b="1" dirty="0">
                <a:solidFill>
                  <a:srgbClr val="00C9A7"/>
                </a:solidFill>
                <a:latin typeface="Calibri" pitchFamily="34" charset="0"/>
                <a:ea typeface="Calibri" pitchFamily="34" charset="-122"/>
                <a:cs typeface="Calibri" pitchFamily="34" charset="-120"/>
              </a:rPr>
              <a:t>📖 DEFINITION</a:t>
            </a:r>
            <a:endParaRPr lang="en-US" sz="1200" dirty="0"/>
          </a:p>
        </p:txBody>
      </p:sp>
      <p:sp>
        <p:nvSpPr>
          <p:cNvPr id="8" name="Shape 6"/>
          <p:cNvSpPr/>
          <p:nvPr/>
        </p:nvSpPr>
        <p:spPr>
          <a:xfrm>
            <a:off x="164592" y="1152144"/>
            <a:ext cx="4160520" cy="1755648"/>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sp>
        <p:nvSpPr>
          <p:cNvPr id="9" name="Shape 7"/>
          <p:cNvSpPr/>
          <p:nvPr/>
        </p:nvSpPr>
        <p:spPr>
          <a:xfrm>
            <a:off x="164592" y="1152144"/>
            <a:ext cx="54864" cy="1755648"/>
          </a:xfrm>
          <a:prstGeom prst="rect">
            <a:avLst/>
          </a:prstGeom>
          <a:solidFill>
            <a:srgbClr val="00C9A7"/>
          </a:solidFill>
          <a:ln/>
        </p:spPr>
      </p:sp>
      <p:sp>
        <p:nvSpPr>
          <p:cNvPr id="10" name="Text 8"/>
          <p:cNvSpPr/>
          <p:nvPr/>
        </p:nvSpPr>
        <p:spPr>
          <a:xfrm>
            <a:off x="292608" y="1207008"/>
            <a:ext cx="3931920" cy="1627632"/>
          </a:xfrm>
          <a:prstGeom prst="rect">
            <a:avLst/>
          </a:prstGeom>
          <a:noFill/>
          <a:ln/>
        </p:spPr>
        <p:txBody>
          <a:bodyPr wrap="square" lIns="0" tIns="0" rIns="0" bIns="0" rtlCol="0" anchor="t"/>
          <a:lstStyle/>
          <a:p>
            <a:pPr marL="0" indent="0">
              <a:buNone/>
            </a:pPr>
            <a:r>
              <a:rPr lang="en-US" sz="1250" dirty="0">
                <a:solidFill>
                  <a:srgbClr val="1E293B"/>
                </a:solidFill>
                <a:latin typeface="Calibri" pitchFamily="34" charset="0"/>
                <a:ea typeface="Calibri" pitchFamily="34" charset="-122"/>
                <a:cs typeface="Calibri" pitchFamily="34" charset="-120"/>
              </a:rPr>
              <a:t>In linear regression, coefficients (weights) quantify the relationship between each feature and the target variable. The intercept β₀ is the predicted value when all features are zero. Each slope coefficient βᵢ represents the average change in the output y for a one-unit increase in xᵢ, holding all other variables constant. Standardized coefficients allow comparison of relative importance across features with different scales.</a:t>
            </a:r>
            <a:endParaRPr lang="en-US" sz="1250" dirty="0"/>
          </a:p>
        </p:txBody>
      </p:sp>
      <p:sp>
        <p:nvSpPr>
          <p:cNvPr id="11" name="Shape 9"/>
          <p:cNvSpPr/>
          <p:nvPr/>
        </p:nvSpPr>
        <p:spPr>
          <a:xfrm>
            <a:off x="164592" y="2999232"/>
            <a:ext cx="4160520" cy="329184"/>
          </a:xfrm>
          <a:prstGeom prst="rect">
            <a:avLst/>
          </a:prstGeom>
          <a:solidFill>
            <a:srgbClr val="2D6A8F"/>
          </a:solidFill>
          <a:ln/>
          <a:effectLst>
            <a:outerShdw blurRad="101600" dist="38100" dir="8100000" algn="bl" rotWithShape="0">
              <a:srgbClr val="000000">
                <a:alpha val="12000"/>
              </a:srgbClr>
            </a:outerShdw>
          </a:effectLst>
        </p:spPr>
      </p:sp>
      <p:sp>
        <p:nvSpPr>
          <p:cNvPr id="12" name="Text 10"/>
          <p:cNvSpPr/>
          <p:nvPr/>
        </p:nvSpPr>
        <p:spPr>
          <a:xfrm>
            <a:off x="201168" y="3017520"/>
            <a:ext cx="411480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MATHEMATICAL EQUATION</a:t>
            </a:r>
            <a:endParaRPr lang="en-US" sz="1150" dirty="0"/>
          </a:p>
        </p:txBody>
      </p:sp>
      <p:sp>
        <p:nvSpPr>
          <p:cNvPr id="13" name="Shape 11"/>
          <p:cNvSpPr/>
          <p:nvPr/>
        </p:nvSpPr>
        <p:spPr>
          <a:xfrm>
            <a:off x="164592" y="3328416"/>
            <a:ext cx="4160520" cy="1664208"/>
          </a:xfrm>
          <a:prstGeom prst="rect">
            <a:avLst/>
          </a:prstGeom>
          <a:solidFill>
            <a:srgbClr val="1A1A2E"/>
          </a:solidFill>
          <a:ln/>
          <a:effectLst>
            <a:outerShdw blurRad="101600" dist="38100" dir="8100000" algn="bl" rotWithShape="0">
              <a:srgbClr val="000000">
                <a:alpha val="12000"/>
              </a:srgbClr>
            </a:outerShdw>
          </a:effectLst>
        </p:spPr>
        <p:txBody>
          <a:bodyPr/>
          <a:lstStyle/>
          <a:p>
            <a:endParaRPr lang="en-IN" dirty="0"/>
          </a:p>
        </p:txBody>
      </p:sp>
      <p:sp>
        <p:nvSpPr>
          <p:cNvPr id="14" name="Text 12"/>
          <p:cNvSpPr/>
          <p:nvPr/>
        </p:nvSpPr>
        <p:spPr>
          <a:xfrm>
            <a:off x="274320" y="3383280"/>
            <a:ext cx="3931920" cy="1563624"/>
          </a:xfrm>
          <a:prstGeom prst="rect">
            <a:avLst/>
          </a:prstGeom>
          <a:noFill/>
          <a:ln/>
        </p:spPr>
        <p:txBody>
          <a:bodyPr wrap="square" lIns="0" tIns="0" rIns="0" bIns="0" rtlCol="0" anchor="t"/>
          <a:lstStyle/>
          <a:p>
            <a:pPr marL="0" indent="0">
              <a:buNone/>
            </a:pPr>
            <a:r>
              <a:rPr lang="en-US" sz="1300" b="1" dirty="0">
                <a:solidFill>
                  <a:srgbClr val="FFD166"/>
                </a:solidFill>
                <a:latin typeface="Courier New" pitchFamily="34" charset="0"/>
                <a:ea typeface="Courier New" pitchFamily="34" charset="-122"/>
                <a:cs typeface="Courier New" pitchFamily="34" charset="-120"/>
              </a:rPr>
              <a:t>Model:</a:t>
            </a:r>
            <a:endParaRPr lang="en-US" sz="1300" dirty="0"/>
          </a:p>
          <a:p>
            <a:pPr marL="0" indent="0">
              <a:buNone/>
            </a:pPr>
            <a:r>
              <a:rPr lang="en-US" sz="1300" dirty="0">
                <a:solidFill>
                  <a:srgbClr val="E2E8F0"/>
                </a:solidFill>
                <a:latin typeface="Courier New" pitchFamily="34" charset="0"/>
                <a:ea typeface="Courier New" pitchFamily="34" charset="-122"/>
                <a:cs typeface="Courier New" pitchFamily="34" charset="-120"/>
              </a:rPr>
              <a:t>ŷ = β₀ + β₁x₁ + β₂x₂ + ... + βₚxₚ
</a:t>
            </a:r>
            <a:r>
              <a:rPr lang="en-US" sz="1300" b="1" dirty="0">
                <a:solidFill>
                  <a:srgbClr val="00C9A7"/>
                </a:solidFill>
                <a:latin typeface="Courier New" pitchFamily="34" charset="0"/>
                <a:ea typeface="Courier New" pitchFamily="34" charset="-122"/>
                <a:cs typeface="Courier New" pitchFamily="34" charset="-120"/>
              </a:rPr>
              <a:t>Where:
</a:t>
            </a:r>
            <a:r>
              <a:rPr lang="en-US" sz="1300" dirty="0">
                <a:solidFill>
                  <a:srgbClr val="E2E8F0"/>
                </a:solidFill>
                <a:latin typeface="Courier New" pitchFamily="34" charset="0"/>
                <a:ea typeface="Courier New" pitchFamily="34" charset="-122"/>
                <a:cs typeface="Courier New" pitchFamily="34" charset="-120"/>
              </a:rPr>
              <a:t>β₀  = Intercept (bias term)
βᵢ  = Coefficient of feature xᵢ
ŷ   = Predicted output
</a:t>
            </a:r>
            <a:r>
              <a:rPr lang="en-US" sz="1300" b="1" dirty="0">
                <a:solidFill>
                  <a:srgbClr val="00C9A7"/>
                </a:solidFill>
                <a:latin typeface="Courier New" pitchFamily="34" charset="0"/>
                <a:ea typeface="Courier New" pitchFamily="34" charset="-122"/>
                <a:cs typeface="Courier New" pitchFamily="34" charset="-120"/>
              </a:rPr>
              <a:t>OLS Estimate: </a:t>
            </a:r>
            <a:r>
              <a:rPr lang="en-US" sz="1300" dirty="0">
                <a:solidFill>
                  <a:srgbClr val="E2E8F0"/>
                </a:solidFill>
                <a:latin typeface="Courier New" pitchFamily="34" charset="0"/>
                <a:ea typeface="Courier New" pitchFamily="34" charset="-122"/>
                <a:cs typeface="Courier New" pitchFamily="34" charset="-120"/>
              </a:rPr>
              <a:t>β̂ = (XᵀX)⁻¹ </a:t>
            </a:r>
            <a:r>
              <a:rPr lang="en-US" sz="1300" dirty="0" err="1">
                <a:solidFill>
                  <a:srgbClr val="E2E8F0"/>
                </a:solidFill>
                <a:latin typeface="Courier New" pitchFamily="34" charset="0"/>
                <a:ea typeface="Courier New" pitchFamily="34" charset="-122"/>
                <a:cs typeface="Courier New" pitchFamily="34" charset="-120"/>
              </a:rPr>
              <a:t>Xᵀy</a:t>
            </a:r>
            <a:endParaRPr lang="en-US" sz="1300" dirty="0"/>
          </a:p>
          <a:p>
            <a:pPr marL="0" indent="0">
              <a:buNone/>
            </a:pPr>
            <a:r>
              <a:rPr lang="en-US" sz="1300" b="1" dirty="0">
                <a:solidFill>
                  <a:srgbClr val="00C9A7"/>
                </a:solidFill>
                <a:latin typeface="Courier New" pitchFamily="34" charset="0"/>
                <a:ea typeface="Courier New" pitchFamily="34" charset="-122"/>
                <a:cs typeface="Courier New" pitchFamily="34" charset="-120"/>
              </a:rPr>
              <a:t>Std. Coefficient:</a:t>
            </a:r>
            <a:r>
              <a:rPr lang="en-US" sz="1300" dirty="0">
                <a:solidFill>
                  <a:srgbClr val="E2E8F0"/>
                </a:solidFill>
                <a:latin typeface="Courier New" pitchFamily="34" charset="0"/>
                <a:ea typeface="Courier New" pitchFamily="34" charset="-122"/>
                <a:cs typeface="Courier New" pitchFamily="34" charset="-120"/>
              </a:rPr>
              <a:t>β*ᵢ = βᵢ × (σxᵢ / σy)</a:t>
            </a:r>
            <a:endParaRPr lang="en-US" sz="1300" dirty="0"/>
          </a:p>
        </p:txBody>
      </p:sp>
      <p:sp>
        <p:nvSpPr>
          <p:cNvPr id="15" name="Shape 13"/>
          <p:cNvSpPr/>
          <p:nvPr/>
        </p:nvSpPr>
        <p:spPr>
          <a:xfrm>
            <a:off x="4617720" y="822960"/>
            <a:ext cx="4343400" cy="329184"/>
          </a:xfrm>
          <a:prstGeom prst="rect">
            <a:avLst/>
          </a:prstGeom>
          <a:solidFill>
            <a:srgbClr val="FF6B6B"/>
          </a:solidFill>
          <a:ln/>
          <a:effectLst>
            <a:outerShdw blurRad="101600" dist="38100" dir="8100000" algn="bl" rotWithShape="0">
              <a:srgbClr val="000000">
                <a:alpha val="12000"/>
              </a:srgbClr>
            </a:outerShdw>
          </a:effectLst>
        </p:spPr>
      </p:sp>
      <p:sp>
        <p:nvSpPr>
          <p:cNvPr id="16" name="Text 14"/>
          <p:cNvSpPr/>
          <p:nvPr/>
        </p:nvSpPr>
        <p:spPr>
          <a:xfrm>
            <a:off x="4654296" y="841248"/>
            <a:ext cx="429768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REAL-LIFE EXAMPLE</a:t>
            </a:r>
            <a:endParaRPr lang="en-US" sz="1200" dirty="0"/>
          </a:p>
        </p:txBody>
      </p:sp>
      <p:sp>
        <p:nvSpPr>
          <p:cNvPr id="17" name="Shape 15"/>
          <p:cNvSpPr/>
          <p:nvPr/>
        </p:nvSpPr>
        <p:spPr>
          <a:xfrm>
            <a:off x="4617720" y="1152144"/>
            <a:ext cx="4343400" cy="3749040"/>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sp>
        <p:nvSpPr>
          <p:cNvPr id="18" name="Shape 16"/>
          <p:cNvSpPr/>
          <p:nvPr/>
        </p:nvSpPr>
        <p:spPr>
          <a:xfrm>
            <a:off x="4617720" y="1152144"/>
            <a:ext cx="54864" cy="3749040"/>
          </a:xfrm>
          <a:prstGeom prst="rect">
            <a:avLst/>
          </a:prstGeom>
          <a:solidFill>
            <a:srgbClr val="FF6B6B"/>
          </a:solidFill>
          <a:ln/>
        </p:spPr>
      </p:sp>
      <p:sp>
        <p:nvSpPr>
          <p:cNvPr id="19" name="Text 17"/>
          <p:cNvSpPr/>
          <p:nvPr/>
        </p:nvSpPr>
        <p:spPr>
          <a:xfrm>
            <a:off x="4745736" y="1225296"/>
            <a:ext cx="4114800" cy="3566160"/>
          </a:xfrm>
          <a:prstGeom prst="rect">
            <a:avLst/>
          </a:prstGeom>
          <a:noFill/>
          <a:ln/>
        </p:spPr>
        <p:txBody>
          <a:bodyPr wrap="square" lIns="0" tIns="0" rIns="0" bIns="0" rtlCol="0" anchor="t"/>
          <a:lstStyle/>
          <a:p>
            <a:pPr marL="0" indent="0">
              <a:buNone/>
            </a:pPr>
            <a:r>
              <a:rPr lang="en-US" sz="1250" b="1" dirty="0">
                <a:solidFill>
                  <a:srgbClr val="1E2761"/>
                </a:solidFill>
                <a:latin typeface="Calibri" pitchFamily="34" charset="0"/>
                <a:ea typeface="Calibri" pitchFamily="34" charset="-122"/>
                <a:cs typeface="Calibri" pitchFamily="34" charset="-120"/>
              </a:rPr>
              <a:t>🏠 House Price Prediction
</a:t>
            </a:r>
            <a:r>
              <a:rPr lang="en-US" sz="1200" dirty="0">
                <a:solidFill>
                  <a:srgbClr val="1E293B"/>
                </a:solidFill>
                <a:latin typeface="Calibri" pitchFamily="34" charset="0"/>
                <a:ea typeface="Calibri" pitchFamily="34" charset="-122"/>
                <a:cs typeface="Calibri" pitchFamily="34" charset="-120"/>
              </a:rPr>
              <a:t>ŷ = 50,000 + 200×Area + 15,000×Bedrooms
• β₁=200: Each extra sq.ft adds ₹200 to price
• β₂=15,000: Each extra bedroom adds ₹15,000
• Negative β: More distance from city → lower price
</a:t>
            </a:r>
            <a:r>
              <a:rPr lang="en-US" sz="1250" b="1" dirty="0">
                <a:solidFill>
                  <a:srgbClr val="1E2761"/>
                </a:solidFill>
                <a:latin typeface="Calibri" pitchFamily="34" charset="0"/>
                <a:ea typeface="Calibri" pitchFamily="34" charset="-122"/>
                <a:cs typeface="Calibri" pitchFamily="34" charset="-120"/>
              </a:rPr>
              <a:t>⚕️ Medical Dosage
</a:t>
            </a:r>
            <a:r>
              <a:rPr lang="en-US" sz="1200" dirty="0">
                <a:solidFill>
                  <a:srgbClr val="1E293B"/>
                </a:solidFill>
                <a:latin typeface="Calibri" pitchFamily="34" charset="0"/>
                <a:ea typeface="Calibri" pitchFamily="34" charset="-122"/>
                <a:cs typeface="Calibri" pitchFamily="34" charset="-120"/>
              </a:rPr>
              <a:t>β for 'age' = −0.4 means every 1 year increase in age requires 0.4 mg less of a drug.</a:t>
            </a:r>
            <a:endParaRPr lang="en-US" sz="1250" dirty="0"/>
          </a:p>
          <a:p>
            <a:pPr marL="0" indent="0">
              <a:buNone/>
            </a:pPr>
            <a:endParaRPr lang="en-US" sz="1250" dirty="0"/>
          </a:p>
          <a:p>
            <a:pPr marL="0" indent="0">
              <a:buNone/>
            </a:pPr>
            <a:r>
              <a:rPr lang="en-US" sz="1200" dirty="0">
                <a:solidFill>
                  <a:srgbClr val="1E293B"/>
                </a:solidFill>
                <a:latin typeface="Calibri" pitchFamily="34" charset="0"/>
                <a:ea typeface="Calibri" pitchFamily="34" charset="-122"/>
                <a:cs typeface="Calibri" pitchFamily="34" charset="-120"/>
              </a:rPr>
              <a:t>Interpretation of sign tells direction; magnitude tells importance.</a:t>
            </a:r>
            <a:endParaRPr lang="en-US" sz="1250" dirty="0"/>
          </a:p>
        </p:txBody>
      </p:sp>
      <p:sp>
        <p:nvSpPr>
          <p:cNvPr id="20" name="Shape 18"/>
          <p:cNvSpPr/>
          <p:nvPr/>
        </p:nvSpPr>
        <p:spPr>
          <a:xfrm>
            <a:off x="0" y="4983480"/>
            <a:ext cx="9144000" cy="160020"/>
          </a:xfrm>
          <a:prstGeom prst="rect">
            <a:avLst/>
          </a:prstGeom>
          <a:solidFill>
            <a:srgbClr val="1E2761"/>
          </a:solidFill>
          <a:ln/>
        </p:spPr>
      </p:sp>
      <p:sp>
        <p:nvSpPr>
          <p:cNvPr id="21" name="Text 19"/>
          <p:cNvSpPr/>
          <p:nvPr/>
        </p:nvSpPr>
        <p:spPr>
          <a:xfrm>
            <a:off x="182880" y="4992624"/>
            <a:ext cx="8778240" cy="137160"/>
          </a:xfrm>
          <a:prstGeom prst="rect">
            <a:avLst/>
          </a:prstGeom>
          <a:noFill/>
          <a:ln/>
        </p:spPr>
        <p:txBody>
          <a:bodyPr wrap="square" lIns="0" tIns="0" rIns="0" bIns="0" rtlCol="0" anchor="ctr"/>
          <a:lstStyle/>
          <a:p>
            <a:pPr marL="0" indent="0" algn="ctr">
              <a:buNone/>
            </a:pPr>
            <a:r>
              <a:rPr lang="en-US" sz="800" dirty="0">
                <a:solidFill>
                  <a:srgbClr val="00C9A7"/>
                </a:solidFill>
                <a:latin typeface="Calibri" pitchFamily="34" charset="0"/>
                <a:ea typeface="Calibri" pitchFamily="34" charset="-122"/>
                <a:cs typeface="Calibri" pitchFamily="34" charset="-120"/>
              </a:rPr>
              <a:t>Topic 1 of 6  |  Advanced Regression</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p:spPr>
      </p:sp>
      <p:sp>
        <p:nvSpPr>
          <p:cNvPr id="3" name="Shape 1"/>
          <p:cNvSpPr/>
          <p:nvPr/>
        </p:nvSpPr>
        <p:spPr>
          <a:xfrm>
            <a:off x="0" y="658368"/>
            <a:ext cx="9144000" cy="36576"/>
          </a:xfrm>
          <a:prstGeom prst="rect">
            <a:avLst/>
          </a:prstGeom>
          <a:solidFill>
            <a:srgbClr val="FFD166"/>
          </a:solidFill>
          <a:ln/>
        </p:spPr>
      </p:sp>
      <p:sp>
        <p:nvSpPr>
          <p:cNvPr id="4" name="Text 2"/>
          <p:cNvSpPr/>
          <p:nvPr/>
        </p:nvSpPr>
        <p:spPr>
          <a:xfrm>
            <a:off x="164592" y="64008"/>
            <a:ext cx="7772400" cy="53035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1. Interpretation of Coefficients</a:t>
            </a:r>
            <a:endParaRPr lang="en-US" sz="2200" dirty="0"/>
          </a:p>
        </p:txBody>
      </p:sp>
      <p:sp>
        <p:nvSpPr>
          <p:cNvPr id="5" name="Text 3"/>
          <p:cNvSpPr/>
          <p:nvPr/>
        </p:nvSpPr>
        <p:spPr>
          <a:xfrm>
            <a:off x="7315200" y="182880"/>
            <a:ext cx="1645920" cy="320040"/>
          </a:xfrm>
          <a:prstGeom prst="rect">
            <a:avLst/>
          </a:prstGeom>
          <a:noFill/>
          <a:ln/>
        </p:spPr>
        <p:txBody>
          <a:bodyPr wrap="square" lIns="0" tIns="0" rIns="0" bIns="0" rtlCol="0" anchor="ctr"/>
          <a:lstStyle/>
          <a:p>
            <a:pPr marL="0" indent="0" algn="r">
              <a:buNone/>
            </a:pPr>
            <a:r>
              <a:rPr lang="en-US" sz="850" dirty="0">
                <a:solidFill>
                  <a:srgbClr val="FFD166"/>
                </a:solidFill>
                <a:latin typeface="Calibri" pitchFamily="34" charset="0"/>
                <a:ea typeface="Calibri" pitchFamily="34" charset="-122"/>
                <a:cs typeface="Calibri" pitchFamily="34" charset="-120"/>
              </a:rPr>
              <a:t>Graph  •  Python Code</a:t>
            </a:r>
            <a:endParaRPr lang="en-US" sz="850" dirty="0"/>
          </a:p>
        </p:txBody>
      </p:sp>
      <p:sp>
        <p:nvSpPr>
          <p:cNvPr id="6" name="Shape 4"/>
          <p:cNvSpPr/>
          <p:nvPr/>
        </p:nvSpPr>
        <p:spPr>
          <a:xfrm>
            <a:off x="164592" y="804672"/>
            <a:ext cx="5029200" cy="329184"/>
          </a:xfrm>
          <a:prstGeom prst="rect">
            <a:avLst/>
          </a:prstGeom>
          <a:solidFill>
            <a:srgbClr val="2D6A8F"/>
          </a:solidFill>
          <a:ln/>
          <a:effectLst>
            <a:outerShdw blurRad="101600" dist="38100" dir="8100000" algn="bl" rotWithShape="0">
              <a:srgbClr val="000000">
                <a:alpha val="12000"/>
              </a:srgbClr>
            </a:outerShdw>
          </a:effectLst>
        </p:spPr>
      </p:sp>
      <p:sp>
        <p:nvSpPr>
          <p:cNvPr id="7" name="Text 5"/>
          <p:cNvSpPr/>
          <p:nvPr/>
        </p:nvSpPr>
        <p:spPr>
          <a:xfrm>
            <a:off x="201168" y="822960"/>
            <a:ext cx="493776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VISUALIZATION</a:t>
            </a:r>
            <a:endParaRPr lang="en-US" sz="1200" dirty="0"/>
          </a:p>
        </p:txBody>
      </p:sp>
      <p:sp>
        <p:nvSpPr>
          <p:cNvPr id="8" name="Shape 6"/>
          <p:cNvSpPr/>
          <p:nvPr/>
        </p:nvSpPr>
        <p:spPr>
          <a:xfrm>
            <a:off x="164592" y="1133856"/>
            <a:ext cx="5029200" cy="3675888"/>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pic>
        <p:nvPicPr>
          <p:cNvPr id="9" name="Image 0" descr="preencoded.png"/>
          <p:cNvPicPr>
            <a:picLocks noChangeAspect="1"/>
          </p:cNvPicPr>
          <p:nvPr/>
        </p:nvPicPr>
        <p:blipFill>
          <a:blip r:embed="rId3"/>
          <a:stretch>
            <a:fillRect/>
          </a:stretch>
        </p:blipFill>
        <p:spPr>
          <a:xfrm>
            <a:off x="256032" y="1188720"/>
            <a:ext cx="4846320" cy="3566160"/>
          </a:xfrm>
          <a:prstGeom prst="rect">
            <a:avLst/>
          </a:prstGeom>
        </p:spPr>
      </p:pic>
      <p:sp>
        <p:nvSpPr>
          <p:cNvPr id="10" name="Shape 7"/>
          <p:cNvSpPr/>
          <p:nvPr/>
        </p:nvSpPr>
        <p:spPr>
          <a:xfrm>
            <a:off x="5394960" y="804672"/>
            <a:ext cx="3584448" cy="329184"/>
          </a:xfrm>
          <a:prstGeom prst="rect">
            <a:avLst/>
          </a:prstGeom>
          <a:solidFill>
            <a:srgbClr val="14532D"/>
          </a:solidFill>
          <a:ln/>
          <a:effectLst>
            <a:outerShdw blurRad="101600" dist="38100" dir="8100000" algn="bl" rotWithShape="0">
              <a:srgbClr val="000000">
                <a:alpha val="12000"/>
              </a:srgbClr>
            </a:outerShdw>
          </a:effectLst>
        </p:spPr>
      </p:sp>
      <p:sp>
        <p:nvSpPr>
          <p:cNvPr id="11" name="Text 8"/>
          <p:cNvSpPr/>
          <p:nvPr/>
        </p:nvSpPr>
        <p:spPr>
          <a:xfrm>
            <a:off x="5431536" y="822960"/>
            <a:ext cx="3520440" cy="274320"/>
          </a:xfrm>
          <a:prstGeom prst="rect">
            <a:avLst/>
          </a:prstGeom>
          <a:noFill/>
          <a:ln/>
        </p:spPr>
        <p:txBody>
          <a:bodyPr wrap="square" lIns="0" tIns="0" rIns="0" bIns="0" rtlCol="0" anchor="ctr"/>
          <a:lstStyle/>
          <a:p>
            <a:pPr marL="0" indent="0">
              <a:buNone/>
            </a:pPr>
            <a:r>
              <a:rPr lang="en-US" sz="1200" b="1" dirty="0">
                <a:solidFill>
                  <a:srgbClr val="86EFAC"/>
                </a:solidFill>
                <a:latin typeface="Calibri" pitchFamily="34" charset="0"/>
                <a:ea typeface="Calibri" pitchFamily="34" charset="-122"/>
                <a:cs typeface="Calibri" pitchFamily="34" charset="-120"/>
              </a:rPr>
              <a:t>🐍 PYTHON CODE</a:t>
            </a:r>
            <a:endParaRPr lang="en-US" sz="1200" dirty="0"/>
          </a:p>
        </p:txBody>
      </p:sp>
      <p:sp>
        <p:nvSpPr>
          <p:cNvPr id="12" name="Shape 9"/>
          <p:cNvSpPr/>
          <p:nvPr/>
        </p:nvSpPr>
        <p:spPr>
          <a:xfrm>
            <a:off x="5394960" y="1133856"/>
            <a:ext cx="3584448" cy="3675888"/>
          </a:xfrm>
          <a:prstGeom prst="rect">
            <a:avLst/>
          </a:prstGeom>
          <a:solidFill>
            <a:srgbClr val="1A1A2E"/>
          </a:solidFill>
          <a:ln/>
          <a:effectLst>
            <a:outerShdw blurRad="101600" dist="38100" dir="8100000" algn="bl" rotWithShape="0">
              <a:srgbClr val="000000">
                <a:alpha val="12000"/>
              </a:srgbClr>
            </a:outerShdw>
          </a:effectLst>
        </p:spPr>
      </p:sp>
      <p:sp>
        <p:nvSpPr>
          <p:cNvPr id="13" name="Text 10"/>
          <p:cNvSpPr/>
          <p:nvPr/>
        </p:nvSpPr>
        <p:spPr>
          <a:xfrm>
            <a:off x="5486400" y="1188720"/>
            <a:ext cx="3401568" cy="3547872"/>
          </a:xfrm>
          <a:prstGeom prst="rect">
            <a:avLst/>
          </a:prstGeom>
          <a:noFill/>
          <a:ln/>
        </p:spPr>
        <p:txBody>
          <a:bodyPr wrap="square" lIns="0" tIns="0" rIns="0" bIns="0" rtlCol="0" anchor="t"/>
          <a:lstStyle/>
          <a:p>
            <a:pPr marL="0" indent="0">
              <a:buNone/>
            </a:pPr>
            <a:r>
              <a:rPr lang="en-US" sz="950" dirty="0">
                <a:solidFill>
                  <a:srgbClr val="A0D9EF"/>
                </a:solidFill>
                <a:latin typeface="Courier New" pitchFamily="34" charset="0"/>
                <a:ea typeface="Courier New" pitchFamily="34" charset="-122"/>
                <a:cs typeface="Courier New" pitchFamily="34" charset="-120"/>
              </a:rPr>
              <a:t>import numpy as np
</a:t>
            </a:r>
            <a:endParaRPr lang="en-US" sz="950" dirty="0"/>
          </a:p>
          <a:p>
            <a:pPr marL="0" indent="0">
              <a:buNone/>
            </a:pPr>
            <a:r>
              <a:rPr lang="en-US" sz="950" dirty="0">
                <a:solidFill>
                  <a:srgbClr val="C3E88D"/>
                </a:solidFill>
                <a:latin typeface="Courier New" pitchFamily="34" charset="0"/>
                <a:ea typeface="Courier New" pitchFamily="34" charset="-122"/>
                <a:cs typeface="Courier New" pitchFamily="34" charset="-120"/>
              </a:rPr>
              <a:t>from sklearn.linear_model </a:t>
            </a:r>
            <a:endParaRPr lang="en-US" sz="950" dirty="0"/>
          </a:p>
          <a:p>
            <a:pPr marL="0" indent="0">
              <a:buNone/>
            </a:pPr>
            <a:r>
              <a:rPr lang="en-US" sz="950" dirty="0">
                <a:solidFill>
                  <a:srgbClr val="C3E88D"/>
                </a:solidFill>
                <a:latin typeface="Courier New" pitchFamily="34" charset="0"/>
                <a:ea typeface="Courier New" pitchFamily="34" charset="-122"/>
                <a:cs typeface="Courier New" pitchFamily="34" charset="-120"/>
              </a:rPr>
              <a:t>import LinearRegression
</a:t>
            </a:r>
            <a:endParaRPr lang="en-US" sz="950" dirty="0"/>
          </a:p>
          <a:p>
            <a:pPr marL="0" indent="0">
              <a:buNone/>
            </a:pPr>
            <a:r>
              <a:rPr lang="en-US" sz="950" dirty="0">
                <a:solidFill>
                  <a:srgbClr val="A0D9EF"/>
                </a:solidFill>
                <a:latin typeface="Courier New" pitchFamily="34" charset="0"/>
                <a:ea typeface="Courier New" pitchFamily="34" charset="-122"/>
                <a:cs typeface="Courier New" pitchFamily="34" charset="-120"/>
              </a:rPr>
              <a:t>import pandas as pd
</a:t>
            </a:r>
            <a:r>
              <a:rPr lang="en-US" sz="950" dirty="0">
                <a:solidFill>
                  <a:srgbClr val="696969"/>
                </a:solidFill>
                <a:latin typeface="Courier New" pitchFamily="34" charset="0"/>
                <a:ea typeface="Courier New" pitchFamily="34" charset="-122"/>
                <a:cs typeface="Courier New" pitchFamily="34" charset="-120"/>
              </a:rPr>
              <a:t># Sample data
</a:t>
            </a:r>
            <a:r>
              <a:rPr lang="en-US" sz="950" dirty="0">
                <a:solidFill>
                  <a:srgbClr val="E2E8F0"/>
                </a:solidFill>
                <a:latin typeface="Courier New" pitchFamily="34" charset="0"/>
                <a:ea typeface="Courier New" pitchFamily="34" charset="-122"/>
                <a:cs typeface="Courier New" pitchFamily="34" charset="-120"/>
              </a:rPr>
              <a:t>X = pd.DataFrame({
  'Area': [1200,1500,800,2000],
  'Bedrooms': [2,3,1,4]
})
y = [250000,320000,180000,450000]
model = LinearRegression()
</a:t>
            </a:r>
            <a:r>
              <a:rPr lang="en-US" sz="950" dirty="0" err="1">
                <a:solidFill>
                  <a:srgbClr val="E2E8F0"/>
                </a:solidFill>
                <a:latin typeface="Courier New" pitchFamily="34" charset="0"/>
                <a:ea typeface="Courier New" pitchFamily="34" charset="-122"/>
                <a:cs typeface="Courier New" pitchFamily="34" charset="-120"/>
              </a:rPr>
              <a:t>model.fit</a:t>
            </a:r>
            <a:r>
              <a:rPr lang="en-US" sz="950" dirty="0">
                <a:solidFill>
                  <a:srgbClr val="E2E8F0"/>
                </a:solidFill>
                <a:latin typeface="Courier New" pitchFamily="34" charset="0"/>
                <a:ea typeface="Courier New" pitchFamily="34" charset="-122"/>
                <a:cs typeface="Courier New" pitchFamily="34" charset="-120"/>
              </a:rPr>
              <a:t>(X, y)
</a:t>
            </a:r>
            <a:r>
              <a:rPr lang="en-US" sz="950" dirty="0">
                <a:solidFill>
                  <a:srgbClr val="696969"/>
                </a:solidFill>
                <a:latin typeface="Courier New" pitchFamily="34" charset="0"/>
                <a:ea typeface="Courier New" pitchFamily="34" charset="-122"/>
                <a:cs typeface="Courier New" pitchFamily="34" charset="-120"/>
              </a:rPr>
              <a:t># Print coefficients
</a:t>
            </a:r>
            <a:r>
              <a:rPr lang="en-US" sz="950" dirty="0">
                <a:solidFill>
                  <a:srgbClr val="E2E8F0"/>
                </a:solidFill>
                <a:latin typeface="Courier New" pitchFamily="34" charset="0"/>
                <a:ea typeface="Courier New" pitchFamily="34" charset="-122"/>
                <a:cs typeface="Courier New" pitchFamily="34" charset="-120"/>
              </a:rPr>
              <a:t>print('Intercept:', model.intercept_)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for name, coef in zip(
    X.columns, model.coef_):
  print(f'{name}: {coef:.2f}')
</a:t>
            </a:r>
            <a:r>
              <a:rPr lang="en-US" sz="950" dirty="0">
                <a:solidFill>
                  <a:srgbClr val="696969"/>
                </a:solidFill>
                <a:latin typeface="Courier New" pitchFamily="34" charset="0"/>
                <a:ea typeface="Courier New" pitchFamily="34" charset="-122"/>
                <a:cs typeface="Courier New" pitchFamily="34" charset="-120"/>
              </a:rPr>
              <a:t># Interpretation:
</a:t>
            </a:r>
            <a:r>
              <a:rPr lang="en-US" sz="950" dirty="0">
                <a:solidFill>
                  <a:srgbClr val="C3E88D"/>
                </a:solidFill>
                <a:latin typeface="Courier New" pitchFamily="34" charset="0"/>
                <a:ea typeface="Courier New" pitchFamily="34" charset="-122"/>
                <a:cs typeface="Courier New" pitchFamily="34" charset="-120"/>
              </a:rPr>
              <a:t># Area=200 → +₹200/sq.ft
</a:t>
            </a:r>
            <a:endParaRPr lang="en-US" sz="950" dirty="0"/>
          </a:p>
          <a:p>
            <a:pPr marL="0" indent="0">
              <a:buNone/>
            </a:pPr>
            <a:r>
              <a:rPr lang="en-US" sz="950" dirty="0">
                <a:solidFill>
                  <a:srgbClr val="C3E88D"/>
                </a:solidFill>
                <a:latin typeface="Courier New" pitchFamily="34" charset="0"/>
                <a:ea typeface="Courier New" pitchFamily="34" charset="-122"/>
                <a:cs typeface="Courier New" pitchFamily="34" charset="-120"/>
              </a:rPr>
              <a:t># Rooms=15000 → +₹15k/room</a:t>
            </a:r>
            <a:endParaRPr lang="en-US" sz="950" dirty="0"/>
          </a:p>
        </p:txBody>
      </p:sp>
      <p:sp>
        <p:nvSpPr>
          <p:cNvPr id="14" name="Shape 11"/>
          <p:cNvSpPr/>
          <p:nvPr/>
        </p:nvSpPr>
        <p:spPr>
          <a:xfrm>
            <a:off x="0" y="4983480"/>
            <a:ext cx="9144000" cy="160020"/>
          </a:xfrm>
          <a:prstGeom prst="rect">
            <a:avLst/>
          </a:prstGeom>
          <a:solidFill>
            <a:srgbClr val="1E2761"/>
          </a:solidFill>
          <a:ln/>
        </p:spPr>
      </p:sp>
      <p:sp>
        <p:nvSpPr>
          <p:cNvPr id="15" name="Text 12"/>
          <p:cNvSpPr/>
          <p:nvPr/>
        </p:nvSpPr>
        <p:spPr>
          <a:xfrm>
            <a:off x="182880" y="4992624"/>
            <a:ext cx="8778240" cy="137160"/>
          </a:xfrm>
          <a:prstGeom prst="rect">
            <a:avLst/>
          </a:prstGeom>
          <a:noFill/>
          <a:ln/>
        </p:spPr>
        <p:txBody>
          <a:bodyPr wrap="square" lIns="0" tIns="0" rIns="0" bIns="0" rtlCol="0" anchor="ctr"/>
          <a:lstStyle/>
          <a:p>
            <a:pPr marL="0" indent="0" algn="ctr">
              <a:buNone/>
            </a:pPr>
            <a:r>
              <a:rPr lang="en-US" sz="800" dirty="0">
                <a:solidFill>
                  <a:srgbClr val="FFD166"/>
                </a:solidFill>
                <a:latin typeface="Calibri" pitchFamily="34" charset="0"/>
                <a:ea typeface="Calibri" pitchFamily="34" charset="-122"/>
                <a:cs typeface="Calibri" pitchFamily="34" charset="-120"/>
              </a:rPr>
              <a:t>Topic 1 of 6  |  Advanced Regression</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p:spPr>
      </p:sp>
      <p:sp>
        <p:nvSpPr>
          <p:cNvPr id="3" name="Shape 1"/>
          <p:cNvSpPr/>
          <p:nvPr/>
        </p:nvSpPr>
        <p:spPr>
          <a:xfrm>
            <a:off x="0" y="658368"/>
            <a:ext cx="9144000" cy="36576"/>
          </a:xfrm>
          <a:prstGeom prst="rect">
            <a:avLst/>
          </a:prstGeom>
          <a:solidFill>
            <a:srgbClr val="00C9A7"/>
          </a:solidFill>
          <a:ln/>
        </p:spPr>
      </p:sp>
      <p:sp>
        <p:nvSpPr>
          <p:cNvPr id="4" name="Text 2"/>
          <p:cNvSpPr/>
          <p:nvPr/>
        </p:nvSpPr>
        <p:spPr>
          <a:xfrm>
            <a:off x="164592" y="64008"/>
            <a:ext cx="7772400" cy="53035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2. Regularized Regression Models</a:t>
            </a:r>
            <a:endParaRPr lang="en-US" sz="2200" dirty="0"/>
          </a:p>
        </p:txBody>
      </p:sp>
      <p:sp>
        <p:nvSpPr>
          <p:cNvPr id="5" name="Text 3"/>
          <p:cNvSpPr/>
          <p:nvPr/>
        </p:nvSpPr>
        <p:spPr>
          <a:xfrm>
            <a:off x="7315200" y="182880"/>
            <a:ext cx="1645920" cy="320040"/>
          </a:xfrm>
          <a:prstGeom prst="rect">
            <a:avLst/>
          </a:prstGeom>
          <a:noFill/>
          <a:ln/>
        </p:spPr>
        <p:txBody>
          <a:bodyPr wrap="square" lIns="0" tIns="0" rIns="0" bIns="0" rtlCol="0" anchor="ctr"/>
          <a:lstStyle/>
          <a:p>
            <a:pPr marL="0" indent="0" algn="r">
              <a:buNone/>
            </a:pPr>
            <a:r>
              <a:rPr lang="en-US" sz="850" dirty="0">
                <a:solidFill>
                  <a:srgbClr val="00C9A7"/>
                </a:solidFill>
                <a:latin typeface="Calibri" pitchFamily="34" charset="0"/>
                <a:ea typeface="Calibri" pitchFamily="34" charset="-122"/>
                <a:cs typeface="Calibri" pitchFamily="34" charset="-120"/>
              </a:rPr>
              <a:t>Definition  •  Equation  •  Real-Life Example</a:t>
            </a:r>
            <a:endParaRPr lang="en-US" sz="850" dirty="0"/>
          </a:p>
        </p:txBody>
      </p:sp>
      <p:sp>
        <p:nvSpPr>
          <p:cNvPr id="6" name="Shape 4"/>
          <p:cNvSpPr/>
          <p:nvPr/>
        </p:nvSpPr>
        <p:spPr>
          <a:xfrm>
            <a:off x="164592" y="822960"/>
            <a:ext cx="4160520" cy="329184"/>
          </a:xfrm>
          <a:prstGeom prst="rect">
            <a:avLst/>
          </a:prstGeom>
          <a:solidFill>
            <a:srgbClr val="1E2761"/>
          </a:solidFill>
          <a:ln/>
          <a:effectLst>
            <a:outerShdw blurRad="101600" dist="38100" dir="8100000" algn="bl" rotWithShape="0">
              <a:srgbClr val="000000">
                <a:alpha val="12000"/>
              </a:srgbClr>
            </a:outerShdw>
          </a:effectLst>
        </p:spPr>
      </p:sp>
      <p:sp>
        <p:nvSpPr>
          <p:cNvPr id="7" name="Text 5"/>
          <p:cNvSpPr/>
          <p:nvPr/>
        </p:nvSpPr>
        <p:spPr>
          <a:xfrm>
            <a:off x="201168" y="841248"/>
            <a:ext cx="4114800" cy="274320"/>
          </a:xfrm>
          <a:prstGeom prst="rect">
            <a:avLst/>
          </a:prstGeom>
          <a:noFill/>
          <a:ln/>
        </p:spPr>
        <p:txBody>
          <a:bodyPr wrap="square" lIns="0" tIns="0" rIns="0" bIns="0" rtlCol="0" anchor="ctr"/>
          <a:lstStyle/>
          <a:p>
            <a:pPr marL="0" indent="0">
              <a:buNone/>
            </a:pPr>
            <a:r>
              <a:rPr lang="en-US" sz="1200" b="1" dirty="0">
                <a:solidFill>
                  <a:srgbClr val="00C9A7"/>
                </a:solidFill>
                <a:latin typeface="Calibri" pitchFamily="34" charset="0"/>
                <a:ea typeface="Calibri" pitchFamily="34" charset="-122"/>
                <a:cs typeface="Calibri" pitchFamily="34" charset="-120"/>
              </a:rPr>
              <a:t>📖 DEFINITION</a:t>
            </a:r>
            <a:endParaRPr lang="en-US" sz="1200" dirty="0"/>
          </a:p>
        </p:txBody>
      </p:sp>
      <p:sp>
        <p:nvSpPr>
          <p:cNvPr id="8" name="Shape 6"/>
          <p:cNvSpPr/>
          <p:nvPr/>
        </p:nvSpPr>
        <p:spPr>
          <a:xfrm>
            <a:off x="164592" y="1152144"/>
            <a:ext cx="4160520" cy="1755648"/>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sp>
        <p:nvSpPr>
          <p:cNvPr id="9" name="Shape 7"/>
          <p:cNvSpPr/>
          <p:nvPr/>
        </p:nvSpPr>
        <p:spPr>
          <a:xfrm>
            <a:off x="164592" y="1152144"/>
            <a:ext cx="54864" cy="1755648"/>
          </a:xfrm>
          <a:prstGeom prst="rect">
            <a:avLst/>
          </a:prstGeom>
          <a:solidFill>
            <a:srgbClr val="00C9A7"/>
          </a:solidFill>
          <a:ln/>
        </p:spPr>
      </p:sp>
      <p:sp>
        <p:nvSpPr>
          <p:cNvPr id="10" name="Text 8"/>
          <p:cNvSpPr/>
          <p:nvPr/>
        </p:nvSpPr>
        <p:spPr>
          <a:xfrm>
            <a:off x="292608" y="1207008"/>
            <a:ext cx="3931920" cy="1627632"/>
          </a:xfrm>
          <a:prstGeom prst="rect">
            <a:avLst/>
          </a:prstGeom>
          <a:noFill/>
          <a:ln/>
        </p:spPr>
        <p:txBody>
          <a:bodyPr wrap="square" lIns="0" tIns="0" rIns="0" bIns="0" rtlCol="0" anchor="t"/>
          <a:lstStyle/>
          <a:p>
            <a:pPr marL="0" indent="0">
              <a:buNone/>
            </a:pPr>
            <a:r>
              <a:rPr lang="en-US" sz="1250" dirty="0">
                <a:solidFill>
                  <a:srgbClr val="1E293B"/>
                </a:solidFill>
                <a:latin typeface="Calibri" pitchFamily="34" charset="0"/>
                <a:ea typeface="Calibri" pitchFamily="34" charset="-122"/>
                <a:cs typeface="Calibri" pitchFamily="34" charset="-120"/>
              </a:rPr>
              <a:t>Regularization adds a penalty term to the loss function to prevent overfitting by discouraging large coefficient values. Ridge (L2) regression penalizes the sum of squared coefficients, shrinking all towards zero but never eliminating any. Lasso (L1) penalizes the absolute sum, enabling feature selection by forcing some coefficients to exactly zero. ElasticNet combines both L1 and L2 penalties, balancing sparsity and grouping effects.</a:t>
            </a:r>
            <a:endParaRPr lang="en-US" sz="1250" dirty="0"/>
          </a:p>
        </p:txBody>
      </p:sp>
      <p:sp>
        <p:nvSpPr>
          <p:cNvPr id="11" name="Shape 9"/>
          <p:cNvSpPr/>
          <p:nvPr/>
        </p:nvSpPr>
        <p:spPr>
          <a:xfrm>
            <a:off x="164592" y="2999232"/>
            <a:ext cx="4160520" cy="329184"/>
          </a:xfrm>
          <a:prstGeom prst="rect">
            <a:avLst/>
          </a:prstGeom>
          <a:solidFill>
            <a:srgbClr val="2D6A8F"/>
          </a:solidFill>
          <a:ln/>
          <a:effectLst>
            <a:outerShdw blurRad="101600" dist="38100" dir="8100000" algn="bl" rotWithShape="0">
              <a:srgbClr val="000000">
                <a:alpha val="12000"/>
              </a:srgbClr>
            </a:outerShdw>
          </a:effectLst>
        </p:spPr>
      </p:sp>
      <p:sp>
        <p:nvSpPr>
          <p:cNvPr id="12" name="Text 10"/>
          <p:cNvSpPr/>
          <p:nvPr/>
        </p:nvSpPr>
        <p:spPr>
          <a:xfrm>
            <a:off x="201168" y="3017520"/>
            <a:ext cx="411480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MATHEMATICAL EQUATION</a:t>
            </a:r>
            <a:endParaRPr lang="en-US" sz="1150" dirty="0"/>
          </a:p>
        </p:txBody>
      </p:sp>
      <p:sp>
        <p:nvSpPr>
          <p:cNvPr id="13" name="Shape 11"/>
          <p:cNvSpPr/>
          <p:nvPr/>
        </p:nvSpPr>
        <p:spPr>
          <a:xfrm>
            <a:off x="164592" y="3328416"/>
            <a:ext cx="4160520" cy="1641348"/>
          </a:xfrm>
          <a:prstGeom prst="rect">
            <a:avLst/>
          </a:prstGeom>
          <a:solidFill>
            <a:srgbClr val="1A1A2E"/>
          </a:solidFill>
          <a:ln/>
          <a:effectLst>
            <a:outerShdw blurRad="101600" dist="38100" dir="8100000" algn="bl" rotWithShape="0">
              <a:srgbClr val="000000">
                <a:alpha val="12000"/>
              </a:srgbClr>
            </a:outerShdw>
          </a:effectLst>
        </p:spPr>
      </p:sp>
      <p:sp>
        <p:nvSpPr>
          <p:cNvPr id="14" name="Text 12"/>
          <p:cNvSpPr/>
          <p:nvPr/>
        </p:nvSpPr>
        <p:spPr>
          <a:xfrm>
            <a:off x="274320" y="3383280"/>
            <a:ext cx="3931920" cy="1320243"/>
          </a:xfrm>
          <a:prstGeom prst="rect">
            <a:avLst/>
          </a:prstGeom>
          <a:noFill/>
          <a:ln/>
        </p:spPr>
        <p:txBody>
          <a:bodyPr wrap="square" lIns="0" tIns="0" rIns="0" bIns="0" rtlCol="0" anchor="t"/>
          <a:lstStyle/>
          <a:p>
            <a:pPr marL="0" indent="0">
              <a:buNone/>
            </a:pPr>
            <a:r>
              <a:rPr lang="en-US" sz="1300" b="1" dirty="0">
                <a:solidFill>
                  <a:srgbClr val="FFD166"/>
                </a:solidFill>
                <a:latin typeface="Courier New" pitchFamily="34" charset="0"/>
                <a:ea typeface="Courier New" pitchFamily="34" charset="-122"/>
                <a:cs typeface="Courier New" pitchFamily="34" charset="-120"/>
              </a:rPr>
              <a:t>Ridge (L2):
</a:t>
            </a:r>
            <a:r>
              <a:rPr lang="en-US" sz="1300" dirty="0">
                <a:solidFill>
                  <a:srgbClr val="E2E8F0"/>
                </a:solidFill>
                <a:latin typeface="Courier New" pitchFamily="34" charset="0"/>
                <a:ea typeface="Courier New" pitchFamily="34" charset="-122"/>
                <a:cs typeface="Courier New" pitchFamily="34" charset="-120"/>
              </a:rPr>
              <a:t>L = Σ(yᵢ - ŷᵢ)² + λΣβⱼ²
</a:t>
            </a:r>
            <a:r>
              <a:rPr lang="en-US" sz="1300" b="1" dirty="0">
                <a:solidFill>
                  <a:srgbClr val="FFD166"/>
                </a:solidFill>
                <a:latin typeface="Courier New" pitchFamily="34" charset="0"/>
                <a:ea typeface="Courier New" pitchFamily="34" charset="-122"/>
                <a:cs typeface="Courier New" pitchFamily="34" charset="-120"/>
              </a:rPr>
              <a:t>Lasso (L1):
</a:t>
            </a:r>
            <a:r>
              <a:rPr lang="en-US" sz="1300" dirty="0">
                <a:solidFill>
                  <a:srgbClr val="E2E8F0"/>
                </a:solidFill>
                <a:latin typeface="Courier New" pitchFamily="34" charset="0"/>
                <a:ea typeface="Courier New" pitchFamily="34" charset="-122"/>
                <a:cs typeface="Courier New" pitchFamily="34" charset="-120"/>
              </a:rPr>
              <a:t>L = Σ(yᵢ - ŷᵢ)² + λΣ|βⱼ|
</a:t>
            </a:r>
            <a:r>
              <a:rPr lang="en-US" sz="1300" b="1" dirty="0">
                <a:solidFill>
                  <a:srgbClr val="FFD166"/>
                </a:solidFill>
                <a:latin typeface="Courier New" pitchFamily="34" charset="0"/>
                <a:ea typeface="Courier New" pitchFamily="34" charset="-122"/>
                <a:cs typeface="Courier New" pitchFamily="34" charset="-120"/>
              </a:rPr>
              <a:t>ElasticNet:
</a:t>
            </a:r>
            <a:r>
              <a:rPr lang="en-US" sz="1300" dirty="0">
                <a:solidFill>
                  <a:srgbClr val="E2E8F0"/>
                </a:solidFill>
                <a:latin typeface="Courier New" pitchFamily="34" charset="0"/>
                <a:ea typeface="Courier New" pitchFamily="34" charset="-122"/>
                <a:cs typeface="Courier New" pitchFamily="34" charset="-120"/>
              </a:rPr>
              <a:t>L = Σ(yᵢ-ŷᵢ)² + λ₁Σ|βⱼ| + λ₂Σβⱼ²
</a:t>
            </a:r>
            <a:endParaRPr lang="en-US" sz="1300" dirty="0"/>
          </a:p>
          <a:p>
            <a:pPr marL="0" indent="0">
              <a:buNone/>
            </a:pPr>
            <a:r>
              <a:rPr lang="en-US" sz="1300" dirty="0">
                <a:solidFill>
                  <a:srgbClr val="E2E8F0"/>
                </a:solidFill>
                <a:latin typeface="Courier New" pitchFamily="34" charset="0"/>
                <a:ea typeface="Courier New" pitchFamily="34" charset="-122"/>
                <a:cs typeface="Courier New" pitchFamily="34" charset="-120"/>
              </a:rPr>
              <a:t>Where λ = regularization strength
</a:t>
            </a:r>
            <a:endParaRPr lang="en-US" sz="1300" dirty="0"/>
          </a:p>
          <a:p>
            <a:pPr marL="0" indent="0">
              <a:buNone/>
            </a:pPr>
            <a:r>
              <a:rPr lang="en-US" sz="1300" dirty="0">
                <a:solidFill>
                  <a:srgbClr val="00C9A7"/>
                </a:solidFill>
                <a:latin typeface="Courier New" pitchFamily="34" charset="0"/>
                <a:ea typeface="Courier New" pitchFamily="34" charset="-122"/>
                <a:cs typeface="Courier New" pitchFamily="34" charset="-120"/>
              </a:rPr>
              <a:t>λ→0: Full model  |  λ→∞: Underfit</a:t>
            </a:r>
            <a:endParaRPr lang="en-US" sz="1300" dirty="0"/>
          </a:p>
        </p:txBody>
      </p:sp>
      <p:sp>
        <p:nvSpPr>
          <p:cNvPr id="15" name="Shape 13"/>
          <p:cNvSpPr/>
          <p:nvPr/>
        </p:nvSpPr>
        <p:spPr>
          <a:xfrm>
            <a:off x="4617720" y="822960"/>
            <a:ext cx="4343400" cy="329184"/>
          </a:xfrm>
          <a:prstGeom prst="rect">
            <a:avLst/>
          </a:prstGeom>
          <a:solidFill>
            <a:srgbClr val="FF6B6B"/>
          </a:solidFill>
          <a:ln/>
          <a:effectLst>
            <a:outerShdw blurRad="101600" dist="38100" dir="8100000" algn="bl" rotWithShape="0">
              <a:srgbClr val="000000">
                <a:alpha val="12000"/>
              </a:srgbClr>
            </a:outerShdw>
          </a:effectLst>
        </p:spPr>
      </p:sp>
      <p:sp>
        <p:nvSpPr>
          <p:cNvPr id="16" name="Text 14"/>
          <p:cNvSpPr/>
          <p:nvPr/>
        </p:nvSpPr>
        <p:spPr>
          <a:xfrm>
            <a:off x="4654296" y="841248"/>
            <a:ext cx="429768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REAL-LIFE EXAMPLE</a:t>
            </a:r>
            <a:endParaRPr lang="en-US" sz="1200" dirty="0"/>
          </a:p>
        </p:txBody>
      </p:sp>
      <p:sp>
        <p:nvSpPr>
          <p:cNvPr id="17" name="Shape 15"/>
          <p:cNvSpPr/>
          <p:nvPr/>
        </p:nvSpPr>
        <p:spPr>
          <a:xfrm>
            <a:off x="4617720" y="1152144"/>
            <a:ext cx="4343400" cy="3749040"/>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sp>
        <p:nvSpPr>
          <p:cNvPr id="18" name="Shape 16"/>
          <p:cNvSpPr/>
          <p:nvPr/>
        </p:nvSpPr>
        <p:spPr>
          <a:xfrm>
            <a:off x="4617720" y="1152144"/>
            <a:ext cx="54864" cy="3749040"/>
          </a:xfrm>
          <a:prstGeom prst="rect">
            <a:avLst/>
          </a:prstGeom>
          <a:solidFill>
            <a:srgbClr val="FF6B6B"/>
          </a:solidFill>
          <a:ln/>
        </p:spPr>
      </p:sp>
      <p:sp>
        <p:nvSpPr>
          <p:cNvPr id="19" name="Text 17"/>
          <p:cNvSpPr/>
          <p:nvPr/>
        </p:nvSpPr>
        <p:spPr>
          <a:xfrm>
            <a:off x="4745736" y="1225296"/>
            <a:ext cx="4114800" cy="3566160"/>
          </a:xfrm>
          <a:prstGeom prst="rect">
            <a:avLst/>
          </a:prstGeom>
          <a:noFill/>
          <a:ln/>
        </p:spPr>
        <p:txBody>
          <a:bodyPr wrap="square" lIns="0" tIns="0" rIns="0" bIns="0" rtlCol="0" anchor="t"/>
          <a:lstStyle/>
          <a:p>
            <a:pPr marL="0" indent="0">
              <a:buNone/>
            </a:pPr>
            <a:r>
              <a:rPr lang="en-US" sz="1250" b="1" dirty="0">
                <a:solidFill>
                  <a:srgbClr val="1E2761"/>
                </a:solidFill>
                <a:latin typeface="Calibri" pitchFamily="34" charset="0"/>
                <a:ea typeface="Calibri" pitchFamily="34" charset="-122"/>
                <a:cs typeface="Calibri" pitchFamily="34" charset="-120"/>
              </a:rPr>
              <a:t>🧬 Genomics (Lasso)
</a:t>
            </a:r>
            <a:r>
              <a:rPr lang="en-US" sz="1200" dirty="0">
                <a:solidFill>
                  <a:srgbClr val="1E293B"/>
                </a:solidFill>
                <a:latin typeface="Calibri" pitchFamily="34" charset="0"/>
                <a:ea typeface="Calibri" pitchFamily="34" charset="-122"/>
                <a:cs typeface="Calibri" pitchFamily="34" charset="-120"/>
              </a:rPr>
              <a:t>With 20,000 gene features and only 200 patients, Lasso forces most gene coefficients to zero, selecting only the ~50 most predictive genes for cancer risk. This prevents overfitting and gives interpretable results.
</a:t>
            </a:r>
            <a:r>
              <a:rPr lang="en-US" sz="1250" b="1" dirty="0">
                <a:solidFill>
                  <a:srgbClr val="1E2761"/>
                </a:solidFill>
                <a:latin typeface="Calibri" pitchFamily="34" charset="0"/>
                <a:ea typeface="Calibri" pitchFamily="34" charset="-122"/>
                <a:cs typeface="Calibri" pitchFamily="34" charset="-120"/>
              </a:rPr>
              <a:t>📈 Finance (Ridge)
</a:t>
            </a:r>
            <a:r>
              <a:rPr lang="en-US" sz="1200" dirty="0">
                <a:solidFill>
                  <a:srgbClr val="1E293B"/>
                </a:solidFill>
                <a:latin typeface="Calibri" pitchFamily="34" charset="0"/>
                <a:ea typeface="Calibri" pitchFamily="34" charset="-122"/>
                <a:cs typeface="Calibri" pitchFamily="34" charset="-120"/>
              </a:rPr>
              <a:t>Predicting stock returns using 500 correlated financial indicators. Ridge shrinks all coefficients, stabilizing predictions in presence of multicollinearity.</a:t>
            </a:r>
            <a:endParaRPr lang="en-US" sz="1250" dirty="0"/>
          </a:p>
          <a:p>
            <a:pPr marL="0" indent="0">
              <a:buNone/>
            </a:pPr>
            <a:endParaRPr lang="en-US" sz="1250" dirty="0"/>
          </a:p>
          <a:p>
            <a:pPr marL="0" indent="0">
              <a:buNone/>
            </a:pPr>
            <a:r>
              <a:rPr lang="en-US" sz="1200" dirty="0">
                <a:solidFill>
                  <a:srgbClr val="1E293B"/>
                </a:solidFill>
                <a:latin typeface="Calibri" pitchFamily="34" charset="0"/>
                <a:ea typeface="Calibri" pitchFamily="34" charset="-122"/>
                <a:cs typeface="Calibri" pitchFamily="34" charset="-120"/>
              </a:rPr>
              <a:t>Key choice: λ tuned via cross-validation.</a:t>
            </a:r>
            <a:endParaRPr lang="en-US" sz="1250" dirty="0"/>
          </a:p>
        </p:txBody>
      </p:sp>
      <p:sp>
        <p:nvSpPr>
          <p:cNvPr id="20" name="Shape 18"/>
          <p:cNvSpPr/>
          <p:nvPr/>
        </p:nvSpPr>
        <p:spPr>
          <a:xfrm>
            <a:off x="0" y="4983480"/>
            <a:ext cx="9144000" cy="160020"/>
          </a:xfrm>
          <a:prstGeom prst="rect">
            <a:avLst/>
          </a:prstGeom>
          <a:solidFill>
            <a:srgbClr val="1E2761"/>
          </a:solidFill>
          <a:ln/>
        </p:spPr>
      </p:sp>
      <p:sp>
        <p:nvSpPr>
          <p:cNvPr id="21" name="Text 19"/>
          <p:cNvSpPr/>
          <p:nvPr/>
        </p:nvSpPr>
        <p:spPr>
          <a:xfrm>
            <a:off x="182880" y="4992624"/>
            <a:ext cx="8778240" cy="137160"/>
          </a:xfrm>
          <a:prstGeom prst="rect">
            <a:avLst/>
          </a:prstGeom>
          <a:noFill/>
          <a:ln/>
        </p:spPr>
        <p:txBody>
          <a:bodyPr wrap="square" lIns="0" tIns="0" rIns="0" bIns="0" rtlCol="0" anchor="ctr"/>
          <a:lstStyle/>
          <a:p>
            <a:pPr marL="0" indent="0" algn="ctr">
              <a:buNone/>
            </a:pPr>
            <a:r>
              <a:rPr lang="en-US" sz="800" dirty="0">
                <a:solidFill>
                  <a:srgbClr val="00C9A7"/>
                </a:solidFill>
                <a:latin typeface="Calibri" pitchFamily="34" charset="0"/>
                <a:ea typeface="Calibri" pitchFamily="34" charset="-122"/>
                <a:cs typeface="Calibri" pitchFamily="34" charset="-120"/>
              </a:rPr>
              <a:t>Topic 2 of 6  |  Advanced Regression</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p:spPr>
      </p:sp>
      <p:sp>
        <p:nvSpPr>
          <p:cNvPr id="3" name="Shape 1"/>
          <p:cNvSpPr/>
          <p:nvPr/>
        </p:nvSpPr>
        <p:spPr>
          <a:xfrm>
            <a:off x="0" y="658368"/>
            <a:ext cx="9144000" cy="36576"/>
          </a:xfrm>
          <a:prstGeom prst="rect">
            <a:avLst/>
          </a:prstGeom>
          <a:solidFill>
            <a:srgbClr val="FFD166"/>
          </a:solidFill>
          <a:ln/>
        </p:spPr>
      </p:sp>
      <p:sp>
        <p:nvSpPr>
          <p:cNvPr id="4" name="Text 2"/>
          <p:cNvSpPr/>
          <p:nvPr/>
        </p:nvSpPr>
        <p:spPr>
          <a:xfrm>
            <a:off x="164592" y="64008"/>
            <a:ext cx="7772400" cy="53035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2. Regularized Regression Models</a:t>
            </a:r>
            <a:endParaRPr lang="en-US" sz="2200" dirty="0"/>
          </a:p>
        </p:txBody>
      </p:sp>
      <p:sp>
        <p:nvSpPr>
          <p:cNvPr id="5" name="Text 3"/>
          <p:cNvSpPr/>
          <p:nvPr/>
        </p:nvSpPr>
        <p:spPr>
          <a:xfrm>
            <a:off x="7315200" y="182880"/>
            <a:ext cx="1645920" cy="320040"/>
          </a:xfrm>
          <a:prstGeom prst="rect">
            <a:avLst/>
          </a:prstGeom>
          <a:noFill/>
          <a:ln/>
        </p:spPr>
        <p:txBody>
          <a:bodyPr wrap="square" lIns="0" tIns="0" rIns="0" bIns="0" rtlCol="0" anchor="ctr"/>
          <a:lstStyle/>
          <a:p>
            <a:pPr marL="0" indent="0" algn="r">
              <a:buNone/>
            </a:pPr>
            <a:r>
              <a:rPr lang="en-US" sz="850" dirty="0">
                <a:solidFill>
                  <a:srgbClr val="FFD166"/>
                </a:solidFill>
                <a:latin typeface="Calibri" pitchFamily="34" charset="0"/>
                <a:ea typeface="Calibri" pitchFamily="34" charset="-122"/>
                <a:cs typeface="Calibri" pitchFamily="34" charset="-120"/>
              </a:rPr>
              <a:t>Graph  •  Python Code</a:t>
            </a:r>
            <a:endParaRPr lang="en-US" sz="850" dirty="0"/>
          </a:p>
        </p:txBody>
      </p:sp>
      <p:sp>
        <p:nvSpPr>
          <p:cNvPr id="6" name="Shape 4"/>
          <p:cNvSpPr/>
          <p:nvPr/>
        </p:nvSpPr>
        <p:spPr>
          <a:xfrm>
            <a:off x="164592" y="804672"/>
            <a:ext cx="5029200" cy="329184"/>
          </a:xfrm>
          <a:prstGeom prst="rect">
            <a:avLst/>
          </a:prstGeom>
          <a:solidFill>
            <a:srgbClr val="2D6A8F"/>
          </a:solidFill>
          <a:ln/>
          <a:effectLst>
            <a:outerShdw blurRad="101600" dist="38100" dir="8100000" algn="bl" rotWithShape="0">
              <a:srgbClr val="000000">
                <a:alpha val="12000"/>
              </a:srgbClr>
            </a:outerShdw>
          </a:effectLst>
        </p:spPr>
      </p:sp>
      <p:sp>
        <p:nvSpPr>
          <p:cNvPr id="7" name="Text 5"/>
          <p:cNvSpPr/>
          <p:nvPr/>
        </p:nvSpPr>
        <p:spPr>
          <a:xfrm>
            <a:off x="201168" y="822960"/>
            <a:ext cx="493776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VISUALIZATION</a:t>
            </a:r>
            <a:endParaRPr lang="en-US" sz="1200" dirty="0"/>
          </a:p>
        </p:txBody>
      </p:sp>
      <p:sp>
        <p:nvSpPr>
          <p:cNvPr id="8" name="Shape 6"/>
          <p:cNvSpPr/>
          <p:nvPr/>
        </p:nvSpPr>
        <p:spPr>
          <a:xfrm>
            <a:off x="164592" y="1133856"/>
            <a:ext cx="5029200" cy="3675888"/>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pic>
        <p:nvPicPr>
          <p:cNvPr id="9" name="Image 0" descr="preencoded.png"/>
          <p:cNvPicPr>
            <a:picLocks noChangeAspect="1"/>
          </p:cNvPicPr>
          <p:nvPr/>
        </p:nvPicPr>
        <p:blipFill>
          <a:blip r:embed="rId3"/>
          <a:stretch>
            <a:fillRect/>
          </a:stretch>
        </p:blipFill>
        <p:spPr>
          <a:xfrm>
            <a:off x="256032" y="1188720"/>
            <a:ext cx="4846320" cy="3566160"/>
          </a:xfrm>
          <a:prstGeom prst="rect">
            <a:avLst/>
          </a:prstGeom>
        </p:spPr>
      </p:pic>
      <p:sp>
        <p:nvSpPr>
          <p:cNvPr id="12" name="Shape 9"/>
          <p:cNvSpPr/>
          <p:nvPr/>
        </p:nvSpPr>
        <p:spPr>
          <a:xfrm>
            <a:off x="5335837" y="822960"/>
            <a:ext cx="3584448" cy="4059936"/>
          </a:xfrm>
          <a:prstGeom prst="rect">
            <a:avLst/>
          </a:prstGeom>
          <a:solidFill>
            <a:srgbClr val="1A1A2E"/>
          </a:solidFill>
          <a:ln/>
          <a:effectLst>
            <a:outerShdw blurRad="101600" dist="38100" dir="8100000" algn="bl" rotWithShape="0">
              <a:srgbClr val="000000">
                <a:alpha val="12000"/>
              </a:srgbClr>
            </a:outerShdw>
          </a:effectLst>
        </p:spPr>
      </p:sp>
      <p:sp>
        <p:nvSpPr>
          <p:cNvPr id="13" name="Text 10"/>
          <p:cNvSpPr/>
          <p:nvPr/>
        </p:nvSpPr>
        <p:spPr>
          <a:xfrm>
            <a:off x="5486400" y="822960"/>
            <a:ext cx="3401568" cy="4123944"/>
          </a:xfrm>
          <a:prstGeom prst="rect">
            <a:avLst/>
          </a:prstGeom>
          <a:noFill/>
          <a:ln/>
        </p:spPr>
        <p:txBody>
          <a:bodyPr wrap="square" lIns="0" tIns="0" rIns="0" bIns="0" rtlCol="0" anchor="t"/>
          <a:lstStyle/>
          <a:p>
            <a:pPr marL="0" indent="0">
              <a:buNone/>
            </a:pPr>
            <a:r>
              <a:rPr lang="en-US" sz="950" dirty="0">
                <a:solidFill>
                  <a:srgbClr val="A0D9EF"/>
                </a:solidFill>
                <a:latin typeface="Courier New" pitchFamily="34" charset="0"/>
                <a:ea typeface="Courier New" pitchFamily="34" charset="-122"/>
                <a:cs typeface="Courier New" pitchFamily="34" charset="-120"/>
              </a:rPr>
              <a:t>from sklearn.linear_model import (
</a:t>
            </a:r>
            <a:endParaRPr lang="en-US" sz="950" dirty="0"/>
          </a:p>
          <a:p>
            <a:pPr marL="0" indent="0">
              <a:buNone/>
            </a:pPr>
            <a:r>
              <a:rPr lang="en-US" sz="950" dirty="0">
                <a:solidFill>
                  <a:srgbClr val="A0D9EF"/>
                </a:solidFill>
                <a:latin typeface="Courier New" pitchFamily="34" charset="0"/>
                <a:ea typeface="Courier New" pitchFamily="34" charset="-122"/>
                <a:cs typeface="Courier New" pitchFamily="34" charset="-120"/>
              </a:rPr>
              <a:t>  Ridge, Lasso, ElasticNet)
</a:t>
            </a:r>
            <a:endParaRPr lang="en-US" sz="950" dirty="0"/>
          </a:p>
          <a:p>
            <a:pPr marL="0" indent="0">
              <a:buNone/>
            </a:pPr>
            <a:r>
              <a:rPr lang="en-US" sz="950" dirty="0">
                <a:solidFill>
                  <a:srgbClr val="C3E88D"/>
                </a:solidFill>
                <a:latin typeface="Courier New" pitchFamily="34" charset="0"/>
                <a:ea typeface="Courier New" pitchFamily="34" charset="-122"/>
                <a:cs typeface="Courier New" pitchFamily="34" charset="-120"/>
              </a:rPr>
              <a:t>from sklearn.datasets import \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  make_regression
X, y = make_regression(
  n_samples=200, n_features=50,
  noise=0.1, random_state=42)
</a:t>
            </a:r>
            <a:r>
              <a:rPr lang="en-US" sz="950" dirty="0">
                <a:solidFill>
                  <a:srgbClr val="696969"/>
                </a:solidFill>
                <a:latin typeface="Courier New" pitchFamily="34" charset="0"/>
                <a:ea typeface="Courier New" pitchFamily="34" charset="-122"/>
                <a:cs typeface="Courier New" pitchFamily="34" charset="-120"/>
              </a:rPr>
              <a:t># Ridge Regression
</a:t>
            </a:r>
            <a:r>
              <a:rPr lang="en-US" sz="950" dirty="0">
                <a:solidFill>
                  <a:srgbClr val="E2E8F0"/>
                </a:solidFill>
                <a:latin typeface="Courier New" pitchFamily="34" charset="0"/>
                <a:ea typeface="Courier New" pitchFamily="34" charset="-122"/>
                <a:cs typeface="Courier New" pitchFamily="34" charset="-120"/>
              </a:rPr>
              <a:t>ridge = Ridge(alpha=1.0)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ridge.fit(X, y)
</a:t>
            </a:r>
            <a:r>
              <a:rPr lang="en-US" sz="950" dirty="0">
                <a:solidFill>
                  <a:srgbClr val="696969"/>
                </a:solidFill>
                <a:latin typeface="Courier New" pitchFamily="34" charset="0"/>
                <a:ea typeface="Courier New" pitchFamily="34" charset="-122"/>
                <a:cs typeface="Courier New" pitchFamily="34" charset="-120"/>
              </a:rPr>
              <a:t># Lasso Regression
</a:t>
            </a:r>
            <a:r>
              <a:rPr lang="en-US" sz="950" dirty="0">
                <a:solidFill>
                  <a:srgbClr val="E2E8F0"/>
                </a:solidFill>
                <a:latin typeface="Courier New" pitchFamily="34" charset="0"/>
                <a:ea typeface="Courier New" pitchFamily="34" charset="-122"/>
                <a:cs typeface="Courier New" pitchFamily="34" charset="-120"/>
              </a:rPr>
              <a:t>lasso = Lasso(alpha=0.1)
</a:t>
            </a:r>
            <a:r>
              <a:rPr lang="en-US" sz="950" dirty="0" err="1">
                <a:solidFill>
                  <a:srgbClr val="E2E8F0"/>
                </a:solidFill>
                <a:latin typeface="Courier New" pitchFamily="34" charset="0"/>
                <a:ea typeface="Courier New" pitchFamily="34" charset="-122"/>
                <a:cs typeface="Courier New" pitchFamily="34" charset="-120"/>
              </a:rPr>
              <a:t>lasso.fit</a:t>
            </a:r>
            <a:r>
              <a:rPr lang="en-US" sz="950" dirty="0">
                <a:solidFill>
                  <a:srgbClr val="E2E8F0"/>
                </a:solidFill>
                <a:latin typeface="Courier New" pitchFamily="34" charset="0"/>
                <a:ea typeface="Courier New" pitchFamily="34" charset="-122"/>
                <a:cs typeface="Courier New" pitchFamily="34" charset="-120"/>
              </a:rPr>
              <a:t>(X, y)
</a:t>
            </a:r>
            <a:r>
              <a:rPr lang="en-US" sz="950" dirty="0">
                <a:solidFill>
                  <a:srgbClr val="696969"/>
                </a:solidFill>
                <a:latin typeface="Courier New" pitchFamily="34" charset="0"/>
                <a:ea typeface="Courier New" pitchFamily="34" charset="-122"/>
                <a:cs typeface="Courier New" pitchFamily="34" charset="-120"/>
              </a:rPr>
              <a:t># ElasticNet
</a:t>
            </a:r>
            <a:r>
              <a:rPr lang="en-US" sz="950" dirty="0" err="1">
                <a:solidFill>
                  <a:srgbClr val="E2E8F0"/>
                </a:solidFill>
                <a:latin typeface="Courier New" pitchFamily="34" charset="0"/>
                <a:ea typeface="Courier New" pitchFamily="34" charset="-122"/>
                <a:cs typeface="Courier New" pitchFamily="34" charset="-120"/>
              </a:rPr>
              <a:t>en</a:t>
            </a:r>
            <a:r>
              <a:rPr lang="en-US" sz="950" dirty="0">
                <a:solidFill>
                  <a:srgbClr val="E2E8F0"/>
                </a:solidFill>
                <a:latin typeface="Courier New" pitchFamily="34" charset="0"/>
                <a:ea typeface="Courier New" pitchFamily="34" charset="-122"/>
                <a:cs typeface="Courier New" pitchFamily="34" charset="-120"/>
              </a:rPr>
              <a:t> = ElasticNet(alpha=0.1, l1_ratio=0.5)
</a:t>
            </a:r>
            <a:r>
              <a:rPr lang="en-US" sz="950" dirty="0" err="1">
                <a:solidFill>
                  <a:srgbClr val="E2E8F0"/>
                </a:solidFill>
                <a:latin typeface="Courier New" pitchFamily="34" charset="0"/>
                <a:ea typeface="Courier New" pitchFamily="34" charset="-122"/>
                <a:cs typeface="Courier New" pitchFamily="34" charset="-120"/>
              </a:rPr>
              <a:t>en.fit</a:t>
            </a:r>
            <a:r>
              <a:rPr lang="en-US" sz="950" dirty="0">
                <a:solidFill>
                  <a:srgbClr val="E2E8F0"/>
                </a:solidFill>
                <a:latin typeface="Courier New" pitchFamily="34" charset="0"/>
                <a:ea typeface="Courier New" pitchFamily="34" charset="-122"/>
                <a:cs typeface="Courier New" pitchFamily="34" charset="-120"/>
              </a:rPr>
              <a:t>(X, y)
</a:t>
            </a:r>
            <a:r>
              <a:rPr lang="en-US" sz="950" dirty="0">
                <a:solidFill>
                  <a:srgbClr val="696969"/>
                </a:solidFill>
                <a:latin typeface="Courier New" pitchFamily="34" charset="0"/>
                <a:ea typeface="Courier New" pitchFamily="34" charset="-122"/>
                <a:cs typeface="Courier New" pitchFamily="34" charset="-120"/>
              </a:rPr>
              <a:t># Non-zero coefs (feature selection)
</a:t>
            </a:r>
            <a:r>
              <a:rPr lang="en-US" sz="950" dirty="0">
                <a:solidFill>
                  <a:srgbClr val="E2E8F0"/>
                </a:solidFill>
                <a:latin typeface="Courier New" pitchFamily="34" charset="0"/>
                <a:ea typeface="Courier New" pitchFamily="34" charset="-122"/>
                <a:cs typeface="Courier New" pitchFamily="34" charset="-120"/>
              </a:rPr>
              <a:t>import numpy as np
</a:t>
            </a:r>
            <a:r>
              <a:rPr lang="en-US" sz="950" dirty="0" err="1">
                <a:solidFill>
                  <a:srgbClr val="E2E8F0"/>
                </a:solidFill>
                <a:latin typeface="Courier New" pitchFamily="34" charset="0"/>
                <a:ea typeface="Courier New" pitchFamily="34" charset="-122"/>
                <a:cs typeface="Courier New" pitchFamily="34" charset="-120"/>
              </a:rPr>
              <a:t>nz</a:t>
            </a:r>
            <a:r>
              <a:rPr lang="en-US" sz="950" dirty="0">
                <a:solidFill>
                  <a:srgbClr val="E2E8F0"/>
                </a:solidFill>
                <a:latin typeface="Courier New" pitchFamily="34" charset="0"/>
                <a:ea typeface="Courier New" pitchFamily="34" charset="-122"/>
                <a:cs typeface="Courier New" pitchFamily="34" charset="-120"/>
              </a:rPr>
              <a:t> = np.sum(lasso.coef_ != 0)
</a:t>
            </a:r>
            <a:r>
              <a:rPr lang="en-US" sz="950" dirty="0">
                <a:solidFill>
                  <a:srgbClr val="C3E88D"/>
                </a:solidFill>
                <a:latin typeface="Courier New" pitchFamily="34" charset="0"/>
                <a:ea typeface="Courier New" pitchFamily="34" charset="-122"/>
                <a:cs typeface="Courier New" pitchFamily="34" charset="-120"/>
              </a:rPr>
              <a:t>print(f'Lasso kept {nz}/50 features')</a:t>
            </a:r>
            <a:endParaRPr lang="en-US" sz="950" dirty="0"/>
          </a:p>
        </p:txBody>
      </p:sp>
      <p:sp>
        <p:nvSpPr>
          <p:cNvPr id="14" name="Shape 11"/>
          <p:cNvSpPr/>
          <p:nvPr/>
        </p:nvSpPr>
        <p:spPr>
          <a:xfrm>
            <a:off x="0" y="4983480"/>
            <a:ext cx="9144000" cy="160020"/>
          </a:xfrm>
          <a:prstGeom prst="rect">
            <a:avLst/>
          </a:prstGeom>
          <a:solidFill>
            <a:srgbClr val="1E2761"/>
          </a:solidFill>
          <a:ln/>
        </p:spPr>
      </p:sp>
      <p:sp>
        <p:nvSpPr>
          <p:cNvPr id="15" name="Text 12"/>
          <p:cNvSpPr/>
          <p:nvPr/>
        </p:nvSpPr>
        <p:spPr>
          <a:xfrm>
            <a:off x="182880" y="4992624"/>
            <a:ext cx="8778240" cy="137160"/>
          </a:xfrm>
          <a:prstGeom prst="rect">
            <a:avLst/>
          </a:prstGeom>
          <a:noFill/>
          <a:ln/>
        </p:spPr>
        <p:txBody>
          <a:bodyPr wrap="square" lIns="0" tIns="0" rIns="0" bIns="0" rtlCol="0" anchor="ctr"/>
          <a:lstStyle/>
          <a:p>
            <a:pPr marL="0" indent="0" algn="ctr">
              <a:buNone/>
            </a:pPr>
            <a:r>
              <a:rPr lang="en-US" sz="800" dirty="0">
                <a:solidFill>
                  <a:srgbClr val="FFD166"/>
                </a:solidFill>
                <a:latin typeface="Calibri" pitchFamily="34" charset="0"/>
                <a:ea typeface="Calibri" pitchFamily="34" charset="-122"/>
                <a:cs typeface="Calibri" pitchFamily="34" charset="-120"/>
              </a:rPr>
              <a:t>Topic 2 of 6  |  Advanced Regression</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p:spPr>
      </p:sp>
      <p:sp>
        <p:nvSpPr>
          <p:cNvPr id="3" name="Shape 1"/>
          <p:cNvSpPr/>
          <p:nvPr/>
        </p:nvSpPr>
        <p:spPr>
          <a:xfrm>
            <a:off x="0" y="658368"/>
            <a:ext cx="9144000" cy="36576"/>
          </a:xfrm>
          <a:prstGeom prst="rect">
            <a:avLst/>
          </a:prstGeom>
          <a:solidFill>
            <a:srgbClr val="00C9A7"/>
          </a:solidFill>
          <a:ln/>
        </p:spPr>
      </p:sp>
      <p:sp>
        <p:nvSpPr>
          <p:cNvPr id="4" name="Text 2"/>
          <p:cNvSpPr/>
          <p:nvPr/>
        </p:nvSpPr>
        <p:spPr>
          <a:xfrm>
            <a:off x="164592" y="64008"/>
            <a:ext cx="7772400" cy="53035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3. Effect of Regularization on Model Complexity</a:t>
            </a:r>
            <a:endParaRPr lang="en-US" sz="2200" dirty="0"/>
          </a:p>
        </p:txBody>
      </p:sp>
      <p:sp>
        <p:nvSpPr>
          <p:cNvPr id="5" name="Text 3"/>
          <p:cNvSpPr/>
          <p:nvPr/>
        </p:nvSpPr>
        <p:spPr>
          <a:xfrm>
            <a:off x="7315200" y="182880"/>
            <a:ext cx="1645920" cy="320040"/>
          </a:xfrm>
          <a:prstGeom prst="rect">
            <a:avLst/>
          </a:prstGeom>
          <a:noFill/>
          <a:ln/>
        </p:spPr>
        <p:txBody>
          <a:bodyPr wrap="square" lIns="0" tIns="0" rIns="0" bIns="0" rtlCol="0" anchor="ctr"/>
          <a:lstStyle/>
          <a:p>
            <a:pPr marL="0" indent="0" algn="r">
              <a:buNone/>
            </a:pPr>
            <a:r>
              <a:rPr lang="en-US" sz="850" dirty="0">
                <a:solidFill>
                  <a:srgbClr val="00C9A7"/>
                </a:solidFill>
                <a:latin typeface="Calibri" pitchFamily="34" charset="0"/>
                <a:ea typeface="Calibri" pitchFamily="34" charset="-122"/>
                <a:cs typeface="Calibri" pitchFamily="34" charset="-120"/>
              </a:rPr>
              <a:t>Definition  •  Equation  •  Real-Life Example</a:t>
            </a:r>
            <a:endParaRPr lang="en-US" sz="850" dirty="0"/>
          </a:p>
        </p:txBody>
      </p:sp>
      <p:sp>
        <p:nvSpPr>
          <p:cNvPr id="6" name="Shape 4"/>
          <p:cNvSpPr/>
          <p:nvPr/>
        </p:nvSpPr>
        <p:spPr>
          <a:xfrm>
            <a:off x="164592" y="822960"/>
            <a:ext cx="4160520" cy="329184"/>
          </a:xfrm>
          <a:prstGeom prst="rect">
            <a:avLst/>
          </a:prstGeom>
          <a:solidFill>
            <a:srgbClr val="1E2761"/>
          </a:solidFill>
          <a:ln/>
          <a:effectLst>
            <a:outerShdw blurRad="101600" dist="38100" dir="8100000" algn="bl" rotWithShape="0">
              <a:srgbClr val="000000">
                <a:alpha val="12000"/>
              </a:srgbClr>
            </a:outerShdw>
          </a:effectLst>
        </p:spPr>
      </p:sp>
      <p:sp>
        <p:nvSpPr>
          <p:cNvPr id="7" name="Text 5"/>
          <p:cNvSpPr/>
          <p:nvPr/>
        </p:nvSpPr>
        <p:spPr>
          <a:xfrm>
            <a:off x="201168" y="841248"/>
            <a:ext cx="4114800" cy="274320"/>
          </a:xfrm>
          <a:prstGeom prst="rect">
            <a:avLst/>
          </a:prstGeom>
          <a:noFill/>
          <a:ln/>
        </p:spPr>
        <p:txBody>
          <a:bodyPr wrap="square" lIns="0" tIns="0" rIns="0" bIns="0" rtlCol="0" anchor="ctr"/>
          <a:lstStyle/>
          <a:p>
            <a:pPr marL="0" indent="0">
              <a:buNone/>
            </a:pPr>
            <a:r>
              <a:rPr lang="en-US" sz="1200" b="1" dirty="0">
                <a:solidFill>
                  <a:srgbClr val="00C9A7"/>
                </a:solidFill>
                <a:latin typeface="Calibri" pitchFamily="34" charset="0"/>
                <a:ea typeface="Calibri" pitchFamily="34" charset="-122"/>
                <a:cs typeface="Calibri" pitchFamily="34" charset="-120"/>
              </a:rPr>
              <a:t>📖 DEFINITION</a:t>
            </a:r>
            <a:endParaRPr lang="en-US" sz="1200" dirty="0"/>
          </a:p>
        </p:txBody>
      </p:sp>
      <p:sp>
        <p:nvSpPr>
          <p:cNvPr id="8" name="Shape 6"/>
          <p:cNvSpPr/>
          <p:nvPr/>
        </p:nvSpPr>
        <p:spPr>
          <a:xfrm>
            <a:off x="164592" y="1152144"/>
            <a:ext cx="4160520" cy="1755648"/>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sp>
        <p:nvSpPr>
          <p:cNvPr id="9" name="Shape 7"/>
          <p:cNvSpPr/>
          <p:nvPr/>
        </p:nvSpPr>
        <p:spPr>
          <a:xfrm>
            <a:off x="164592" y="1152144"/>
            <a:ext cx="54864" cy="1755648"/>
          </a:xfrm>
          <a:prstGeom prst="rect">
            <a:avLst/>
          </a:prstGeom>
          <a:solidFill>
            <a:srgbClr val="00C9A7"/>
          </a:solidFill>
          <a:ln/>
        </p:spPr>
      </p:sp>
      <p:sp>
        <p:nvSpPr>
          <p:cNvPr id="10" name="Text 8"/>
          <p:cNvSpPr/>
          <p:nvPr/>
        </p:nvSpPr>
        <p:spPr>
          <a:xfrm>
            <a:off x="292608" y="1207008"/>
            <a:ext cx="3931920" cy="1627632"/>
          </a:xfrm>
          <a:prstGeom prst="rect">
            <a:avLst/>
          </a:prstGeom>
          <a:noFill/>
          <a:ln/>
        </p:spPr>
        <p:txBody>
          <a:bodyPr wrap="square" lIns="0" tIns="0" rIns="0" bIns="0" rtlCol="0" anchor="t"/>
          <a:lstStyle/>
          <a:p>
            <a:pPr marL="0" indent="0">
              <a:buNone/>
            </a:pPr>
            <a:r>
              <a:rPr lang="en-US" sz="1250" dirty="0">
                <a:solidFill>
                  <a:srgbClr val="1E293B"/>
                </a:solidFill>
                <a:latin typeface="Calibri" pitchFamily="34" charset="0"/>
                <a:ea typeface="Calibri" pitchFamily="34" charset="-122"/>
                <a:cs typeface="Calibri" pitchFamily="34" charset="-120"/>
              </a:rPr>
              <a:t>Regularization directly controls the bias-variance tradeoff. Low λ allows a complex, flexible model (low bias, high variance — overfitting). High λ forces a simpler model with smaller coefficients (high bias, low variance — underfitting). The optimal λ minimizes test/validation error. The effective degrees of freedom decrease monotonically as λ increases, reducing model complexity. Cross-validation is the standard method for selecting the best λ.</a:t>
            </a:r>
            <a:endParaRPr lang="en-US" sz="1250" dirty="0"/>
          </a:p>
        </p:txBody>
      </p:sp>
      <p:sp>
        <p:nvSpPr>
          <p:cNvPr id="11" name="Shape 9"/>
          <p:cNvSpPr/>
          <p:nvPr/>
        </p:nvSpPr>
        <p:spPr>
          <a:xfrm>
            <a:off x="164592" y="2999232"/>
            <a:ext cx="4160520" cy="329184"/>
          </a:xfrm>
          <a:prstGeom prst="rect">
            <a:avLst/>
          </a:prstGeom>
          <a:solidFill>
            <a:srgbClr val="2D6A8F"/>
          </a:solidFill>
          <a:ln/>
          <a:effectLst>
            <a:outerShdw blurRad="101600" dist="38100" dir="8100000" algn="bl" rotWithShape="0">
              <a:srgbClr val="000000">
                <a:alpha val="12000"/>
              </a:srgbClr>
            </a:outerShdw>
          </a:effectLst>
        </p:spPr>
      </p:sp>
      <p:sp>
        <p:nvSpPr>
          <p:cNvPr id="12" name="Text 10"/>
          <p:cNvSpPr/>
          <p:nvPr/>
        </p:nvSpPr>
        <p:spPr>
          <a:xfrm>
            <a:off x="201168" y="3017520"/>
            <a:ext cx="411480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MATHEMATICAL EQUATION</a:t>
            </a:r>
            <a:endParaRPr lang="en-US" sz="1150" dirty="0"/>
          </a:p>
        </p:txBody>
      </p:sp>
      <p:sp>
        <p:nvSpPr>
          <p:cNvPr id="13" name="Shape 11"/>
          <p:cNvSpPr/>
          <p:nvPr/>
        </p:nvSpPr>
        <p:spPr>
          <a:xfrm>
            <a:off x="164592" y="3328416"/>
            <a:ext cx="4160520" cy="1801368"/>
          </a:xfrm>
          <a:prstGeom prst="rect">
            <a:avLst/>
          </a:prstGeom>
          <a:solidFill>
            <a:srgbClr val="1A1A2E"/>
          </a:solidFill>
          <a:ln/>
          <a:effectLst>
            <a:outerShdw blurRad="101600" dist="38100" dir="8100000" algn="bl" rotWithShape="0">
              <a:srgbClr val="000000">
                <a:alpha val="12000"/>
              </a:srgbClr>
            </a:outerShdw>
          </a:effectLst>
        </p:spPr>
      </p:sp>
      <p:sp>
        <p:nvSpPr>
          <p:cNvPr id="14" name="Text 12"/>
          <p:cNvSpPr/>
          <p:nvPr/>
        </p:nvSpPr>
        <p:spPr>
          <a:xfrm>
            <a:off x="274320" y="3383280"/>
            <a:ext cx="3931920" cy="1444752"/>
          </a:xfrm>
          <a:prstGeom prst="rect">
            <a:avLst/>
          </a:prstGeom>
          <a:noFill/>
          <a:ln/>
        </p:spPr>
        <p:txBody>
          <a:bodyPr wrap="square" lIns="0" tIns="0" rIns="0" bIns="0" rtlCol="0" anchor="t"/>
          <a:lstStyle/>
          <a:p>
            <a:pPr marL="0" indent="0">
              <a:buNone/>
            </a:pPr>
            <a:r>
              <a:rPr lang="en-US" sz="1300" b="1" dirty="0">
                <a:solidFill>
                  <a:srgbClr val="FFD166"/>
                </a:solidFill>
                <a:latin typeface="Courier New" pitchFamily="34" charset="0"/>
                <a:ea typeface="Courier New" pitchFamily="34" charset="-122"/>
                <a:cs typeface="Courier New" pitchFamily="34" charset="-120"/>
              </a:rPr>
              <a:t>Effective DoF (Ridge):
</a:t>
            </a:r>
            <a:r>
              <a:rPr lang="en-US" sz="1300" dirty="0" err="1">
                <a:solidFill>
                  <a:srgbClr val="E2E8F0"/>
                </a:solidFill>
                <a:latin typeface="Courier New" pitchFamily="34" charset="0"/>
                <a:ea typeface="Courier New" pitchFamily="34" charset="-122"/>
                <a:cs typeface="Courier New" pitchFamily="34" charset="-120"/>
              </a:rPr>
              <a:t>df</a:t>
            </a:r>
            <a:r>
              <a:rPr lang="en-US" sz="1300" dirty="0">
                <a:solidFill>
                  <a:srgbClr val="E2E8F0"/>
                </a:solidFill>
                <a:latin typeface="Courier New" pitchFamily="34" charset="0"/>
                <a:ea typeface="Courier New" pitchFamily="34" charset="-122"/>
                <a:cs typeface="Courier New" pitchFamily="34" charset="-120"/>
              </a:rPr>
              <a:t>(λ) = Σ dᵢ²/(dᵢ² + λ)
where dᵢ = singular values of X
</a:t>
            </a:r>
            <a:r>
              <a:rPr lang="en-US" sz="1300" b="1" dirty="0">
                <a:solidFill>
                  <a:srgbClr val="FFD166"/>
                </a:solidFill>
                <a:latin typeface="Courier New" pitchFamily="34" charset="0"/>
                <a:ea typeface="Courier New" pitchFamily="34" charset="-122"/>
                <a:cs typeface="Courier New" pitchFamily="34" charset="-120"/>
              </a:rPr>
              <a:t>Bias-Variance:</a:t>
            </a:r>
            <a:endParaRPr lang="en-US" sz="1300" dirty="0"/>
          </a:p>
          <a:p>
            <a:pPr marL="0" indent="0">
              <a:buNone/>
            </a:pPr>
            <a:r>
              <a:rPr lang="en-US" sz="1300" dirty="0">
                <a:solidFill>
                  <a:srgbClr val="E2E8F0"/>
                </a:solidFill>
                <a:latin typeface="Courier New" pitchFamily="34" charset="0"/>
                <a:ea typeface="Courier New" pitchFamily="34" charset="-122"/>
                <a:cs typeface="Courier New" pitchFamily="34" charset="-120"/>
              </a:rPr>
              <a:t>MSE = Bias² + Variance + ε²</a:t>
            </a:r>
            <a:endParaRPr lang="en-US" sz="1300" dirty="0"/>
          </a:p>
          <a:p>
            <a:pPr marL="0" indent="0">
              <a:buNone/>
            </a:pPr>
            <a:r>
              <a:rPr lang="en-US" sz="1300" dirty="0">
                <a:solidFill>
                  <a:srgbClr val="E2E8F0"/>
                </a:solidFill>
                <a:latin typeface="Courier New" pitchFamily="34" charset="0"/>
                <a:ea typeface="Courier New" pitchFamily="34" charset="-122"/>
                <a:cs typeface="Courier New" pitchFamily="34" charset="-120"/>
              </a:rPr>
              <a:t>As λ ↑:  Bias ↑  |  Variance ↓</a:t>
            </a:r>
            <a:endParaRPr lang="en-US" sz="1300" dirty="0"/>
          </a:p>
          <a:p>
            <a:pPr marL="0" indent="0">
              <a:buNone/>
            </a:pPr>
            <a:r>
              <a:rPr lang="en-US" sz="1300" b="1" dirty="0">
                <a:solidFill>
                  <a:srgbClr val="FFD166"/>
                </a:solidFill>
                <a:latin typeface="Courier New" pitchFamily="34" charset="0"/>
                <a:ea typeface="Courier New" pitchFamily="34" charset="-122"/>
                <a:cs typeface="Courier New" pitchFamily="34" charset="-120"/>
              </a:rPr>
              <a:t>Optimal λ* via </a:t>
            </a:r>
            <a:r>
              <a:rPr lang="en-US" sz="1300" b="1" dirty="0" err="1">
                <a:solidFill>
                  <a:srgbClr val="FFD166"/>
                </a:solidFill>
                <a:latin typeface="Courier New" pitchFamily="34" charset="0"/>
                <a:ea typeface="Courier New" pitchFamily="34" charset="-122"/>
                <a:cs typeface="Courier New" pitchFamily="34" charset="-120"/>
              </a:rPr>
              <a:t>CV:</a:t>
            </a:r>
            <a:r>
              <a:rPr lang="en-US" sz="1300" dirty="0" err="1">
                <a:solidFill>
                  <a:srgbClr val="E2E8F0"/>
                </a:solidFill>
                <a:latin typeface="Courier New" pitchFamily="34" charset="0"/>
                <a:ea typeface="Courier New" pitchFamily="34" charset="-122"/>
                <a:cs typeface="Courier New" pitchFamily="34" charset="-120"/>
              </a:rPr>
              <a:t>λ</a:t>
            </a:r>
            <a:r>
              <a:rPr lang="en-US" sz="1300" dirty="0">
                <a:solidFill>
                  <a:srgbClr val="E2E8F0"/>
                </a:solidFill>
                <a:latin typeface="Courier New" pitchFamily="34" charset="0"/>
                <a:ea typeface="Courier New" pitchFamily="34" charset="-122"/>
                <a:cs typeface="Courier New" pitchFamily="34" charset="-120"/>
              </a:rPr>
              <a:t>* = argmin_{λ}_error(λ)
</a:t>
            </a:r>
            <a:r>
              <a:rPr lang="en-US" sz="1300" dirty="0">
                <a:solidFill>
                  <a:srgbClr val="00C9A7"/>
                </a:solidFill>
                <a:latin typeface="Courier New" pitchFamily="34" charset="0"/>
                <a:ea typeface="Courier New" pitchFamily="34" charset="-122"/>
                <a:cs typeface="Courier New" pitchFamily="34" charset="-120"/>
              </a:rPr>
              <a:t>Rule: λ in [0.001, 100]</a:t>
            </a:r>
            <a:endParaRPr lang="en-US" sz="1300" dirty="0"/>
          </a:p>
        </p:txBody>
      </p:sp>
      <p:sp>
        <p:nvSpPr>
          <p:cNvPr id="15" name="Shape 13"/>
          <p:cNvSpPr/>
          <p:nvPr/>
        </p:nvSpPr>
        <p:spPr>
          <a:xfrm>
            <a:off x="4617720" y="822960"/>
            <a:ext cx="4343400" cy="329184"/>
          </a:xfrm>
          <a:prstGeom prst="rect">
            <a:avLst/>
          </a:prstGeom>
          <a:solidFill>
            <a:srgbClr val="FF6B6B"/>
          </a:solidFill>
          <a:ln/>
          <a:effectLst>
            <a:outerShdw blurRad="101600" dist="38100" dir="8100000" algn="bl" rotWithShape="0">
              <a:srgbClr val="000000">
                <a:alpha val="12000"/>
              </a:srgbClr>
            </a:outerShdw>
          </a:effectLst>
        </p:spPr>
      </p:sp>
      <p:sp>
        <p:nvSpPr>
          <p:cNvPr id="16" name="Text 14"/>
          <p:cNvSpPr/>
          <p:nvPr/>
        </p:nvSpPr>
        <p:spPr>
          <a:xfrm>
            <a:off x="4654296" y="841248"/>
            <a:ext cx="429768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REAL-LIFE EXAMPLE</a:t>
            </a:r>
            <a:endParaRPr lang="en-US" sz="1200" dirty="0"/>
          </a:p>
        </p:txBody>
      </p:sp>
      <p:sp>
        <p:nvSpPr>
          <p:cNvPr id="17" name="Shape 15"/>
          <p:cNvSpPr/>
          <p:nvPr/>
        </p:nvSpPr>
        <p:spPr>
          <a:xfrm>
            <a:off x="4617720" y="1152144"/>
            <a:ext cx="4343400" cy="3749040"/>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sp>
        <p:nvSpPr>
          <p:cNvPr id="18" name="Shape 16"/>
          <p:cNvSpPr/>
          <p:nvPr/>
        </p:nvSpPr>
        <p:spPr>
          <a:xfrm>
            <a:off x="4617720" y="1152144"/>
            <a:ext cx="54864" cy="3749040"/>
          </a:xfrm>
          <a:prstGeom prst="rect">
            <a:avLst/>
          </a:prstGeom>
          <a:solidFill>
            <a:srgbClr val="FF6B6B"/>
          </a:solidFill>
          <a:ln/>
        </p:spPr>
      </p:sp>
      <p:sp>
        <p:nvSpPr>
          <p:cNvPr id="19" name="Text 17"/>
          <p:cNvSpPr/>
          <p:nvPr/>
        </p:nvSpPr>
        <p:spPr>
          <a:xfrm>
            <a:off x="4745736" y="1225296"/>
            <a:ext cx="4114800" cy="3566160"/>
          </a:xfrm>
          <a:prstGeom prst="rect">
            <a:avLst/>
          </a:prstGeom>
          <a:noFill/>
          <a:ln/>
        </p:spPr>
        <p:txBody>
          <a:bodyPr wrap="square" lIns="0" tIns="0" rIns="0" bIns="0" rtlCol="0" anchor="t"/>
          <a:lstStyle/>
          <a:p>
            <a:pPr marL="0" indent="0">
              <a:buNone/>
            </a:pPr>
            <a:r>
              <a:rPr lang="en-US" sz="1250" b="1" dirty="0">
                <a:solidFill>
                  <a:srgbClr val="1E2761"/>
                </a:solidFill>
                <a:latin typeface="Calibri" pitchFamily="34" charset="0"/>
                <a:ea typeface="Calibri" pitchFamily="34" charset="-122"/>
                <a:cs typeface="Calibri" pitchFamily="34" charset="-120"/>
              </a:rPr>
              <a:t>🔧 Spam Classifier
</a:t>
            </a:r>
            <a:r>
              <a:rPr lang="en-US" sz="1200" dirty="0">
                <a:solidFill>
                  <a:srgbClr val="1E293B"/>
                </a:solidFill>
                <a:latin typeface="Calibri" pitchFamily="34" charset="0"/>
                <a:ea typeface="Calibri" pitchFamily="34" charset="-122"/>
                <a:cs typeface="Calibri" pitchFamily="34" charset="-120"/>
              </a:rPr>
              <a:t>With 10,000 word features and λ=0 (no regularization), model memorizes training emails (overfitting). Increasing λ gradually zeros out rare word coefficients, keeping only highly informative words like 'lottery', 'free', 'win'.
</a:t>
            </a:r>
            <a:r>
              <a:rPr lang="en-US" sz="1250" b="1" dirty="0">
                <a:solidFill>
                  <a:srgbClr val="1E2761"/>
                </a:solidFill>
                <a:latin typeface="Calibri" pitchFamily="34" charset="0"/>
                <a:ea typeface="Calibri" pitchFamily="34" charset="-122"/>
                <a:cs typeface="Calibri" pitchFamily="34" charset="-120"/>
              </a:rPr>
              <a:t>📉 Image Compression (Ridge)
</a:t>
            </a:r>
            <a:r>
              <a:rPr lang="en-US" sz="1200" dirty="0">
                <a:solidFill>
                  <a:srgbClr val="1E293B"/>
                </a:solidFill>
                <a:latin typeface="Calibri" pitchFamily="34" charset="0"/>
                <a:ea typeface="Calibri" pitchFamily="34" charset="-122"/>
                <a:cs typeface="Calibri" pitchFamily="34" charset="-120"/>
              </a:rPr>
              <a:t>Large λ → fewer active features → simpler, compressed model with acceptable quality loss.</a:t>
            </a:r>
            <a:endParaRPr lang="en-US" sz="1250" dirty="0"/>
          </a:p>
          <a:p>
            <a:pPr marL="0" indent="0">
              <a:buNone/>
            </a:pPr>
            <a:endParaRPr lang="en-US" sz="1250" dirty="0"/>
          </a:p>
          <a:p>
            <a:pPr marL="0" indent="0">
              <a:buNone/>
            </a:pPr>
            <a:r>
              <a:rPr lang="en-US" sz="1200" dirty="0">
                <a:solidFill>
                  <a:srgbClr val="1E293B"/>
                </a:solidFill>
                <a:latin typeface="Calibri" pitchFamily="34" charset="0"/>
                <a:ea typeface="Calibri" pitchFamily="34" charset="-122"/>
                <a:cs typeface="Calibri" pitchFamily="34" charset="-120"/>
              </a:rPr>
              <a:t>LambdaCV in scikit-learn automatically picks optimal λ using 5-fold cross validation.</a:t>
            </a:r>
            <a:endParaRPr lang="en-US" sz="1250" dirty="0"/>
          </a:p>
        </p:txBody>
      </p:sp>
      <p:sp>
        <p:nvSpPr>
          <p:cNvPr id="21" name="Text 19"/>
          <p:cNvSpPr/>
          <p:nvPr/>
        </p:nvSpPr>
        <p:spPr>
          <a:xfrm>
            <a:off x="182880" y="4992624"/>
            <a:ext cx="8778240" cy="137160"/>
          </a:xfrm>
          <a:prstGeom prst="rect">
            <a:avLst/>
          </a:prstGeom>
          <a:noFill/>
          <a:ln/>
        </p:spPr>
        <p:txBody>
          <a:bodyPr wrap="square" lIns="0" tIns="0" rIns="0" bIns="0" rtlCol="0" anchor="ctr"/>
          <a:lstStyle/>
          <a:p>
            <a:pPr marL="0" indent="0" algn="ctr">
              <a:buNone/>
            </a:pPr>
            <a:r>
              <a:rPr lang="en-US" sz="800" dirty="0">
                <a:solidFill>
                  <a:srgbClr val="00C9A7"/>
                </a:solidFill>
                <a:latin typeface="Calibri" pitchFamily="34" charset="0"/>
                <a:ea typeface="Calibri" pitchFamily="34" charset="-122"/>
                <a:cs typeface="Calibri" pitchFamily="34" charset="-120"/>
              </a:rPr>
              <a:t>Topic 3 of 6  |  Advanced Regression</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p:spPr>
      </p:sp>
      <p:sp>
        <p:nvSpPr>
          <p:cNvPr id="3" name="Shape 1"/>
          <p:cNvSpPr/>
          <p:nvPr/>
        </p:nvSpPr>
        <p:spPr>
          <a:xfrm>
            <a:off x="0" y="658368"/>
            <a:ext cx="9144000" cy="36576"/>
          </a:xfrm>
          <a:prstGeom prst="rect">
            <a:avLst/>
          </a:prstGeom>
          <a:solidFill>
            <a:srgbClr val="FFD166"/>
          </a:solidFill>
          <a:ln/>
        </p:spPr>
      </p:sp>
      <p:sp>
        <p:nvSpPr>
          <p:cNvPr id="4" name="Text 2"/>
          <p:cNvSpPr/>
          <p:nvPr/>
        </p:nvSpPr>
        <p:spPr>
          <a:xfrm>
            <a:off x="164592" y="64008"/>
            <a:ext cx="7772400" cy="53035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3. Effect of Regularization on Model Complexity</a:t>
            </a:r>
            <a:endParaRPr lang="en-US" sz="2200" dirty="0"/>
          </a:p>
        </p:txBody>
      </p:sp>
      <p:sp>
        <p:nvSpPr>
          <p:cNvPr id="5" name="Text 3"/>
          <p:cNvSpPr/>
          <p:nvPr/>
        </p:nvSpPr>
        <p:spPr>
          <a:xfrm>
            <a:off x="7315200" y="182880"/>
            <a:ext cx="1645920" cy="320040"/>
          </a:xfrm>
          <a:prstGeom prst="rect">
            <a:avLst/>
          </a:prstGeom>
          <a:noFill/>
          <a:ln/>
        </p:spPr>
        <p:txBody>
          <a:bodyPr wrap="square" lIns="0" tIns="0" rIns="0" bIns="0" rtlCol="0" anchor="ctr"/>
          <a:lstStyle/>
          <a:p>
            <a:pPr marL="0" indent="0" algn="r">
              <a:buNone/>
            </a:pPr>
            <a:r>
              <a:rPr lang="en-US" sz="850" dirty="0">
                <a:solidFill>
                  <a:srgbClr val="FFD166"/>
                </a:solidFill>
                <a:latin typeface="Calibri" pitchFamily="34" charset="0"/>
                <a:ea typeface="Calibri" pitchFamily="34" charset="-122"/>
                <a:cs typeface="Calibri" pitchFamily="34" charset="-120"/>
              </a:rPr>
              <a:t>Graph  •  Python Code</a:t>
            </a:r>
            <a:endParaRPr lang="en-US" sz="850" dirty="0"/>
          </a:p>
        </p:txBody>
      </p:sp>
      <p:sp>
        <p:nvSpPr>
          <p:cNvPr id="6" name="Shape 4"/>
          <p:cNvSpPr/>
          <p:nvPr/>
        </p:nvSpPr>
        <p:spPr>
          <a:xfrm>
            <a:off x="164592" y="804672"/>
            <a:ext cx="5029200" cy="329184"/>
          </a:xfrm>
          <a:prstGeom prst="rect">
            <a:avLst/>
          </a:prstGeom>
          <a:solidFill>
            <a:srgbClr val="2D6A8F"/>
          </a:solidFill>
          <a:ln/>
          <a:effectLst>
            <a:outerShdw blurRad="101600" dist="38100" dir="8100000" algn="bl" rotWithShape="0">
              <a:srgbClr val="000000">
                <a:alpha val="12000"/>
              </a:srgbClr>
            </a:outerShdw>
          </a:effectLst>
        </p:spPr>
      </p:sp>
      <p:sp>
        <p:nvSpPr>
          <p:cNvPr id="7" name="Text 5"/>
          <p:cNvSpPr/>
          <p:nvPr/>
        </p:nvSpPr>
        <p:spPr>
          <a:xfrm>
            <a:off x="201168" y="822960"/>
            <a:ext cx="493776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VISUALIZATION</a:t>
            </a:r>
            <a:endParaRPr lang="en-US" sz="1200" dirty="0"/>
          </a:p>
        </p:txBody>
      </p:sp>
      <p:sp>
        <p:nvSpPr>
          <p:cNvPr id="8" name="Shape 6"/>
          <p:cNvSpPr/>
          <p:nvPr/>
        </p:nvSpPr>
        <p:spPr>
          <a:xfrm>
            <a:off x="164592" y="1133856"/>
            <a:ext cx="5029200" cy="3675888"/>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pic>
        <p:nvPicPr>
          <p:cNvPr id="9" name="Image 0" descr="preencoded.png"/>
          <p:cNvPicPr>
            <a:picLocks noChangeAspect="1"/>
          </p:cNvPicPr>
          <p:nvPr/>
        </p:nvPicPr>
        <p:blipFill>
          <a:blip r:embed="rId3"/>
          <a:stretch>
            <a:fillRect/>
          </a:stretch>
        </p:blipFill>
        <p:spPr>
          <a:xfrm>
            <a:off x="256032" y="1188720"/>
            <a:ext cx="4846320" cy="3566160"/>
          </a:xfrm>
          <a:prstGeom prst="rect">
            <a:avLst/>
          </a:prstGeom>
        </p:spPr>
      </p:pic>
      <p:sp>
        <p:nvSpPr>
          <p:cNvPr id="10" name="Shape 7"/>
          <p:cNvSpPr/>
          <p:nvPr/>
        </p:nvSpPr>
        <p:spPr>
          <a:xfrm>
            <a:off x="5394960" y="804672"/>
            <a:ext cx="3584448" cy="329184"/>
          </a:xfrm>
          <a:prstGeom prst="rect">
            <a:avLst/>
          </a:prstGeom>
          <a:solidFill>
            <a:srgbClr val="14532D"/>
          </a:solidFill>
          <a:ln/>
          <a:effectLst>
            <a:outerShdw blurRad="101600" dist="38100" dir="8100000" algn="bl" rotWithShape="0">
              <a:srgbClr val="000000">
                <a:alpha val="12000"/>
              </a:srgbClr>
            </a:outerShdw>
          </a:effectLst>
        </p:spPr>
      </p:sp>
      <p:sp>
        <p:nvSpPr>
          <p:cNvPr id="11" name="Text 8"/>
          <p:cNvSpPr/>
          <p:nvPr/>
        </p:nvSpPr>
        <p:spPr>
          <a:xfrm>
            <a:off x="5431536" y="822960"/>
            <a:ext cx="3520440" cy="274320"/>
          </a:xfrm>
          <a:prstGeom prst="rect">
            <a:avLst/>
          </a:prstGeom>
          <a:noFill/>
          <a:ln/>
        </p:spPr>
        <p:txBody>
          <a:bodyPr wrap="square" lIns="0" tIns="0" rIns="0" bIns="0" rtlCol="0" anchor="ctr"/>
          <a:lstStyle/>
          <a:p>
            <a:pPr marL="0" indent="0">
              <a:buNone/>
            </a:pPr>
            <a:r>
              <a:rPr lang="en-US" sz="1200" b="1" dirty="0">
                <a:solidFill>
                  <a:srgbClr val="86EFAC"/>
                </a:solidFill>
                <a:latin typeface="Calibri" pitchFamily="34" charset="0"/>
                <a:ea typeface="Calibri" pitchFamily="34" charset="-122"/>
                <a:cs typeface="Calibri" pitchFamily="34" charset="-120"/>
              </a:rPr>
              <a:t>🐍 PYTHON CODE</a:t>
            </a:r>
            <a:endParaRPr lang="en-US" sz="1200" dirty="0"/>
          </a:p>
        </p:txBody>
      </p:sp>
      <p:sp>
        <p:nvSpPr>
          <p:cNvPr id="12" name="Shape 9"/>
          <p:cNvSpPr/>
          <p:nvPr/>
        </p:nvSpPr>
        <p:spPr>
          <a:xfrm>
            <a:off x="5394960" y="1133856"/>
            <a:ext cx="3584448" cy="3675888"/>
          </a:xfrm>
          <a:prstGeom prst="rect">
            <a:avLst/>
          </a:prstGeom>
          <a:solidFill>
            <a:srgbClr val="1A1A2E"/>
          </a:solidFill>
          <a:ln/>
          <a:effectLst>
            <a:outerShdw blurRad="101600" dist="38100" dir="8100000" algn="bl" rotWithShape="0">
              <a:srgbClr val="000000">
                <a:alpha val="12000"/>
              </a:srgbClr>
            </a:outerShdw>
          </a:effectLst>
        </p:spPr>
      </p:sp>
      <p:sp>
        <p:nvSpPr>
          <p:cNvPr id="13" name="Text 10"/>
          <p:cNvSpPr/>
          <p:nvPr/>
        </p:nvSpPr>
        <p:spPr>
          <a:xfrm>
            <a:off x="5486400" y="1188720"/>
            <a:ext cx="3401568" cy="3547872"/>
          </a:xfrm>
          <a:prstGeom prst="rect">
            <a:avLst/>
          </a:prstGeom>
          <a:noFill/>
          <a:ln/>
        </p:spPr>
        <p:txBody>
          <a:bodyPr wrap="square" lIns="0" tIns="0" rIns="0" bIns="0" rtlCol="0" anchor="t"/>
          <a:lstStyle/>
          <a:p>
            <a:pPr marL="0" indent="0">
              <a:buNone/>
            </a:pPr>
            <a:r>
              <a:rPr lang="en-US" sz="950" dirty="0">
                <a:solidFill>
                  <a:srgbClr val="A0D9EF"/>
                </a:solidFill>
                <a:latin typeface="Courier New" pitchFamily="34" charset="0"/>
                <a:ea typeface="Courier New" pitchFamily="34" charset="-122"/>
                <a:cs typeface="Courier New" pitchFamily="34" charset="-120"/>
              </a:rPr>
              <a:t>from sklearn.linear_model import (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  RidgeCV, LassoCV)
from sklearn.preprocessing import \
  StandardScaler
</a:t>
            </a:r>
            <a:r>
              <a:rPr lang="en-US" sz="950" dirty="0">
                <a:solidFill>
                  <a:srgbClr val="696969"/>
                </a:solidFill>
                <a:latin typeface="Courier New" pitchFamily="34" charset="0"/>
                <a:ea typeface="Courier New" pitchFamily="34" charset="-122"/>
                <a:cs typeface="Courier New" pitchFamily="34" charset="-120"/>
              </a:rPr>
              <a:t># Standardize features first!
</a:t>
            </a:r>
            <a:r>
              <a:rPr lang="en-US" sz="950" dirty="0" err="1">
                <a:solidFill>
                  <a:srgbClr val="E2E8F0"/>
                </a:solidFill>
                <a:latin typeface="Courier New" pitchFamily="34" charset="0"/>
                <a:ea typeface="Courier New" pitchFamily="34" charset="-122"/>
                <a:cs typeface="Courier New" pitchFamily="34" charset="-120"/>
              </a:rPr>
              <a:t>sc</a:t>
            </a:r>
            <a:r>
              <a:rPr lang="en-US" sz="950" dirty="0">
                <a:solidFill>
                  <a:srgbClr val="E2E8F0"/>
                </a:solidFill>
                <a:latin typeface="Courier New" pitchFamily="34" charset="0"/>
                <a:ea typeface="Courier New" pitchFamily="34" charset="-122"/>
                <a:cs typeface="Courier New" pitchFamily="34" charset="-120"/>
              </a:rPr>
              <a:t> = StandardScaler()
</a:t>
            </a:r>
            <a:r>
              <a:rPr lang="en-US" sz="950" dirty="0" err="1">
                <a:solidFill>
                  <a:srgbClr val="E2E8F0"/>
                </a:solidFill>
                <a:latin typeface="Courier New" pitchFamily="34" charset="0"/>
                <a:ea typeface="Courier New" pitchFamily="34" charset="-122"/>
                <a:cs typeface="Courier New" pitchFamily="34" charset="-120"/>
              </a:rPr>
              <a:t>X_sc</a:t>
            </a:r>
            <a:r>
              <a:rPr lang="en-US" sz="950" dirty="0">
                <a:solidFill>
                  <a:srgbClr val="E2E8F0"/>
                </a:solidFill>
                <a:latin typeface="Courier New" pitchFamily="34" charset="0"/>
                <a:ea typeface="Courier New" pitchFamily="34" charset="-122"/>
                <a:cs typeface="Courier New" pitchFamily="34" charset="-120"/>
              </a:rPr>
              <a:t> = sc.fit_transform(X)
</a:t>
            </a:r>
            <a:r>
              <a:rPr lang="en-US" sz="950" dirty="0">
                <a:solidFill>
                  <a:srgbClr val="696969"/>
                </a:solidFill>
                <a:latin typeface="Courier New" pitchFamily="34" charset="0"/>
                <a:ea typeface="Courier New" pitchFamily="34" charset="-122"/>
                <a:cs typeface="Courier New" pitchFamily="34" charset="-120"/>
              </a:rPr>
              <a:t># RidgeCV: auto-selects lambda
</a:t>
            </a:r>
            <a:r>
              <a:rPr lang="en-US" sz="950" dirty="0">
                <a:solidFill>
                  <a:srgbClr val="E2E8F0"/>
                </a:solidFill>
                <a:latin typeface="Courier New" pitchFamily="34" charset="0"/>
                <a:ea typeface="Courier New" pitchFamily="34" charset="-122"/>
                <a:cs typeface="Courier New" pitchFamily="34" charset="-120"/>
              </a:rPr>
              <a:t>alphas = [0.001,0.01,0.1,1,10,100]
</a:t>
            </a:r>
            <a:r>
              <a:rPr lang="en-US" sz="950" dirty="0" err="1">
                <a:solidFill>
                  <a:srgbClr val="E2E8F0"/>
                </a:solidFill>
                <a:latin typeface="Courier New" pitchFamily="34" charset="0"/>
                <a:ea typeface="Courier New" pitchFamily="34" charset="-122"/>
                <a:cs typeface="Courier New" pitchFamily="34" charset="-120"/>
              </a:rPr>
              <a:t>rcv</a:t>
            </a:r>
            <a:r>
              <a:rPr lang="en-US" sz="950" dirty="0">
                <a:solidFill>
                  <a:srgbClr val="E2E8F0"/>
                </a:solidFill>
                <a:latin typeface="Courier New" pitchFamily="34" charset="0"/>
                <a:ea typeface="Courier New" pitchFamily="34" charset="-122"/>
                <a:cs typeface="Courier New" pitchFamily="34" charset="-120"/>
              </a:rPr>
              <a:t> = RidgeCV(alphas=alphas, cv=5)
</a:t>
            </a:r>
            <a:r>
              <a:rPr lang="en-US" sz="950" dirty="0" err="1">
                <a:solidFill>
                  <a:srgbClr val="E2E8F0"/>
                </a:solidFill>
                <a:latin typeface="Courier New" pitchFamily="34" charset="0"/>
                <a:ea typeface="Courier New" pitchFamily="34" charset="-122"/>
                <a:cs typeface="Courier New" pitchFamily="34" charset="-120"/>
              </a:rPr>
              <a:t>rcv.fit</a:t>
            </a:r>
            <a:r>
              <a:rPr lang="en-US" sz="950" dirty="0">
                <a:solidFill>
                  <a:srgbClr val="E2E8F0"/>
                </a:solidFill>
                <a:latin typeface="Courier New" pitchFamily="34" charset="0"/>
                <a:ea typeface="Courier New" pitchFamily="34" charset="-122"/>
                <a:cs typeface="Courier New" pitchFamily="34" charset="-120"/>
              </a:rPr>
              <a:t>(X_sc, y)
print('Best α:', rcv.alpha_)
</a:t>
            </a:r>
            <a:r>
              <a:rPr lang="en-US" sz="950" dirty="0">
                <a:solidFill>
                  <a:srgbClr val="696969"/>
                </a:solidFill>
                <a:latin typeface="Courier New" pitchFamily="34" charset="0"/>
                <a:ea typeface="Courier New" pitchFamily="34" charset="-122"/>
                <a:cs typeface="Courier New" pitchFamily="34" charset="-120"/>
              </a:rPr>
              <a:t># Complexity: count near-zero coefs
</a:t>
            </a:r>
            <a:r>
              <a:rPr lang="en-US" sz="950" dirty="0">
                <a:solidFill>
                  <a:srgbClr val="E2E8F0"/>
                </a:solidFill>
                <a:latin typeface="Courier New" pitchFamily="34" charset="0"/>
                <a:ea typeface="Courier New" pitchFamily="34" charset="-122"/>
                <a:cs typeface="Courier New" pitchFamily="34" charset="-120"/>
              </a:rPr>
              <a:t>import numpy as np
for a in [0.01, 1, 100]:
  from sklearn.linear_model import Ridge
  r = Ridge(alpha=a).fit(X_sc, y)
  avg = np.mean(np.abs(r.coef_))
</a:t>
            </a:r>
            <a:endParaRPr lang="en-US" sz="950" dirty="0"/>
          </a:p>
          <a:p>
            <a:pPr marL="0" indent="0">
              <a:buNone/>
            </a:pPr>
            <a:r>
              <a:rPr lang="en-US" sz="950" dirty="0">
                <a:solidFill>
                  <a:srgbClr val="C3E88D"/>
                </a:solidFill>
                <a:latin typeface="Courier New" pitchFamily="34" charset="0"/>
                <a:ea typeface="Courier New" pitchFamily="34" charset="-122"/>
                <a:cs typeface="Courier New" pitchFamily="34" charset="-120"/>
              </a:rPr>
              <a:t>  print(f'α={a}: avg|β|={avg:.3f}')</a:t>
            </a:r>
            <a:endParaRPr lang="en-US" sz="950" dirty="0"/>
          </a:p>
        </p:txBody>
      </p:sp>
      <p:sp>
        <p:nvSpPr>
          <p:cNvPr id="15" name="Text 12"/>
          <p:cNvSpPr/>
          <p:nvPr/>
        </p:nvSpPr>
        <p:spPr>
          <a:xfrm>
            <a:off x="182880" y="4992624"/>
            <a:ext cx="8778240" cy="137160"/>
          </a:xfrm>
          <a:prstGeom prst="rect">
            <a:avLst/>
          </a:prstGeom>
          <a:noFill/>
          <a:ln/>
        </p:spPr>
        <p:txBody>
          <a:bodyPr wrap="square" lIns="0" tIns="0" rIns="0" bIns="0" rtlCol="0" anchor="ctr"/>
          <a:lstStyle/>
          <a:p>
            <a:pPr marL="0" indent="0" algn="ctr">
              <a:buNone/>
            </a:pPr>
            <a:r>
              <a:rPr lang="en-US" sz="800" dirty="0">
                <a:solidFill>
                  <a:srgbClr val="FFD166"/>
                </a:solidFill>
                <a:latin typeface="Calibri" pitchFamily="34" charset="0"/>
                <a:ea typeface="Calibri" pitchFamily="34" charset="-122"/>
                <a:cs typeface="Calibri" pitchFamily="34" charset="-120"/>
              </a:rPr>
              <a:t>Topic 3 of 6  |  Advanced Regression</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p:spPr>
      </p:sp>
      <p:sp>
        <p:nvSpPr>
          <p:cNvPr id="3" name="Shape 1"/>
          <p:cNvSpPr/>
          <p:nvPr/>
        </p:nvSpPr>
        <p:spPr>
          <a:xfrm>
            <a:off x="0" y="658368"/>
            <a:ext cx="9144000" cy="36576"/>
          </a:xfrm>
          <a:prstGeom prst="rect">
            <a:avLst/>
          </a:prstGeom>
          <a:solidFill>
            <a:srgbClr val="00C9A7"/>
          </a:solidFill>
          <a:ln/>
        </p:spPr>
      </p:sp>
      <p:sp>
        <p:nvSpPr>
          <p:cNvPr id="4" name="Text 2"/>
          <p:cNvSpPr/>
          <p:nvPr/>
        </p:nvSpPr>
        <p:spPr>
          <a:xfrm>
            <a:off x="164592" y="64008"/>
            <a:ext cx="7772400" cy="53035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4. Polynomial Feature Expansion</a:t>
            </a:r>
            <a:endParaRPr lang="en-US" sz="2200" dirty="0"/>
          </a:p>
        </p:txBody>
      </p:sp>
      <p:sp>
        <p:nvSpPr>
          <p:cNvPr id="5" name="Text 3"/>
          <p:cNvSpPr/>
          <p:nvPr/>
        </p:nvSpPr>
        <p:spPr>
          <a:xfrm>
            <a:off x="7315200" y="182880"/>
            <a:ext cx="1645920" cy="320040"/>
          </a:xfrm>
          <a:prstGeom prst="rect">
            <a:avLst/>
          </a:prstGeom>
          <a:noFill/>
          <a:ln/>
        </p:spPr>
        <p:txBody>
          <a:bodyPr wrap="square" lIns="0" tIns="0" rIns="0" bIns="0" rtlCol="0" anchor="ctr"/>
          <a:lstStyle/>
          <a:p>
            <a:pPr marL="0" indent="0" algn="r">
              <a:buNone/>
            </a:pPr>
            <a:r>
              <a:rPr lang="en-US" sz="850" dirty="0">
                <a:solidFill>
                  <a:srgbClr val="00C9A7"/>
                </a:solidFill>
                <a:latin typeface="Calibri" pitchFamily="34" charset="0"/>
                <a:ea typeface="Calibri" pitchFamily="34" charset="-122"/>
                <a:cs typeface="Calibri" pitchFamily="34" charset="-120"/>
              </a:rPr>
              <a:t>Definition  •  Equation  •  Real-Life Example</a:t>
            </a:r>
            <a:endParaRPr lang="en-US" sz="850" dirty="0"/>
          </a:p>
        </p:txBody>
      </p:sp>
      <p:sp>
        <p:nvSpPr>
          <p:cNvPr id="6" name="Shape 4"/>
          <p:cNvSpPr/>
          <p:nvPr/>
        </p:nvSpPr>
        <p:spPr>
          <a:xfrm>
            <a:off x="164592" y="822960"/>
            <a:ext cx="4160520" cy="329184"/>
          </a:xfrm>
          <a:prstGeom prst="rect">
            <a:avLst/>
          </a:prstGeom>
          <a:solidFill>
            <a:srgbClr val="1E2761"/>
          </a:solidFill>
          <a:ln/>
          <a:effectLst>
            <a:outerShdw blurRad="101600" dist="38100" dir="8100000" algn="bl" rotWithShape="0">
              <a:srgbClr val="000000">
                <a:alpha val="12000"/>
              </a:srgbClr>
            </a:outerShdw>
          </a:effectLst>
        </p:spPr>
      </p:sp>
      <p:sp>
        <p:nvSpPr>
          <p:cNvPr id="7" name="Text 5"/>
          <p:cNvSpPr/>
          <p:nvPr/>
        </p:nvSpPr>
        <p:spPr>
          <a:xfrm>
            <a:off x="201168" y="841248"/>
            <a:ext cx="4114800" cy="274320"/>
          </a:xfrm>
          <a:prstGeom prst="rect">
            <a:avLst/>
          </a:prstGeom>
          <a:noFill/>
          <a:ln/>
        </p:spPr>
        <p:txBody>
          <a:bodyPr wrap="square" lIns="0" tIns="0" rIns="0" bIns="0" rtlCol="0" anchor="ctr"/>
          <a:lstStyle/>
          <a:p>
            <a:pPr marL="0" indent="0">
              <a:buNone/>
            </a:pPr>
            <a:r>
              <a:rPr lang="en-US" sz="1200" b="1" dirty="0">
                <a:solidFill>
                  <a:srgbClr val="00C9A7"/>
                </a:solidFill>
                <a:latin typeface="Calibri" pitchFamily="34" charset="0"/>
                <a:ea typeface="Calibri" pitchFamily="34" charset="-122"/>
                <a:cs typeface="Calibri" pitchFamily="34" charset="-120"/>
              </a:rPr>
              <a:t>📖 DEFINITION</a:t>
            </a:r>
            <a:endParaRPr lang="en-US" sz="1200" dirty="0"/>
          </a:p>
        </p:txBody>
      </p:sp>
      <p:sp>
        <p:nvSpPr>
          <p:cNvPr id="8" name="Shape 6"/>
          <p:cNvSpPr/>
          <p:nvPr/>
        </p:nvSpPr>
        <p:spPr>
          <a:xfrm>
            <a:off x="164592" y="1152144"/>
            <a:ext cx="4160520" cy="1755648"/>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sp>
        <p:nvSpPr>
          <p:cNvPr id="9" name="Shape 7"/>
          <p:cNvSpPr/>
          <p:nvPr/>
        </p:nvSpPr>
        <p:spPr>
          <a:xfrm>
            <a:off x="164592" y="1152144"/>
            <a:ext cx="54864" cy="1755648"/>
          </a:xfrm>
          <a:prstGeom prst="rect">
            <a:avLst/>
          </a:prstGeom>
          <a:solidFill>
            <a:srgbClr val="00C9A7"/>
          </a:solidFill>
          <a:ln/>
        </p:spPr>
      </p:sp>
      <p:sp>
        <p:nvSpPr>
          <p:cNvPr id="10" name="Text 8"/>
          <p:cNvSpPr/>
          <p:nvPr/>
        </p:nvSpPr>
        <p:spPr>
          <a:xfrm>
            <a:off x="292608" y="1207008"/>
            <a:ext cx="3931920" cy="1627632"/>
          </a:xfrm>
          <a:prstGeom prst="rect">
            <a:avLst/>
          </a:prstGeom>
          <a:noFill/>
          <a:ln/>
        </p:spPr>
        <p:txBody>
          <a:bodyPr wrap="square" lIns="0" tIns="0" rIns="0" bIns="0" rtlCol="0" anchor="t"/>
          <a:lstStyle/>
          <a:p>
            <a:pPr marL="0" indent="0">
              <a:buNone/>
            </a:pPr>
            <a:r>
              <a:rPr lang="en-US" sz="1250" dirty="0">
                <a:solidFill>
                  <a:srgbClr val="1E293B"/>
                </a:solidFill>
                <a:latin typeface="Calibri" pitchFamily="34" charset="0"/>
                <a:ea typeface="Calibri" pitchFamily="34" charset="-122"/>
                <a:cs typeface="Calibri" pitchFamily="34" charset="-120"/>
              </a:rPr>
              <a:t>Polynomial feature expansion transforms input features by adding powers and cross-product terms, enabling a linear model to capture non-linear relationships. A degree-d expansion of p features creates C(p+d, d) new features. The model remains linear in the expanded feature space but non-linear in the original input space. This is a form of kernel-based learning, related to the polynomial kernel in SVMs. Care must be taken to avoid overfitting with high-degree expansions.</a:t>
            </a:r>
            <a:endParaRPr lang="en-US" sz="1250" dirty="0"/>
          </a:p>
        </p:txBody>
      </p:sp>
      <p:sp>
        <p:nvSpPr>
          <p:cNvPr id="11" name="Shape 9"/>
          <p:cNvSpPr/>
          <p:nvPr/>
        </p:nvSpPr>
        <p:spPr>
          <a:xfrm>
            <a:off x="164592" y="2999232"/>
            <a:ext cx="4160520" cy="329184"/>
          </a:xfrm>
          <a:prstGeom prst="rect">
            <a:avLst/>
          </a:prstGeom>
          <a:solidFill>
            <a:srgbClr val="2D6A8F"/>
          </a:solidFill>
          <a:ln/>
          <a:effectLst>
            <a:outerShdw blurRad="101600" dist="38100" dir="8100000" algn="bl" rotWithShape="0">
              <a:srgbClr val="000000">
                <a:alpha val="12000"/>
              </a:srgbClr>
            </a:outerShdw>
          </a:effectLst>
        </p:spPr>
      </p:sp>
      <p:sp>
        <p:nvSpPr>
          <p:cNvPr id="12" name="Text 10"/>
          <p:cNvSpPr/>
          <p:nvPr/>
        </p:nvSpPr>
        <p:spPr>
          <a:xfrm>
            <a:off x="201168" y="3017520"/>
            <a:ext cx="411480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MATHEMATICAL EQUATION</a:t>
            </a:r>
            <a:endParaRPr lang="en-US" sz="1150" dirty="0"/>
          </a:p>
        </p:txBody>
      </p:sp>
      <p:sp>
        <p:nvSpPr>
          <p:cNvPr id="13" name="Shape 11"/>
          <p:cNvSpPr/>
          <p:nvPr/>
        </p:nvSpPr>
        <p:spPr>
          <a:xfrm>
            <a:off x="164592" y="3328416"/>
            <a:ext cx="4160520" cy="1815084"/>
          </a:xfrm>
          <a:prstGeom prst="rect">
            <a:avLst/>
          </a:prstGeom>
          <a:solidFill>
            <a:srgbClr val="1A1A2E"/>
          </a:solidFill>
          <a:ln/>
          <a:effectLst>
            <a:outerShdw blurRad="101600" dist="38100" dir="8100000" algn="bl" rotWithShape="0">
              <a:srgbClr val="000000">
                <a:alpha val="12000"/>
              </a:srgbClr>
            </a:outerShdw>
          </a:effectLst>
        </p:spPr>
      </p:sp>
      <p:sp>
        <p:nvSpPr>
          <p:cNvPr id="14" name="Text 12"/>
          <p:cNvSpPr/>
          <p:nvPr/>
        </p:nvSpPr>
        <p:spPr>
          <a:xfrm>
            <a:off x="274320" y="3383280"/>
            <a:ext cx="3931920" cy="1444752"/>
          </a:xfrm>
          <a:prstGeom prst="rect">
            <a:avLst/>
          </a:prstGeom>
          <a:noFill/>
          <a:ln/>
        </p:spPr>
        <p:txBody>
          <a:bodyPr wrap="square" lIns="0" tIns="0" rIns="0" bIns="0" rtlCol="0" anchor="t"/>
          <a:lstStyle/>
          <a:p>
            <a:pPr marL="0" indent="0">
              <a:buNone/>
            </a:pPr>
            <a:r>
              <a:rPr lang="en-US" sz="1300" b="1" dirty="0">
                <a:solidFill>
                  <a:srgbClr val="FFD166"/>
                </a:solidFill>
                <a:latin typeface="Courier New" pitchFamily="34" charset="0"/>
                <a:ea typeface="Courier New" pitchFamily="34" charset="-122"/>
                <a:cs typeface="Courier New" pitchFamily="34" charset="-120"/>
              </a:rPr>
              <a:t>Original: x → Expanded φ(x)
</a:t>
            </a:r>
            <a:r>
              <a:rPr lang="en-US" sz="1300" dirty="0">
                <a:solidFill>
                  <a:srgbClr val="E2E8F0"/>
                </a:solidFill>
                <a:latin typeface="Courier New" pitchFamily="34" charset="0"/>
                <a:ea typeface="Courier New" pitchFamily="34" charset="-122"/>
                <a:cs typeface="Courier New" pitchFamily="34" charset="-120"/>
              </a:rPr>
              <a:t>Degree-2 (1 feature):</a:t>
            </a:r>
            <a:endParaRPr lang="en-US" sz="1300" dirty="0"/>
          </a:p>
          <a:p>
            <a:pPr marL="0" indent="0">
              <a:buNone/>
            </a:pPr>
            <a:r>
              <a:rPr lang="en-US" sz="1300" dirty="0">
                <a:solidFill>
                  <a:srgbClr val="E2E8F0"/>
                </a:solidFill>
                <a:latin typeface="Courier New" pitchFamily="34" charset="0"/>
                <a:ea typeface="Courier New" pitchFamily="34" charset="-122"/>
                <a:cs typeface="Courier New" pitchFamily="34" charset="-120"/>
              </a:rPr>
              <a:t>φ(x) = [1, x, x²]</a:t>
            </a:r>
            <a:endParaRPr lang="en-US" sz="1300" dirty="0"/>
          </a:p>
          <a:p>
            <a:pPr marL="0" indent="0">
              <a:buNone/>
            </a:pPr>
            <a:r>
              <a:rPr lang="en-US" sz="1300" dirty="0">
                <a:solidFill>
                  <a:srgbClr val="E2E8F0"/>
                </a:solidFill>
                <a:latin typeface="Courier New" pitchFamily="34" charset="0"/>
                <a:ea typeface="Courier New" pitchFamily="34" charset="-122"/>
                <a:cs typeface="Courier New" pitchFamily="34" charset="-120"/>
              </a:rPr>
              <a:t>Degree-2 (2 features):</a:t>
            </a:r>
            <a:endParaRPr lang="en-US" sz="1300" dirty="0"/>
          </a:p>
          <a:p>
            <a:pPr marL="0" indent="0">
              <a:buNone/>
            </a:pPr>
            <a:r>
              <a:rPr lang="en-US" sz="1300" dirty="0">
                <a:solidFill>
                  <a:srgbClr val="E2E8F0"/>
                </a:solidFill>
                <a:latin typeface="Courier New" pitchFamily="34" charset="0"/>
                <a:ea typeface="Courier New" pitchFamily="34" charset="-122"/>
                <a:cs typeface="Courier New" pitchFamily="34" charset="-120"/>
              </a:rPr>
              <a:t>φ(x) = [1, x₁, x₂, x₁², x₂², x₁x₂]
</a:t>
            </a:r>
            <a:r>
              <a:rPr lang="en-US" sz="1300" b="1" dirty="0" err="1">
                <a:solidFill>
                  <a:srgbClr val="FFD166"/>
                </a:solidFill>
                <a:latin typeface="Courier New" pitchFamily="34" charset="0"/>
                <a:ea typeface="Courier New" pitchFamily="34" charset="-122"/>
                <a:cs typeface="Courier New" pitchFamily="34" charset="-120"/>
              </a:rPr>
              <a:t>Model:</a:t>
            </a:r>
            <a:r>
              <a:rPr lang="en-US" sz="1300" dirty="0" err="1">
                <a:solidFill>
                  <a:srgbClr val="E2E8F0"/>
                </a:solidFill>
                <a:latin typeface="Courier New" pitchFamily="34" charset="0"/>
                <a:ea typeface="Courier New" pitchFamily="34" charset="-122"/>
                <a:cs typeface="Courier New" pitchFamily="34" charset="-120"/>
              </a:rPr>
              <a:t>ŷ</a:t>
            </a:r>
            <a:r>
              <a:rPr lang="en-US" sz="1300" dirty="0">
                <a:solidFill>
                  <a:srgbClr val="E2E8F0"/>
                </a:solidFill>
                <a:latin typeface="Courier New" pitchFamily="34" charset="0"/>
                <a:ea typeface="Courier New" pitchFamily="34" charset="-122"/>
                <a:cs typeface="Courier New" pitchFamily="34" charset="-120"/>
              </a:rPr>
              <a:t> = β₀+β₁x+β₂x²+...+βₐxᵈ</a:t>
            </a:r>
            <a:endParaRPr lang="en-US" sz="1300" dirty="0"/>
          </a:p>
          <a:p>
            <a:pPr marL="0" indent="0">
              <a:buNone/>
            </a:pPr>
            <a:r>
              <a:rPr lang="en-US" sz="1300" b="1" dirty="0">
                <a:solidFill>
                  <a:srgbClr val="FFD166"/>
                </a:solidFill>
                <a:latin typeface="Courier New" pitchFamily="34" charset="0"/>
                <a:ea typeface="Courier New" pitchFamily="34" charset="-122"/>
                <a:cs typeface="Courier New" pitchFamily="34" charset="-120"/>
              </a:rPr>
              <a:t>New feature </a:t>
            </a:r>
            <a:r>
              <a:rPr lang="en-US" sz="1300" b="1" dirty="0" err="1">
                <a:solidFill>
                  <a:srgbClr val="FFD166"/>
                </a:solidFill>
                <a:latin typeface="Courier New" pitchFamily="34" charset="0"/>
                <a:ea typeface="Courier New" pitchFamily="34" charset="-122"/>
                <a:cs typeface="Courier New" pitchFamily="34" charset="-120"/>
              </a:rPr>
              <a:t>count:</a:t>
            </a:r>
            <a:r>
              <a:rPr lang="en-US" sz="1300" dirty="0" err="1">
                <a:solidFill>
                  <a:srgbClr val="E2E8F0"/>
                </a:solidFill>
                <a:latin typeface="Courier New" pitchFamily="34" charset="0"/>
                <a:ea typeface="Courier New" pitchFamily="34" charset="-122"/>
                <a:cs typeface="Courier New" pitchFamily="34" charset="-120"/>
              </a:rPr>
              <a:t>C</a:t>
            </a:r>
            <a:r>
              <a:rPr lang="en-US" sz="1300" dirty="0">
                <a:solidFill>
                  <a:srgbClr val="E2E8F0"/>
                </a:solidFill>
                <a:latin typeface="Courier New" pitchFamily="34" charset="0"/>
                <a:ea typeface="Courier New" pitchFamily="34" charset="-122"/>
                <a:cs typeface="Courier New" pitchFamily="34" charset="-120"/>
              </a:rPr>
              <a:t>(p+d, d) = (p+d)! / (p! × d!)</a:t>
            </a:r>
            <a:endParaRPr lang="en-US" sz="1300" dirty="0"/>
          </a:p>
          <a:p>
            <a:pPr marL="0" indent="0">
              <a:buNone/>
            </a:pPr>
            <a:r>
              <a:rPr lang="en-US" sz="1300" dirty="0">
                <a:solidFill>
                  <a:srgbClr val="FF6B6B"/>
                </a:solidFill>
                <a:latin typeface="Courier New" pitchFamily="34" charset="0"/>
                <a:ea typeface="Courier New" pitchFamily="34" charset="-122"/>
                <a:cs typeface="Courier New" pitchFamily="34" charset="-120"/>
              </a:rPr>
              <a:t>Risk: degree↑ → overfitting↑</a:t>
            </a:r>
            <a:endParaRPr lang="en-US" sz="1300" dirty="0"/>
          </a:p>
        </p:txBody>
      </p:sp>
      <p:sp>
        <p:nvSpPr>
          <p:cNvPr id="15" name="Shape 13"/>
          <p:cNvSpPr/>
          <p:nvPr/>
        </p:nvSpPr>
        <p:spPr>
          <a:xfrm>
            <a:off x="4617720" y="822960"/>
            <a:ext cx="4343400" cy="329184"/>
          </a:xfrm>
          <a:prstGeom prst="rect">
            <a:avLst/>
          </a:prstGeom>
          <a:solidFill>
            <a:srgbClr val="FF6B6B"/>
          </a:solidFill>
          <a:ln/>
          <a:effectLst>
            <a:outerShdw blurRad="101600" dist="38100" dir="8100000" algn="bl" rotWithShape="0">
              <a:srgbClr val="000000">
                <a:alpha val="12000"/>
              </a:srgbClr>
            </a:outerShdw>
          </a:effectLst>
        </p:spPr>
      </p:sp>
      <p:sp>
        <p:nvSpPr>
          <p:cNvPr id="16" name="Text 14"/>
          <p:cNvSpPr/>
          <p:nvPr/>
        </p:nvSpPr>
        <p:spPr>
          <a:xfrm>
            <a:off x="4654296" y="841248"/>
            <a:ext cx="429768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REAL-LIFE EXAMPLE</a:t>
            </a:r>
            <a:endParaRPr lang="en-US" sz="1200" dirty="0"/>
          </a:p>
        </p:txBody>
      </p:sp>
      <p:sp>
        <p:nvSpPr>
          <p:cNvPr id="17" name="Shape 15"/>
          <p:cNvSpPr/>
          <p:nvPr/>
        </p:nvSpPr>
        <p:spPr>
          <a:xfrm>
            <a:off x="4617720" y="1152144"/>
            <a:ext cx="4343400" cy="3749040"/>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sp>
        <p:nvSpPr>
          <p:cNvPr id="18" name="Shape 16"/>
          <p:cNvSpPr/>
          <p:nvPr/>
        </p:nvSpPr>
        <p:spPr>
          <a:xfrm>
            <a:off x="4617720" y="1152144"/>
            <a:ext cx="54864" cy="3749040"/>
          </a:xfrm>
          <a:prstGeom prst="rect">
            <a:avLst/>
          </a:prstGeom>
          <a:solidFill>
            <a:srgbClr val="FF6B6B"/>
          </a:solidFill>
          <a:ln/>
        </p:spPr>
      </p:sp>
      <p:sp>
        <p:nvSpPr>
          <p:cNvPr id="19" name="Text 17"/>
          <p:cNvSpPr/>
          <p:nvPr/>
        </p:nvSpPr>
        <p:spPr>
          <a:xfrm>
            <a:off x="4745736" y="1225296"/>
            <a:ext cx="4114800" cy="3566160"/>
          </a:xfrm>
          <a:prstGeom prst="rect">
            <a:avLst/>
          </a:prstGeom>
          <a:noFill/>
          <a:ln/>
        </p:spPr>
        <p:txBody>
          <a:bodyPr wrap="square" lIns="0" tIns="0" rIns="0" bIns="0" rtlCol="0" anchor="t"/>
          <a:lstStyle/>
          <a:p>
            <a:pPr marL="0" indent="0">
              <a:buNone/>
            </a:pPr>
            <a:r>
              <a:rPr lang="en-US" sz="1250" b="1" dirty="0">
                <a:solidFill>
                  <a:srgbClr val="1E2761"/>
                </a:solidFill>
                <a:latin typeface="Calibri" pitchFamily="34" charset="0"/>
                <a:ea typeface="Calibri" pitchFamily="34" charset="-122"/>
                <a:cs typeface="Calibri" pitchFamily="34" charset="-120"/>
              </a:rPr>
              <a:t>🚗 Fuel Efficiency
</a:t>
            </a:r>
            <a:r>
              <a:rPr lang="en-US" sz="1200" dirty="0">
                <a:solidFill>
                  <a:srgbClr val="1E293B"/>
                </a:solidFill>
                <a:latin typeface="Calibri" pitchFamily="34" charset="0"/>
                <a:ea typeface="Calibri" pitchFamily="34" charset="-122"/>
                <a:cs typeface="Calibri" pitchFamily="34" charset="-120"/>
              </a:rPr>
              <a:t>MPG vs. speed follows a curve — fuel efficiency drops at very high and very low speeds (optimal ~60 km/h). A degree-2 polynomial captures this U-shape that a linear model completely misses.
</a:t>
            </a:r>
            <a:r>
              <a:rPr lang="en-US" sz="1250" b="1" dirty="0">
                <a:solidFill>
                  <a:srgbClr val="1E2761"/>
                </a:solidFill>
                <a:latin typeface="Calibri" pitchFamily="34" charset="0"/>
                <a:ea typeface="Calibri" pitchFamily="34" charset="-122"/>
                <a:cs typeface="Calibri" pitchFamily="34" charset="-120"/>
              </a:rPr>
              <a:t>💊 Drug Dose-Response
</a:t>
            </a:r>
            <a:r>
              <a:rPr lang="en-US" sz="1200" dirty="0">
                <a:solidFill>
                  <a:srgbClr val="1E293B"/>
                </a:solidFill>
                <a:latin typeface="Calibri" pitchFamily="34" charset="0"/>
                <a:ea typeface="Calibri" pitchFamily="34" charset="-122"/>
                <a:cs typeface="Calibri" pitchFamily="34" charset="-120"/>
              </a:rPr>
              <a:t>Therapeutic effect vs. dosage is non-linear: too little has no effect, optimal range is therapeutic, too much is toxic. A polynomial curve models this inverted-U relationship.</a:t>
            </a:r>
            <a:endParaRPr lang="en-US" sz="1250" dirty="0"/>
          </a:p>
          <a:p>
            <a:pPr marL="0" indent="0">
              <a:buNone/>
            </a:pPr>
            <a:endParaRPr lang="en-US" sz="1250" dirty="0"/>
          </a:p>
          <a:p>
            <a:pPr marL="0" indent="0">
              <a:buNone/>
            </a:pPr>
            <a:r>
              <a:rPr lang="en-US" sz="1200" dirty="0">
                <a:solidFill>
                  <a:srgbClr val="1E293B"/>
                </a:solidFill>
                <a:latin typeface="Calibri" pitchFamily="34" charset="0"/>
                <a:ea typeface="Calibri" pitchFamily="34" charset="-122"/>
                <a:cs typeface="Calibri" pitchFamily="34" charset="-120"/>
              </a:rPr>
              <a:t>Always combine with Ridge/Lasso to prevent overfitting!</a:t>
            </a:r>
            <a:endParaRPr lang="en-US" sz="1250" dirty="0"/>
          </a:p>
        </p:txBody>
      </p:sp>
      <p:sp>
        <p:nvSpPr>
          <p:cNvPr id="21" name="Text 19"/>
          <p:cNvSpPr/>
          <p:nvPr/>
        </p:nvSpPr>
        <p:spPr>
          <a:xfrm>
            <a:off x="182880" y="4992624"/>
            <a:ext cx="8778240" cy="137160"/>
          </a:xfrm>
          <a:prstGeom prst="rect">
            <a:avLst/>
          </a:prstGeom>
          <a:noFill/>
          <a:ln/>
        </p:spPr>
        <p:txBody>
          <a:bodyPr wrap="square" lIns="0" tIns="0" rIns="0" bIns="0" rtlCol="0" anchor="ctr"/>
          <a:lstStyle/>
          <a:p>
            <a:pPr marL="0" indent="0" algn="ctr">
              <a:buNone/>
            </a:pPr>
            <a:r>
              <a:rPr lang="en-US" sz="800" dirty="0">
                <a:solidFill>
                  <a:srgbClr val="00C9A7"/>
                </a:solidFill>
                <a:latin typeface="Calibri" pitchFamily="34" charset="0"/>
                <a:ea typeface="Calibri" pitchFamily="34" charset="-122"/>
                <a:cs typeface="Calibri" pitchFamily="34" charset="-120"/>
              </a:rPr>
              <a:t>Topic 4 of 6  |  Advanced Regression</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p:spPr>
      </p:sp>
      <p:sp>
        <p:nvSpPr>
          <p:cNvPr id="3" name="Shape 1"/>
          <p:cNvSpPr/>
          <p:nvPr/>
        </p:nvSpPr>
        <p:spPr>
          <a:xfrm>
            <a:off x="0" y="658368"/>
            <a:ext cx="9144000" cy="36576"/>
          </a:xfrm>
          <a:prstGeom prst="rect">
            <a:avLst/>
          </a:prstGeom>
          <a:solidFill>
            <a:srgbClr val="FFD166"/>
          </a:solidFill>
          <a:ln/>
        </p:spPr>
      </p:sp>
      <p:sp>
        <p:nvSpPr>
          <p:cNvPr id="4" name="Text 2"/>
          <p:cNvSpPr/>
          <p:nvPr/>
        </p:nvSpPr>
        <p:spPr>
          <a:xfrm>
            <a:off x="164592" y="64008"/>
            <a:ext cx="7772400" cy="53035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4. Polynomial Feature Expansion</a:t>
            </a:r>
            <a:endParaRPr lang="en-US" sz="2200" dirty="0"/>
          </a:p>
        </p:txBody>
      </p:sp>
      <p:sp>
        <p:nvSpPr>
          <p:cNvPr id="5" name="Text 3"/>
          <p:cNvSpPr/>
          <p:nvPr/>
        </p:nvSpPr>
        <p:spPr>
          <a:xfrm>
            <a:off x="7315200" y="182880"/>
            <a:ext cx="1645920" cy="320040"/>
          </a:xfrm>
          <a:prstGeom prst="rect">
            <a:avLst/>
          </a:prstGeom>
          <a:noFill/>
          <a:ln/>
        </p:spPr>
        <p:txBody>
          <a:bodyPr wrap="square" lIns="0" tIns="0" rIns="0" bIns="0" rtlCol="0" anchor="ctr"/>
          <a:lstStyle/>
          <a:p>
            <a:pPr marL="0" indent="0" algn="r">
              <a:buNone/>
            </a:pPr>
            <a:r>
              <a:rPr lang="en-US" sz="850" dirty="0">
                <a:solidFill>
                  <a:srgbClr val="FFD166"/>
                </a:solidFill>
                <a:latin typeface="Calibri" pitchFamily="34" charset="0"/>
                <a:ea typeface="Calibri" pitchFamily="34" charset="-122"/>
                <a:cs typeface="Calibri" pitchFamily="34" charset="-120"/>
              </a:rPr>
              <a:t>Graph  •  Python Code</a:t>
            </a:r>
            <a:endParaRPr lang="en-US" sz="850" dirty="0"/>
          </a:p>
        </p:txBody>
      </p:sp>
      <p:sp>
        <p:nvSpPr>
          <p:cNvPr id="6" name="Shape 4"/>
          <p:cNvSpPr/>
          <p:nvPr/>
        </p:nvSpPr>
        <p:spPr>
          <a:xfrm>
            <a:off x="164592" y="804672"/>
            <a:ext cx="5029200" cy="329184"/>
          </a:xfrm>
          <a:prstGeom prst="rect">
            <a:avLst/>
          </a:prstGeom>
          <a:solidFill>
            <a:srgbClr val="2D6A8F"/>
          </a:solidFill>
          <a:ln/>
          <a:effectLst>
            <a:outerShdw blurRad="101600" dist="38100" dir="8100000" algn="bl" rotWithShape="0">
              <a:srgbClr val="000000">
                <a:alpha val="12000"/>
              </a:srgbClr>
            </a:outerShdw>
          </a:effectLst>
        </p:spPr>
      </p:sp>
      <p:sp>
        <p:nvSpPr>
          <p:cNvPr id="7" name="Text 5"/>
          <p:cNvSpPr/>
          <p:nvPr/>
        </p:nvSpPr>
        <p:spPr>
          <a:xfrm>
            <a:off x="201168" y="822960"/>
            <a:ext cx="493776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VISUALIZATION</a:t>
            </a:r>
            <a:endParaRPr lang="en-US" sz="1200" dirty="0"/>
          </a:p>
        </p:txBody>
      </p:sp>
      <p:sp>
        <p:nvSpPr>
          <p:cNvPr id="8" name="Shape 6"/>
          <p:cNvSpPr/>
          <p:nvPr/>
        </p:nvSpPr>
        <p:spPr>
          <a:xfrm>
            <a:off x="164592" y="1133856"/>
            <a:ext cx="5029200" cy="3675888"/>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pic>
        <p:nvPicPr>
          <p:cNvPr id="9" name="Image 0" descr="preencoded.png"/>
          <p:cNvPicPr>
            <a:picLocks noChangeAspect="1"/>
          </p:cNvPicPr>
          <p:nvPr/>
        </p:nvPicPr>
        <p:blipFill>
          <a:blip r:embed="rId3"/>
          <a:stretch>
            <a:fillRect/>
          </a:stretch>
        </p:blipFill>
        <p:spPr>
          <a:xfrm>
            <a:off x="256032" y="1188720"/>
            <a:ext cx="4846320" cy="3566160"/>
          </a:xfrm>
          <a:prstGeom prst="rect">
            <a:avLst/>
          </a:prstGeom>
        </p:spPr>
      </p:pic>
      <p:sp>
        <p:nvSpPr>
          <p:cNvPr id="10" name="Shape 7"/>
          <p:cNvSpPr/>
          <p:nvPr/>
        </p:nvSpPr>
        <p:spPr>
          <a:xfrm>
            <a:off x="5394960" y="804672"/>
            <a:ext cx="3584448" cy="329184"/>
          </a:xfrm>
          <a:prstGeom prst="rect">
            <a:avLst/>
          </a:prstGeom>
          <a:solidFill>
            <a:srgbClr val="14532D"/>
          </a:solidFill>
          <a:ln/>
          <a:effectLst>
            <a:outerShdw blurRad="101600" dist="38100" dir="8100000" algn="bl" rotWithShape="0">
              <a:srgbClr val="000000">
                <a:alpha val="12000"/>
              </a:srgbClr>
            </a:outerShdw>
          </a:effectLst>
        </p:spPr>
      </p:sp>
      <p:sp>
        <p:nvSpPr>
          <p:cNvPr id="11" name="Text 8"/>
          <p:cNvSpPr/>
          <p:nvPr/>
        </p:nvSpPr>
        <p:spPr>
          <a:xfrm>
            <a:off x="5431536" y="822960"/>
            <a:ext cx="3520440" cy="274320"/>
          </a:xfrm>
          <a:prstGeom prst="rect">
            <a:avLst/>
          </a:prstGeom>
          <a:noFill/>
          <a:ln/>
        </p:spPr>
        <p:txBody>
          <a:bodyPr wrap="square" lIns="0" tIns="0" rIns="0" bIns="0" rtlCol="0" anchor="ctr"/>
          <a:lstStyle/>
          <a:p>
            <a:pPr marL="0" indent="0">
              <a:buNone/>
            </a:pPr>
            <a:r>
              <a:rPr lang="en-US" sz="1200" b="1" dirty="0">
                <a:solidFill>
                  <a:srgbClr val="86EFAC"/>
                </a:solidFill>
                <a:latin typeface="Calibri" pitchFamily="34" charset="0"/>
                <a:ea typeface="Calibri" pitchFamily="34" charset="-122"/>
                <a:cs typeface="Calibri" pitchFamily="34" charset="-120"/>
              </a:rPr>
              <a:t>🐍 PYTHON CODE</a:t>
            </a:r>
            <a:endParaRPr lang="en-US" sz="1200" dirty="0"/>
          </a:p>
        </p:txBody>
      </p:sp>
      <p:sp>
        <p:nvSpPr>
          <p:cNvPr id="12" name="Shape 9"/>
          <p:cNvSpPr/>
          <p:nvPr/>
        </p:nvSpPr>
        <p:spPr>
          <a:xfrm>
            <a:off x="5394960" y="1133856"/>
            <a:ext cx="3584448" cy="3675888"/>
          </a:xfrm>
          <a:prstGeom prst="rect">
            <a:avLst/>
          </a:prstGeom>
          <a:solidFill>
            <a:srgbClr val="1A1A2E"/>
          </a:solidFill>
          <a:ln/>
          <a:effectLst>
            <a:outerShdw blurRad="101600" dist="38100" dir="8100000" algn="bl" rotWithShape="0">
              <a:srgbClr val="000000">
                <a:alpha val="12000"/>
              </a:srgbClr>
            </a:outerShdw>
          </a:effectLst>
        </p:spPr>
      </p:sp>
      <p:sp>
        <p:nvSpPr>
          <p:cNvPr id="13" name="Text 10"/>
          <p:cNvSpPr/>
          <p:nvPr/>
        </p:nvSpPr>
        <p:spPr>
          <a:xfrm>
            <a:off x="5486400" y="1188720"/>
            <a:ext cx="3401568" cy="3547872"/>
          </a:xfrm>
          <a:prstGeom prst="rect">
            <a:avLst/>
          </a:prstGeom>
          <a:noFill/>
          <a:ln/>
        </p:spPr>
        <p:txBody>
          <a:bodyPr wrap="square" lIns="0" tIns="0" rIns="0" bIns="0" rtlCol="0" anchor="t"/>
          <a:lstStyle/>
          <a:p>
            <a:pPr marL="0" indent="0">
              <a:buNone/>
            </a:pPr>
            <a:r>
              <a:rPr lang="en-US" sz="950" dirty="0">
                <a:solidFill>
                  <a:srgbClr val="A0D9EF"/>
                </a:solidFill>
                <a:latin typeface="Courier New" pitchFamily="34" charset="0"/>
                <a:ea typeface="Courier New" pitchFamily="34" charset="-122"/>
                <a:cs typeface="Courier New" pitchFamily="34" charset="-120"/>
              </a:rPr>
              <a:t>from </a:t>
            </a:r>
            <a:r>
              <a:rPr lang="en-US" sz="950" dirty="0" err="1">
                <a:solidFill>
                  <a:srgbClr val="A0D9EF"/>
                </a:solidFill>
                <a:latin typeface="Courier New" pitchFamily="34" charset="0"/>
                <a:ea typeface="Courier New" pitchFamily="34" charset="-122"/>
                <a:cs typeface="Courier New" pitchFamily="34" charset="-120"/>
              </a:rPr>
              <a:t>sklearn.preprocessing</a:t>
            </a:r>
            <a:r>
              <a:rPr lang="en-US" sz="950" dirty="0">
                <a:solidFill>
                  <a:srgbClr val="A0D9EF"/>
                </a:solidFill>
                <a:latin typeface="Courier New" pitchFamily="34" charset="0"/>
                <a:ea typeface="Courier New" pitchFamily="34" charset="-122"/>
                <a:cs typeface="Courier New" pitchFamily="34" charset="-120"/>
              </a:rPr>
              <a:t> import \
</a:t>
            </a:r>
            <a:r>
              <a:rPr lang="en-US" sz="950" dirty="0" err="1">
                <a:solidFill>
                  <a:srgbClr val="E2E8F0"/>
                </a:solidFill>
                <a:latin typeface="Courier New" pitchFamily="34" charset="0"/>
                <a:ea typeface="Courier New" pitchFamily="34" charset="-122"/>
                <a:cs typeface="Courier New" pitchFamily="34" charset="-120"/>
              </a:rPr>
              <a:t>PolynomialFeatures</a:t>
            </a:r>
            <a:r>
              <a:rPr lang="en-US" sz="950" dirty="0">
                <a:solidFill>
                  <a:srgbClr val="E2E8F0"/>
                </a:solidFill>
                <a:latin typeface="Courier New" pitchFamily="34" charset="0"/>
                <a:ea typeface="Courier New" pitchFamily="34" charset="-122"/>
                <a:cs typeface="Courier New" pitchFamily="34" charset="-120"/>
              </a:rPr>
              <a:t>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from sklearn.pipeline import Pipeline</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from </a:t>
            </a:r>
            <a:r>
              <a:rPr lang="en-US" sz="950" dirty="0" err="1">
                <a:solidFill>
                  <a:srgbClr val="E2E8F0"/>
                </a:solidFill>
                <a:latin typeface="Courier New" pitchFamily="34" charset="0"/>
                <a:ea typeface="Courier New" pitchFamily="34" charset="-122"/>
                <a:cs typeface="Courier New" pitchFamily="34" charset="-120"/>
              </a:rPr>
              <a:t>sklearn.linear_model</a:t>
            </a:r>
            <a:r>
              <a:rPr lang="en-US" sz="950" dirty="0">
                <a:solidFill>
                  <a:srgbClr val="E2E8F0"/>
                </a:solidFill>
                <a:latin typeface="Courier New" pitchFamily="34" charset="0"/>
                <a:ea typeface="Courier New" pitchFamily="34" charset="-122"/>
                <a:cs typeface="Courier New" pitchFamily="34" charset="-120"/>
              </a:rPr>
              <a:t> import Ridge</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import numpy as np</a:t>
            </a:r>
            <a:endParaRPr lang="en-US" sz="950" dirty="0"/>
          </a:p>
          <a:p>
            <a:pPr marL="0" indent="0">
              <a:buNone/>
            </a:pPr>
            <a:r>
              <a:rPr lang="en-US" sz="950" dirty="0">
                <a:solidFill>
                  <a:srgbClr val="696969"/>
                </a:solidFill>
                <a:latin typeface="Courier New" pitchFamily="34" charset="0"/>
                <a:ea typeface="Courier New" pitchFamily="34" charset="-122"/>
                <a:cs typeface="Courier New" pitchFamily="34" charset="-120"/>
              </a:rPr>
              <a:t># Non-linear data (quadratic)</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X = np.linspace(-3,3,100).reshape(-1,1)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y = 0.5*X[:,0]**2 - 1.5*X[:,0] + np.random.randn(100)*0.4</a:t>
            </a:r>
            <a:endParaRPr lang="en-US" sz="950" dirty="0"/>
          </a:p>
          <a:p>
            <a:pPr marL="0" indent="0">
              <a:buNone/>
            </a:pPr>
            <a:r>
              <a:rPr lang="en-US" sz="950" dirty="0">
                <a:solidFill>
                  <a:srgbClr val="696969"/>
                </a:solidFill>
                <a:latin typeface="Courier New" pitchFamily="34" charset="0"/>
                <a:ea typeface="Courier New" pitchFamily="34" charset="-122"/>
                <a:cs typeface="Courier New" pitchFamily="34" charset="-120"/>
              </a:rPr>
              <a:t># Build polynomial pipeline</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for deg in [1, 2, 5, 10]:</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  pipe = Pipeline([</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    ('poly', PolynomialFeatures(degree=deg)),</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    ('model', Ridge(alpha=0.1))</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  pipe.fit(X, y)</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  print(f'deg={deg}:', pipe.score(</a:t>
            </a:r>
            <a:r>
              <a:rPr lang="en-US" sz="950" dirty="0" err="1">
                <a:solidFill>
                  <a:srgbClr val="E2E8F0"/>
                </a:solidFill>
                <a:latin typeface="Courier New" pitchFamily="34" charset="0"/>
                <a:ea typeface="Courier New" pitchFamily="34" charset="-122"/>
                <a:cs typeface="Courier New" pitchFamily="34" charset="-120"/>
              </a:rPr>
              <a:t>X,y</a:t>
            </a:r>
            <a:r>
              <a:rPr lang="en-US" sz="950" dirty="0">
                <a:solidFill>
                  <a:srgbClr val="E2E8F0"/>
                </a:solidFill>
                <a:latin typeface="Courier New" pitchFamily="34" charset="0"/>
                <a:ea typeface="Courier New" pitchFamily="34" charset="-122"/>
                <a:cs typeface="Courier New" pitchFamily="34" charset="-120"/>
              </a:rPr>
              <a:t>))</a:t>
            </a:r>
            <a:endParaRPr lang="en-US" sz="950" dirty="0"/>
          </a:p>
          <a:p>
            <a:pPr marL="0" indent="0">
              <a:buNone/>
            </a:pPr>
            <a:r>
              <a:rPr lang="en-US" sz="950" dirty="0">
                <a:solidFill>
                  <a:srgbClr val="696969"/>
                </a:solidFill>
                <a:latin typeface="Courier New" pitchFamily="34" charset="0"/>
                <a:ea typeface="Courier New" pitchFamily="34" charset="-122"/>
                <a:cs typeface="Courier New" pitchFamily="34" charset="-120"/>
              </a:rPr>
              <a:t># Feature names</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pf = PolynomialFeatures(2)</a:t>
            </a:r>
            <a:endParaRPr lang="en-US" sz="950" dirty="0"/>
          </a:p>
          <a:p>
            <a:pPr marL="0" indent="0">
              <a:buNone/>
            </a:pPr>
            <a:r>
              <a:rPr lang="en-US" sz="950" dirty="0">
                <a:solidFill>
                  <a:srgbClr val="C3E88D"/>
                </a:solidFill>
                <a:latin typeface="Courier New" pitchFamily="34" charset="0"/>
                <a:ea typeface="Courier New" pitchFamily="34" charset="-122"/>
                <a:cs typeface="Courier New" pitchFamily="34" charset="-120"/>
              </a:rPr>
              <a:t>pf.fit(X); print(pf.get_feature_names_out())</a:t>
            </a:r>
            <a:endParaRPr lang="en-US" sz="950" dirty="0"/>
          </a:p>
        </p:txBody>
      </p:sp>
      <p:sp>
        <p:nvSpPr>
          <p:cNvPr id="14" name="Shape 11"/>
          <p:cNvSpPr/>
          <p:nvPr/>
        </p:nvSpPr>
        <p:spPr>
          <a:xfrm>
            <a:off x="0" y="4983480"/>
            <a:ext cx="9144000" cy="160020"/>
          </a:xfrm>
          <a:prstGeom prst="rect">
            <a:avLst/>
          </a:prstGeom>
          <a:solidFill>
            <a:srgbClr val="1E2761"/>
          </a:solidFill>
          <a:ln/>
        </p:spPr>
      </p:sp>
      <p:sp>
        <p:nvSpPr>
          <p:cNvPr id="15" name="Text 12"/>
          <p:cNvSpPr/>
          <p:nvPr/>
        </p:nvSpPr>
        <p:spPr>
          <a:xfrm>
            <a:off x="182880" y="4992624"/>
            <a:ext cx="8778240" cy="137160"/>
          </a:xfrm>
          <a:prstGeom prst="rect">
            <a:avLst/>
          </a:prstGeom>
          <a:noFill/>
          <a:ln/>
        </p:spPr>
        <p:txBody>
          <a:bodyPr wrap="square" lIns="0" tIns="0" rIns="0" bIns="0" rtlCol="0" anchor="ctr"/>
          <a:lstStyle/>
          <a:p>
            <a:pPr marL="0" indent="0" algn="ctr">
              <a:buNone/>
            </a:pPr>
            <a:r>
              <a:rPr lang="en-US" sz="800" dirty="0">
                <a:solidFill>
                  <a:srgbClr val="FFD166"/>
                </a:solidFill>
                <a:latin typeface="Calibri" pitchFamily="34" charset="0"/>
                <a:ea typeface="Calibri" pitchFamily="34" charset="-122"/>
                <a:cs typeface="Calibri" pitchFamily="34" charset="-120"/>
              </a:rPr>
              <a:t>Topic 4 of 6  |  Advanced Regression</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p:spPr>
      </p:sp>
      <p:sp>
        <p:nvSpPr>
          <p:cNvPr id="3" name="Shape 1"/>
          <p:cNvSpPr/>
          <p:nvPr/>
        </p:nvSpPr>
        <p:spPr>
          <a:xfrm>
            <a:off x="0" y="658368"/>
            <a:ext cx="9144000" cy="36576"/>
          </a:xfrm>
          <a:prstGeom prst="rect">
            <a:avLst/>
          </a:prstGeom>
          <a:solidFill>
            <a:srgbClr val="00C9A7"/>
          </a:solidFill>
          <a:ln/>
        </p:spPr>
      </p:sp>
      <p:sp>
        <p:nvSpPr>
          <p:cNvPr id="4" name="Text 2"/>
          <p:cNvSpPr/>
          <p:nvPr/>
        </p:nvSpPr>
        <p:spPr>
          <a:xfrm>
            <a:off x="164592" y="64008"/>
            <a:ext cx="7772400" cy="53035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5. Tree-Based Regression Models</a:t>
            </a:r>
            <a:endParaRPr lang="en-US" sz="2200" dirty="0"/>
          </a:p>
        </p:txBody>
      </p:sp>
      <p:sp>
        <p:nvSpPr>
          <p:cNvPr id="5" name="Text 3"/>
          <p:cNvSpPr/>
          <p:nvPr/>
        </p:nvSpPr>
        <p:spPr>
          <a:xfrm>
            <a:off x="7315200" y="182880"/>
            <a:ext cx="1645920" cy="320040"/>
          </a:xfrm>
          <a:prstGeom prst="rect">
            <a:avLst/>
          </a:prstGeom>
          <a:noFill/>
          <a:ln/>
        </p:spPr>
        <p:txBody>
          <a:bodyPr wrap="square" lIns="0" tIns="0" rIns="0" bIns="0" rtlCol="0" anchor="ctr"/>
          <a:lstStyle/>
          <a:p>
            <a:pPr marL="0" indent="0" algn="r">
              <a:buNone/>
            </a:pPr>
            <a:r>
              <a:rPr lang="en-US" sz="850" dirty="0">
                <a:solidFill>
                  <a:srgbClr val="00C9A7"/>
                </a:solidFill>
                <a:latin typeface="Calibri" pitchFamily="34" charset="0"/>
                <a:ea typeface="Calibri" pitchFamily="34" charset="-122"/>
                <a:cs typeface="Calibri" pitchFamily="34" charset="-120"/>
              </a:rPr>
              <a:t>Definition  •  Equation  •  Real-Life Example</a:t>
            </a:r>
            <a:endParaRPr lang="en-US" sz="850" dirty="0"/>
          </a:p>
        </p:txBody>
      </p:sp>
      <p:sp>
        <p:nvSpPr>
          <p:cNvPr id="6" name="Shape 4"/>
          <p:cNvSpPr/>
          <p:nvPr/>
        </p:nvSpPr>
        <p:spPr>
          <a:xfrm>
            <a:off x="164592" y="822960"/>
            <a:ext cx="4160520" cy="329184"/>
          </a:xfrm>
          <a:prstGeom prst="rect">
            <a:avLst/>
          </a:prstGeom>
          <a:solidFill>
            <a:srgbClr val="1E2761"/>
          </a:solidFill>
          <a:ln/>
          <a:effectLst>
            <a:outerShdw blurRad="101600" dist="38100" dir="8100000" algn="bl" rotWithShape="0">
              <a:srgbClr val="000000">
                <a:alpha val="12000"/>
              </a:srgbClr>
            </a:outerShdw>
          </a:effectLst>
        </p:spPr>
      </p:sp>
      <p:sp>
        <p:nvSpPr>
          <p:cNvPr id="7" name="Text 5"/>
          <p:cNvSpPr/>
          <p:nvPr/>
        </p:nvSpPr>
        <p:spPr>
          <a:xfrm>
            <a:off x="201168" y="841248"/>
            <a:ext cx="4114800" cy="274320"/>
          </a:xfrm>
          <a:prstGeom prst="rect">
            <a:avLst/>
          </a:prstGeom>
          <a:noFill/>
          <a:ln/>
        </p:spPr>
        <p:txBody>
          <a:bodyPr wrap="square" lIns="0" tIns="0" rIns="0" bIns="0" rtlCol="0" anchor="ctr"/>
          <a:lstStyle/>
          <a:p>
            <a:pPr marL="0" indent="0">
              <a:buNone/>
            </a:pPr>
            <a:r>
              <a:rPr lang="en-US" sz="1200" b="1" dirty="0">
                <a:solidFill>
                  <a:srgbClr val="00C9A7"/>
                </a:solidFill>
                <a:latin typeface="Calibri" pitchFamily="34" charset="0"/>
                <a:ea typeface="Calibri" pitchFamily="34" charset="-122"/>
                <a:cs typeface="Calibri" pitchFamily="34" charset="-120"/>
              </a:rPr>
              <a:t>📖 DEFINITION</a:t>
            </a:r>
            <a:endParaRPr lang="en-US" sz="1200" dirty="0"/>
          </a:p>
        </p:txBody>
      </p:sp>
      <p:sp>
        <p:nvSpPr>
          <p:cNvPr id="8" name="Shape 6"/>
          <p:cNvSpPr/>
          <p:nvPr/>
        </p:nvSpPr>
        <p:spPr>
          <a:xfrm>
            <a:off x="164592" y="1152144"/>
            <a:ext cx="4160520" cy="1755648"/>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sp>
        <p:nvSpPr>
          <p:cNvPr id="9" name="Shape 7"/>
          <p:cNvSpPr/>
          <p:nvPr/>
        </p:nvSpPr>
        <p:spPr>
          <a:xfrm>
            <a:off x="164592" y="1152144"/>
            <a:ext cx="54864" cy="1755648"/>
          </a:xfrm>
          <a:prstGeom prst="rect">
            <a:avLst/>
          </a:prstGeom>
          <a:solidFill>
            <a:srgbClr val="00C9A7"/>
          </a:solidFill>
          <a:ln/>
        </p:spPr>
      </p:sp>
      <p:sp>
        <p:nvSpPr>
          <p:cNvPr id="10" name="Text 8"/>
          <p:cNvSpPr/>
          <p:nvPr/>
        </p:nvSpPr>
        <p:spPr>
          <a:xfrm>
            <a:off x="292608" y="1207008"/>
            <a:ext cx="3931920" cy="1627632"/>
          </a:xfrm>
          <a:prstGeom prst="rect">
            <a:avLst/>
          </a:prstGeom>
          <a:noFill/>
          <a:ln/>
        </p:spPr>
        <p:txBody>
          <a:bodyPr wrap="square" lIns="0" tIns="0" rIns="0" bIns="0" rtlCol="0" anchor="t"/>
          <a:lstStyle/>
          <a:p>
            <a:pPr marL="0" indent="0">
              <a:buNone/>
            </a:pPr>
            <a:r>
              <a:rPr lang="en-US" sz="1250" dirty="0">
                <a:solidFill>
                  <a:srgbClr val="1E293B"/>
                </a:solidFill>
                <a:latin typeface="Calibri" pitchFamily="34" charset="0"/>
                <a:ea typeface="Calibri" pitchFamily="34" charset="-122"/>
                <a:cs typeface="Calibri" pitchFamily="34" charset="-120"/>
              </a:rPr>
              <a:t>Tree-based regression models recursively partition the feature space into rectangular regions, predicting the mean target value within each region. A Decision Tree minimizes MSE at each split. Random Forest builds multiple decorrelated trees using bootstrap sampling and random feature selection, averaging predictions to reduce variance. Gradient Boosting builds trees sequentially, where each tree corrects the residuals of the previous. These models handle non-linearity, outliers, and mixed data types naturally without scaling.</a:t>
            </a:r>
            <a:endParaRPr lang="en-US" sz="1250" dirty="0"/>
          </a:p>
        </p:txBody>
      </p:sp>
      <p:sp>
        <p:nvSpPr>
          <p:cNvPr id="11" name="Shape 9"/>
          <p:cNvSpPr/>
          <p:nvPr/>
        </p:nvSpPr>
        <p:spPr>
          <a:xfrm>
            <a:off x="164592" y="2999232"/>
            <a:ext cx="4160520" cy="329184"/>
          </a:xfrm>
          <a:prstGeom prst="rect">
            <a:avLst/>
          </a:prstGeom>
          <a:solidFill>
            <a:srgbClr val="2D6A8F"/>
          </a:solidFill>
          <a:ln/>
          <a:effectLst>
            <a:outerShdw blurRad="101600" dist="38100" dir="8100000" algn="bl" rotWithShape="0">
              <a:srgbClr val="000000">
                <a:alpha val="12000"/>
              </a:srgbClr>
            </a:outerShdw>
          </a:effectLst>
        </p:spPr>
      </p:sp>
      <p:sp>
        <p:nvSpPr>
          <p:cNvPr id="12" name="Text 10"/>
          <p:cNvSpPr/>
          <p:nvPr/>
        </p:nvSpPr>
        <p:spPr>
          <a:xfrm>
            <a:off x="201168" y="3017520"/>
            <a:ext cx="411480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MATHEMATICAL EQUATION</a:t>
            </a:r>
            <a:endParaRPr lang="en-US" sz="1150" dirty="0"/>
          </a:p>
        </p:txBody>
      </p:sp>
      <p:sp>
        <p:nvSpPr>
          <p:cNvPr id="13" name="Shape 11"/>
          <p:cNvSpPr/>
          <p:nvPr/>
        </p:nvSpPr>
        <p:spPr>
          <a:xfrm>
            <a:off x="164592" y="3328416"/>
            <a:ext cx="4160520" cy="1572768"/>
          </a:xfrm>
          <a:prstGeom prst="rect">
            <a:avLst/>
          </a:prstGeom>
          <a:solidFill>
            <a:srgbClr val="1A1A2E"/>
          </a:solidFill>
          <a:ln/>
          <a:effectLst>
            <a:outerShdw blurRad="101600" dist="38100" dir="8100000" algn="bl" rotWithShape="0">
              <a:srgbClr val="000000">
                <a:alpha val="12000"/>
              </a:srgbClr>
            </a:outerShdw>
          </a:effectLst>
        </p:spPr>
      </p:sp>
      <p:sp>
        <p:nvSpPr>
          <p:cNvPr id="14" name="Text 12"/>
          <p:cNvSpPr/>
          <p:nvPr/>
        </p:nvSpPr>
        <p:spPr>
          <a:xfrm>
            <a:off x="274320" y="3383280"/>
            <a:ext cx="3931920" cy="1444752"/>
          </a:xfrm>
          <a:prstGeom prst="rect">
            <a:avLst/>
          </a:prstGeom>
          <a:noFill/>
          <a:ln/>
        </p:spPr>
        <p:txBody>
          <a:bodyPr wrap="square" lIns="0" tIns="0" rIns="0" bIns="0" rtlCol="0" anchor="t"/>
          <a:lstStyle/>
          <a:p>
            <a:pPr marL="0" indent="0">
              <a:buNone/>
            </a:pPr>
            <a:r>
              <a:rPr lang="en-US" sz="1300" b="1" dirty="0">
                <a:solidFill>
                  <a:srgbClr val="FFD166"/>
                </a:solidFill>
                <a:latin typeface="Courier New" pitchFamily="34" charset="0"/>
                <a:ea typeface="Courier New" pitchFamily="34" charset="-122"/>
                <a:cs typeface="Courier New" pitchFamily="34" charset="-120"/>
              </a:rPr>
              <a:t>Split Criterion (MSE reduction):
</a:t>
            </a:r>
            <a:endParaRPr lang="en-US" sz="1300" dirty="0"/>
          </a:p>
          <a:p>
            <a:pPr marL="0" indent="0">
              <a:buNone/>
            </a:pPr>
            <a:r>
              <a:rPr lang="en-US" sz="1300" dirty="0">
                <a:solidFill>
                  <a:srgbClr val="E2E8F0"/>
                </a:solidFill>
                <a:latin typeface="Courier New" pitchFamily="34" charset="0"/>
                <a:ea typeface="Courier New" pitchFamily="34" charset="-122"/>
                <a:cs typeface="Courier New" pitchFamily="34" charset="-120"/>
              </a:rPr>
              <a:t>ΔMSEₛ = MSE(parent) - [
</a:t>
            </a:r>
            <a:endParaRPr lang="en-US" sz="1300" dirty="0"/>
          </a:p>
          <a:p>
            <a:pPr marL="0" indent="0">
              <a:buNone/>
            </a:pPr>
            <a:r>
              <a:rPr lang="en-US" sz="1300" dirty="0">
                <a:solidFill>
                  <a:srgbClr val="E2E8F0"/>
                </a:solidFill>
                <a:latin typeface="Courier New" pitchFamily="34" charset="0"/>
                <a:ea typeface="Courier New" pitchFamily="34" charset="-122"/>
                <a:cs typeface="Courier New" pitchFamily="34" charset="-120"/>
              </a:rPr>
              <a:t>   (n_L/n)MSE_L + (n_R/n)MSE_R ]
</a:t>
            </a:r>
            <a:endParaRPr lang="en-US" sz="1300" dirty="0"/>
          </a:p>
          <a:p>
            <a:pPr marL="0" indent="0">
              <a:buNone/>
            </a:pPr>
            <a:r>
              <a:rPr lang="en-US" sz="1300" b="1" dirty="0">
                <a:solidFill>
                  <a:srgbClr val="FFD166"/>
                </a:solidFill>
                <a:latin typeface="Courier New" pitchFamily="34" charset="0"/>
                <a:ea typeface="Courier New" pitchFamily="34" charset="-122"/>
                <a:cs typeface="Courier New" pitchFamily="34" charset="-120"/>
              </a:rPr>
              <a:t>Leaf Prediction:
</a:t>
            </a:r>
            <a:endParaRPr lang="en-US" sz="1300" dirty="0"/>
          </a:p>
          <a:p>
            <a:pPr marL="0" indent="0">
              <a:buNone/>
            </a:pPr>
            <a:r>
              <a:rPr lang="en-US" sz="1300" dirty="0">
                <a:solidFill>
                  <a:srgbClr val="E2E8F0"/>
                </a:solidFill>
                <a:latin typeface="Courier New" pitchFamily="34" charset="0"/>
                <a:ea typeface="Courier New" pitchFamily="34" charset="-122"/>
                <a:cs typeface="Courier New" pitchFamily="34" charset="-120"/>
              </a:rPr>
              <a:t>ŷ(leaf) = mean(y : x ∈ leaf)
</a:t>
            </a:r>
            <a:endParaRPr lang="en-US" sz="1300" dirty="0"/>
          </a:p>
          <a:p>
            <a:pPr marL="0" indent="0">
              <a:buNone/>
            </a:pPr>
            <a:r>
              <a:rPr lang="en-US" sz="1300" b="1" dirty="0">
                <a:solidFill>
                  <a:srgbClr val="FFD166"/>
                </a:solidFill>
                <a:latin typeface="Courier New" pitchFamily="34" charset="0"/>
                <a:ea typeface="Courier New" pitchFamily="34" charset="-122"/>
                <a:cs typeface="Courier New" pitchFamily="34" charset="-120"/>
              </a:rPr>
              <a:t>Random Forest:
</a:t>
            </a:r>
            <a:endParaRPr lang="en-US" sz="1300" dirty="0"/>
          </a:p>
          <a:p>
            <a:pPr marL="0" indent="0">
              <a:buNone/>
            </a:pPr>
            <a:r>
              <a:rPr lang="en-US" sz="1300" dirty="0">
                <a:solidFill>
                  <a:srgbClr val="E2E8F0"/>
                </a:solidFill>
                <a:latin typeface="Courier New" pitchFamily="34" charset="0"/>
                <a:ea typeface="Courier New" pitchFamily="34" charset="-122"/>
                <a:cs typeface="Courier New" pitchFamily="34" charset="-120"/>
              </a:rPr>
              <a:t>ŷ_RF = (1/B)Σ T_b(x)
</a:t>
            </a:r>
            <a:endParaRPr lang="en-US" sz="1300" dirty="0"/>
          </a:p>
          <a:p>
            <a:pPr marL="0" indent="0">
              <a:buNone/>
            </a:pPr>
            <a:r>
              <a:rPr lang="en-US" sz="1300" b="1" dirty="0">
                <a:solidFill>
                  <a:srgbClr val="FFD166"/>
                </a:solidFill>
                <a:latin typeface="Courier New" pitchFamily="34" charset="0"/>
                <a:ea typeface="Courier New" pitchFamily="34" charset="-122"/>
                <a:cs typeface="Courier New" pitchFamily="34" charset="-120"/>
              </a:rPr>
              <a:t>Gradient Boost:
</a:t>
            </a:r>
            <a:endParaRPr lang="en-US" sz="1300" dirty="0"/>
          </a:p>
          <a:p>
            <a:pPr marL="0" indent="0">
              <a:buNone/>
            </a:pPr>
            <a:r>
              <a:rPr lang="en-US" sz="1300" dirty="0">
                <a:solidFill>
                  <a:srgbClr val="E2E8F0"/>
                </a:solidFill>
                <a:latin typeface="Courier New" pitchFamily="34" charset="0"/>
                <a:ea typeface="Courier New" pitchFamily="34" charset="-122"/>
                <a:cs typeface="Courier New" pitchFamily="34" charset="-120"/>
              </a:rPr>
              <a:t>Fₘ(x) = Fₘ₋₁(x) + η·hₘ(x)
</a:t>
            </a:r>
            <a:endParaRPr lang="en-US" sz="1300" dirty="0"/>
          </a:p>
          <a:p>
            <a:pPr marL="0" indent="0">
              <a:buNone/>
            </a:pPr>
            <a:r>
              <a:rPr lang="en-US" sz="1300" dirty="0">
                <a:solidFill>
                  <a:srgbClr val="00C9A7"/>
                </a:solidFill>
                <a:latin typeface="Courier New" pitchFamily="34" charset="0"/>
                <a:ea typeface="Courier New" pitchFamily="34" charset="-122"/>
                <a:cs typeface="Courier New" pitchFamily="34" charset="-120"/>
              </a:rPr>
              <a:t>hₘ fits residuals rᵢ = yᵢ - Fₘ₋₁(xᵢ)</a:t>
            </a:r>
            <a:endParaRPr lang="en-US" sz="1300" dirty="0"/>
          </a:p>
        </p:txBody>
      </p:sp>
      <p:sp>
        <p:nvSpPr>
          <p:cNvPr id="15" name="Shape 13"/>
          <p:cNvSpPr/>
          <p:nvPr/>
        </p:nvSpPr>
        <p:spPr>
          <a:xfrm>
            <a:off x="4617720" y="822960"/>
            <a:ext cx="4343400" cy="329184"/>
          </a:xfrm>
          <a:prstGeom prst="rect">
            <a:avLst/>
          </a:prstGeom>
          <a:solidFill>
            <a:srgbClr val="FF6B6B"/>
          </a:solidFill>
          <a:ln/>
          <a:effectLst>
            <a:outerShdw blurRad="101600" dist="38100" dir="8100000" algn="bl" rotWithShape="0">
              <a:srgbClr val="000000">
                <a:alpha val="12000"/>
              </a:srgbClr>
            </a:outerShdw>
          </a:effectLst>
        </p:spPr>
      </p:sp>
      <p:sp>
        <p:nvSpPr>
          <p:cNvPr id="16" name="Text 14"/>
          <p:cNvSpPr/>
          <p:nvPr/>
        </p:nvSpPr>
        <p:spPr>
          <a:xfrm>
            <a:off x="4654296" y="841248"/>
            <a:ext cx="429768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REAL-LIFE EXAMPLE</a:t>
            </a:r>
            <a:endParaRPr lang="en-US" sz="1200" dirty="0"/>
          </a:p>
        </p:txBody>
      </p:sp>
      <p:sp>
        <p:nvSpPr>
          <p:cNvPr id="17" name="Shape 15"/>
          <p:cNvSpPr/>
          <p:nvPr/>
        </p:nvSpPr>
        <p:spPr>
          <a:xfrm>
            <a:off x="4617720" y="1152144"/>
            <a:ext cx="4343400" cy="3749040"/>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sp>
        <p:nvSpPr>
          <p:cNvPr id="18" name="Shape 16"/>
          <p:cNvSpPr/>
          <p:nvPr/>
        </p:nvSpPr>
        <p:spPr>
          <a:xfrm>
            <a:off x="4617720" y="1152144"/>
            <a:ext cx="54864" cy="3749040"/>
          </a:xfrm>
          <a:prstGeom prst="rect">
            <a:avLst/>
          </a:prstGeom>
          <a:solidFill>
            <a:srgbClr val="FF6B6B"/>
          </a:solidFill>
          <a:ln/>
        </p:spPr>
      </p:sp>
      <p:sp>
        <p:nvSpPr>
          <p:cNvPr id="19" name="Text 17"/>
          <p:cNvSpPr/>
          <p:nvPr/>
        </p:nvSpPr>
        <p:spPr>
          <a:xfrm>
            <a:off x="4745736" y="1225296"/>
            <a:ext cx="4114800" cy="3566160"/>
          </a:xfrm>
          <a:prstGeom prst="rect">
            <a:avLst/>
          </a:prstGeom>
          <a:noFill/>
          <a:ln/>
        </p:spPr>
        <p:txBody>
          <a:bodyPr wrap="square" lIns="0" tIns="0" rIns="0" bIns="0" rtlCol="0" anchor="t"/>
          <a:lstStyle/>
          <a:p>
            <a:pPr marL="0" indent="0">
              <a:buNone/>
            </a:pPr>
            <a:r>
              <a:rPr lang="en-US" sz="1250" b="1" dirty="0">
                <a:solidFill>
                  <a:srgbClr val="1E2761"/>
                </a:solidFill>
                <a:latin typeface="Calibri" pitchFamily="34" charset="0"/>
                <a:ea typeface="Calibri" pitchFamily="34" charset="-122"/>
                <a:cs typeface="Calibri" pitchFamily="34" charset="-120"/>
              </a:rPr>
              <a:t>🌳 Real Estate Valuation
</a:t>
            </a:r>
            <a:r>
              <a:rPr lang="en-US" sz="1200" dirty="0">
                <a:solidFill>
                  <a:srgbClr val="1E293B"/>
                </a:solidFill>
                <a:latin typeface="Calibri" pitchFamily="34" charset="0"/>
                <a:ea typeface="Calibri" pitchFamily="34" charset="-122"/>
                <a:cs typeface="Calibri" pitchFamily="34" charset="-120"/>
              </a:rPr>
              <a:t>Random Forest splits: 'Area &gt; 1500sqft → yes branch: price range 300k-500k'. No feature scaling needed. Handles missing values. Used by Zillow's Zestimate model for property valuation.
</a:t>
            </a:r>
            <a:r>
              <a:rPr lang="en-US" sz="1250" b="1" dirty="0">
                <a:solidFill>
                  <a:srgbClr val="1E2761"/>
                </a:solidFill>
                <a:latin typeface="Calibri" pitchFamily="34" charset="0"/>
                <a:ea typeface="Calibri" pitchFamily="34" charset="-122"/>
                <a:cs typeface="Calibri" pitchFamily="34" charset="-120"/>
              </a:rPr>
              <a:t>⚡ Energy Demand Forecasting
</a:t>
            </a:r>
            <a:r>
              <a:rPr lang="en-US" sz="1200" dirty="0">
                <a:solidFill>
                  <a:srgbClr val="1E293B"/>
                </a:solidFill>
                <a:latin typeface="Calibri" pitchFamily="34" charset="0"/>
                <a:ea typeface="Calibri" pitchFamily="34" charset="-122"/>
                <a:cs typeface="Calibri" pitchFamily="34" charset="-120"/>
              </a:rPr>
              <a:t>XGBoost (Gradient Boost) captures complex patterns in electricity demand: temperature spikes, weekday/weekend effects, holidays — without manual feature engineering.</a:t>
            </a:r>
            <a:endParaRPr lang="en-US" sz="1250" dirty="0"/>
          </a:p>
          <a:p>
            <a:pPr marL="0" indent="0">
              <a:buNone/>
            </a:pPr>
            <a:endParaRPr lang="en-US" sz="1250" dirty="0"/>
          </a:p>
          <a:p>
            <a:pPr marL="0" indent="0">
              <a:buNone/>
            </a:pPr>
            <a:r>
              <a:rPr lang="en-US" sz="1200" dirty="0">
                <a:solidFill>
                  <a:srgbClr val="1E293B"/>
                </a:solidFill>
                <a:latin typeface="Calibri" pitchFamily="34" charset="0"/>
                <a:ea typeface="Calibri" pitchFamily="34" charset="-122"/>
                <a:cs typeface="Calibri" pitchFamily="34" charset="-120"/>
              </a:rPr>
              <a:t>Feature importance from trees gives actionable insights.</a:t>
            </a:r>
            <a:endParaRPr lang="en-US" sz="1250" dirty="0"/>
          </a:p>
        </p:txBody>
      </p:sp>
      <p:sp>
        <p:nvSpPr>
          <p:cNvPr id="20" name="Shape 18"/>
          <p:cNvSpPr/>
          <p:nvPr/>
        </p:nvSpPr>
        <p:spPr>
          <a:xfrm>
            <a:off x="0" y="4983480"/>
            <a:ext cx="9144000" cy="160020"/>
          </a:xfrm>
          <a:prstGeom prst="rect">
            <a:avLst/>
          </a:prstGeom>
          <a:solidFill>
            <a:srgbClr val="1E2761"/>
          </a:solidFill>
          <a:ln/>
        </p:spPr>
      </p:sp>
      <p:sp>
        <p:nvSpPr>
          <p:cNvPr id="21" name="Text 19"/>
          <p:cNvSpPr/>
          <p:nvPr/>
        </p:nvSpPr>
        <p:spPr>
          <a:xfrm>
            <a:off x="182880" y="4992624"/>
            <a:ext cx="8778240" cy="137160"/>
          </a:xfrm>
          <a:prstGeom prst="rect">
            <a:avLst/>
          </a:prstGeom>
          <a:noFill/>
          <a:ln/>
        </p:spPr>
        <p:txBody>
          <a:bodyPr wrap="square" lIns="0" tIns="0" rIns="0" bIns="0" rtlCol="0" anchor="ctr"/>
          <a:lstStyle/>
          <a:p>
            <a:pPr marL="0" indent="0" algn="ctr">
              <a:buNone/>
            </a:pPr>
            <a:r>
              <a:rPr lang="en-US" sz="800" dirty="0">
                <a:solidFill>
                  <a:srgbClr val="00C9A7"/>
                </a:solidFill>
                <a:latin typeface="Calibri" pitchFamily="34" charset="0"/>
                <a:ea typeface="Calibri" pitchFamily="34" charset="-122"/>
                <a:cs typeface="Calibri" pitchFamily="34" charset="-120"/>
              </a:rPr>
              <a:t>Topic 5 of 6  |  Advanced Regression</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9285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9">
            <a:extLst>
              <a:ext uri="{FF2B5EF4-FFF2-40B4-BE49-F238E27FC236}">
                <a16:creationId xmlns:a16="http://schemas.microsoft.com/office/drawing/2014/main" id="{19433187-7596-4D6C-DB3F-CDC2A3A5DEFA}"/>
              </a:ext>
            </a:extLst>
          </p:cNvPr>
          <p:cNvSpPr/>
          <p:nvPr/>
        </p:nvSpPr>
        <p:spPr>
          <a:xfrm>
            <a:off x="164592" y="55614"/>
            <a:ext cx="8747676" cy="1016653"/>
          </a:xfrm>
          <a:prstGeom prst="rect">
            <a:avLst/>
          </a:prstGeom>
          <a:solidFill>
            <a:srgbClr val="2D6A8F"/>
          </a:solidFill>
          <a:ln/>
          <a:effectLst>
            <a:outerShdw blurRad="101600" dist="38100" dir="8100000" algn="bl" rotWithShape="0">
              <a:srgbClr val="000000">
                <a:alpha val="12000"/>
              </a:srgbClr>
            </a:outerShdw>
          </a:effectLst>
        </p:spPr>
      </p:sp>
      <p:sp>
        <p:nvSpPr>
          <p:cNvPr id="5" name="Shape 11">
            <a:extLst>
              <a:ext uri="{FF2B5EF4-FFF2-40B4-BE49-F238E27FC236}">
                <a16:creationId xmlns:a16="http://schemas.microsoft.com/office/drawing/2014/main" id="{177BC673-2A47-5311-6652-9F666453E8D7}"/>
              </a:ext>
            </a:extLst>
          </p:cNvPr>
          <p:cNvSpPr/>
          <p:nvPr/>
        </p:nvSpPr>
        <p:spPr>
          <a:xfrm>
            <a:off x="164592" y="384798"/>
            <a:ext cx="8747676" cy="4857343"/>
          </a:xfrm>
          <a:prstGeom prst="rect">
            <a:avLst/>
          </a:prstGeom>
          <a:solidFill>
            <a:srgbClr val="1A1A2E"/>
          </a:solidFill>
          <a:ln/>
          <a:effectLst>
            <a:outerShdw blurRad="101600" dist="38100" dir="8100000" algn="bl" rotWithShape="0">
              <a:srgbClr val="000000">
                <a:alpha val="12000"/>
              </a:srgbClr>
            </a:outerShdw>
          </a:effectLst>
        </p:spPr>
      </p:sp>
      <p:sp>
        <p:nvSpPr>
          <p:cNvPr id="6" name="Text 12">
            <a:extLst>
              <a:ext uri="{FF2B5EF4-FFF2-40B4-BE49-F238E27FC236}">
                <a16:creationId xmlns:a16="http://schemas.microsoft.com/office/drawing/2014/main" id="{C223B72D-1CEC-89EF-FF41-925DC499B8A3}"/>
              </a:ext>
            </a:extLst>
          </p:cNvPr>
          <p:cNvSpPr/>
          <p:nvPr/>
        </p:nvSpPr>
        <p:spPr>
          <a:xfrm>
            <a:off x="274320" y="439663"/>
            <a:ext cx="8267034" cy="4461978"/>
          </a:xfrm>
          <a:prstGeom prst="rect">
            <a:avLst/>
          </a:prstGeom>
          <a:noFill/>
          <a:ln/>
        </p:spPr>
        <p:txBody>
          <a:bodyPr wrap="square" lIns="0" tIns="0" rIns="0" bIns="0" rtlCol="0" anchor="t"/>
          <a:lstStyle/>
          <a:p>
            <a:pPr marL="0" indent="0">
              <a:buNone/>
            </a:pPr>
            <a:r>
              <a:rPr lang="en-US" sz="1300" b="1" dirty="0">
                <a:solidFill>
                  <a:srgbClr val="FFD166"/>
                </a:solidFill>
                <a:latin typeface="Courier New" pitchFamily="34" charset="0"/>
                <a:ea typeface="Courier New" pitchFamily="34" charset="-122"/>
                <a:cs typeface="Courier New" pitchFamily="34" charset="-120"/>
              </a:rPr>
              <a:t>Split Criterion (MSE reduction):
</a:t>
            </a:r>
            <a:endParaRPr lang="en-US" sz="1300" dirty="0"/>
          </a:p>
          <a:p>
            <a:pPr marL="0" indent="0">
              <a:buNone/>
            </a:pPr>
            <a:r>
              <a:rPr lang="en-US" sz="1300" dirty="0">
                <a:solidFill>
                  <a:srgbClr val="E2E8F0"/>
                </a:solidFill>
                <a:latin typeface="Courier New" pitchFamily="34" charset="0"/>
                <a:ea typeface="Courier New" pitchFamily="34" charset="-122"/>
                <a:cs typeface="Courier New" pitchFamily="34" charset="-120"/>
              </a:rPr>
              <a:t>ΔMSEₛ = MSE(parent) - [
</a:t>
            </a:r>
            <a:endParaRPr lang="en-US" sz="1300" dirty="0"/>
          </a:p>
          <a:p>
            <a:pPr marL="0" indent="0">
              <a:buNone/>
            </a:pPr>
            <a:r>
              <a:rPr lang="en-US" sz="1300" dirty="0">
                <a:solidFill>
                  <a:srgbClr val="E2E8F0"/>
                </a:solidFill>
                <a:latin typeface="Courier New" pitchFamily="34" charset="0"/>
                <a:ea typeface="Courier New" pitchFamily="34" charset="-122"/>
                <a:cs typeface="Courier New" pitchFamily="34" charset="-120"/>
              </a:rPr>
              <a:t>   (n_L/n)MSE_L + (n_R/n)MSE_R ]
</a:t>
            </a:r>
            <a:endParaRPr lang="en-US" sz="1300" dirty="0"/>
          </a:p>
          <a:p>
            <a:pPr marL="0" indent="0">
              <a:buNone/>
            </a:pPr>
            <a:r>
              <a:rPr lang="en-US" sz="1300" b="1" dirty="0">
                <a:solidFill>
                  <a:srgbClr val="FFD166"/>
                </a:solidFill>
                <a:latin typeface="Courier New" pitchFamily="34" charset="0"/>
                <a:ea typeface="Courier New" pitchFamily="34" charset="-122"/>
                <a:cs typeface="Courier New" pitchFamily="34" charset="-120"/>
              </a:rPr>
              <a:t>Leaf Prediction:
</a:t>
            </a:r>
            <a:endParaRPr lang="en-US" sz="1300" dirty="0"/>
          </a:p>
          <a:p>
            <a:pPr marL="0" indent="0">
              <a:buNone/>
            </a:pPr>
            <a:r>
              <a:rPr lang="en-US" sz="1300" dirty="0">
                <a:solidFill>
                  <a:srgbClr val="E2E8F0"/>
                </a:solidFill>
                <a:latin typeface="Courier New" pitchFamily="34" charset="0"/>
                <a:ea typeface="Courier New" pitchFamily="34" charset="-122"/>
                <a:cs typeface="Courier New" pitchFamily="34" charset="-120"/>
              </a:rPr>
              <a:t>ŷ(leaf) = mean(y : x ∈ leaf)
</a:t>
            </a:r>
            <a:endParaRPr lang="en-US" sz="1300" dirty="0"/>
          </a:p>
          <a:p>
            <a:pPr marL="0" indent="0">
              <a:buNone/>
            </a:pPr>
            <a:r>
              <a:rPr lang="en-US" sz="1300" b="1" dirty="0">
                <a:solidFill>
                  <a:srgbClr val="FFD166"/>
                </a:solidFill>
                <a:latin typeface="Courier New" pitchFamily="34" charset="0"/>
                <a:ea typeface="Courier New" pitchFamily="34" charset="-122"/>
                <a:cs typeface="Courier New" pitchFamily="34" charset="-120"/>
              </a:rPr>
              <a:t>Random Forest:
</a:t>
            </a:r>
            <a:endParaRPr lang="en-US" sz="1300" dirty="0"/>
          </a:p>
          <a:p>
            <a:pPr marL="0" indent="0">
              <a:buNone/>
            </a:pPr>
            <a:r>
              <a:rPr lang="en-US" sz="1300" dirty="0">
                <a:solidFill>
                  <a:srgbClr val="E2E8F0"/>
                </a:solidFill>
                <a:latin typeface="Courier New" pitchFamily="34" charset="0"/>
                <a:ea typeface="Courier New" pitchFamily="34" charset="-122"/>
                <a:cs typeface="Courier New" pitchFamily="34" charset="-120"/>
              </a:rPr>
              <a:t>ŷ_RF = (1/B)Σ T_b(x)
</a:t>
            </a:r>
            <a:endParaRPr lang="en-US" sz="1300" dirty="0"/>
          </a:p>
          <a:p>
            <a:pPr marL="0" indent="0">
              <a:buNone/>
            </a:pPr>
            <a:r>
              <a:rPr lang="en-US" sz="1300" b="1" dirty="0">
                <a:solidFill>
                  <a:srgbClr val="FFD166"/>
                </a:solidFill>
                <a:latin typeface="Courier New" pitchFamily="34" charset="0"/>
                <a:ea typeface="Courier New" pitchFamily="34" charset="-122"/>
                <a:cs typeface="Courier New" pitchFamily="34" charset="-120"/>
              </a:rPr>
              <a:t>Gradient Boost:
</a:t>
            </a:r>
            <a:endParaRPr lang="en-US" sz="1300" dirty="0"/>
          </a:p>
          <a:p>
            <a:pPr marL="0" indent="0">
              <a:buNone/>
            </a:pPr>
            <a:r>
              <a:rPr lang="en-US" sz="1300" dirty="0">
                <a:solidFill>
                  <a:srgbClr val="E2E8F0"/>
                </a:solidFill>
                <a:latin typeface="Courier New" pitchFamily="34" charset="0"/>
                <a:ea typeface="Courier New" pitchFamily="34" charset="-122"/>
                <a:cs typeface="Courier New" pitchFamily="34" charset="-120"/>
              </a:rPr>
              <a:t>Fₘ(x) = Fₘ₋₁(x) + η·hₘ(x)
</a:t>
            </a:r>
            <a:endParaRPr lang="en-US" sz="1300" dirty="0"/>
          </a:p>
          <a:p>
            <a:pPr marL="0" indent="0">
              <a:buNone/>
            </a:pPr>
            <a:r>
              <a:rPr lang="en-US" sz="1300" dirty="0">
                <a:solidFill>
                  <a:srgbClr val="00C9A7"/>
                </a:solidFill>
                <a:latin typeface="Courier New" pitchFamily="34" charset="0"/>
                <a:ea typeface="Courier New" pitchFamily="34" charset="-122"/>
                <a:cs typeface="Courier New" pitchFamily="34" charset="-120"/>
              </a:rPr>
              <a:t>hₘ fits residuals rᵢ = yᵢ - Fₘ₋₁(xᵢ)</a:t>
            </a:r>
            <a:endParaRPr lang="en-US" sz="1300" dirty="0"/>
          </a:p>
        </p:txBody>
      </p:sp>
    </p:spTree>
    <p:extLst>
      <p:ext uri="{BB962C8B-B14F-4D97-AF65-F5344CB8AC3E}">
        <p14:creationId xmlns:p14="http://schemas.microsoft.com/office/powerpoint/2010/main" val="5396391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p:spPr>
      </p:sp>
      <p:sp>
        <p:nvSpPr>
          <p:cNvPr id="3" name="Shape 1"/>
          <p:cNvSpPr/>
          <p:nvPr/>
        </p:nvSpPr>
        <p:spPr>
          <a:xfrm>
            <a:off x="0" y="658368"/>
            <a:ext cx="9144000" cy="36576"/>
          </a:xfrm>
          <a:prstGeom prst="rect">
            <a:avLst/>
          </a:prstGeom>
          <a:solidFill>
            <a:srgbClr val="FFD166"/>
          </a:solidFill>
          <a:ln/>
        </p:spPr>
      </p:sp>
      <p:sp>
        <p:nvSpPr>
          <p:cNvPr id="4" name="Text 2"/>
          <p:cNvSpPr/>
          <p:nvPr/>
        </p:nvSpPr>
        <p:spPr>
          <a:xfrm>
            <a:off x="164592" y="64008"/>
            <a:ext cx="7772400" cy="53035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5. Tree-Based Regression Models</a:t>
            </a:r>
            <a:endParaRPr lang="en-US" sz="2200" dirty="0"/>
          </a:p>
        </p:txBody>
      </p:sp>
      <p:sp>
        <p:nvSpPr>
          <p:cNvPr id="5" name="Text 3"/>
          <p:cNvSpPr/>
          <p:nvPr/>
        </p:nvSpPr>
        <p:spPr>
          <a:xfrm>
            <a:off x="7315200" y="182880"/>
            <a:ext cx="1645920" cy="320040"/>
          </a:xfrm>
          <a:prstGeom prst="rect">
            <a:avLst/>
          </a:prstGeom>
          <a:noFill/>
          <a:ln/>
        </p:spPr>
        <p:txBody>
          <a:bodyPr wrap="square" lIns="0" tIns="0" rIns="0" bIns="0" rtlCol="0" anchor="ctr"/>
          <a:lstStyle/>
          <a:p>
            <a:pPr marL="0" indent="0" algn="r">
              <a:buNone/>
            </a:pPr>
            <a:r>
              <a:rPr lang="en-US" sz="850" dirty="0">
                <a:solidFill>
                  <a:srgbClr val="FFD166"/>
                </a:solidFill>
                <a:latin typeface="Calibri" pitchFamily="34" charset="0"/>
                <a:ea typeface="Calibri" pitchFamily="34" charset="-122"/>
                <a:cs typeface="Calibri" pitchFamily="34" charset="-120"/>
              </a:rPr>
              <a:t>Graph  •  Python Code</a:t>
            </a:r>
            <a:endParaRPr lang="en-US" sz="850" dirty="0"/>
          </a:p>
        </p:txBody>
      </p:sp>
      <p:sp>
        <p:nvSpPr>
          <p:cNvPr id="6" name="Shape 4"/>
          <p:cNvSpPr/>
          <p:nvPr/>
        </p:nvSpPr>
        <p:spPr>
          <a:xfrm>
            <a:off x="164592" y="804672"/>
            <a:ext cx="5029200" cy="329184"/>
          </a:xfrm>
          <a:prstGeom prst="rect">
            <a:avLst/>
          </a:prstGeom>
          <a:solidFill>
            <a:srgbClr val="2D6A8F"/>
          </a:solidFill>
          <a:ln/>
          <a:effectLst>
            <a:outerShdw blurRad="101600" dist="38100" dir="8100000" algn="bl" rotWithShape="0">
              <a:srgbClr val="000000">
                <a:alpha val="12000"/>
              </a:srgbClr>
            </a:outerShdw>
          </a:effectLst>
        </p:spPr>
      </p:sp>
      <p:sp>
        <p:nvSpPr>
          <p:cNvPr id="7" name="Text 5"/>
          <p:cNvSpPr/>
          <p:nvPr/>
        </p:nvSpPr>
        <p:spPr>
          <a:xfrm>
            <a:off x="201168" y="822960"/>
            <a:ext cx="493776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VISUALIZATION</a:t>
            </a:r>
            <a:endParaRPr lang="en-US" sz="1200" dirty="0"/>
          </a:p>
        </p:txBody>
      </p:sp>
      <p:sp>
        <p:nvSpPr>
          <p:cNvPr id="8" name="Shape 6"/>
          <p:cNvSpPr/>
          <p:nvPr/>
        </p:nvSpPr>
        <p:spPr>
          <a:xfrm>
            <a:off x="164592" y="1133856"/>
            <a:ext cx="5029200" cy="3675888"/>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pic>
        <p:nvPicPr>
          <p:cNvPr id="9" name="Image 0" descr="preencoded.png"/>
          <p:cNvPicPr>
            <a:picLocks noChangeAspect="1"/>
          </p:cNvPicPr>
          <p:nvPr/>
        </p:nvPicPr>
        <p:blipFill>
          <a:blip r:embed="rId3"/>
          <a:stretch>
            <a:fillRect/>
          </a:stretch>
        </p:blipFill>
        <p:spPr>
          <a:xfrm>
            <a:off x="256032" y="1188720"/>
            <a:ext cx="4846320" cy="3566160"/>
          </a:xfrm>
          <a:prstGeom prst="rect">
            <a:avLst/>
          </a:prstGeom>
        </p:spPr>
      </p:pic>
      <p:sp>
        <p:nvSpPr>
          <p:cNvPr id="11" name="Text 8"/>
          <p:cNvSpPr/>
          <p:nvPr/>
        </p:nvSpPr>
        <p:spPr>
          <a:xfrm>
            <a:off x="5431536" y="822960"/>
            <a:ext cx="3520440" cy="274320"/>
          </a:xfrm>
          <a:prstGeom prst="rect">
            <a:avLst/>
          </a:prstGeom>
          <a:noFill/>
          <a:ln/>
        </p:spPr>
        <p:txBody>
          <a:bodyPr wrap="square" lIns="0" tIns="0" rIns="0" bIns="0" rtlCol="0" anchor="ctr"/>
          <a:lstStyle/>
          <a:p>
            <a:pPr marL="0" indent="0">
              <a:buNone/>
            </a:pPr>
            <a:r>
              <a:rPr lang="en-US" sz="1200" b="1" dirty="0">
                <a:solidFill>
                  <a:srgbClr val="86EFAC"/>
                </a:solidFill>
                <a:latin typeface="Calibri" pitchFamily="34" charset="0"/>
                <a:ea typeface="Calibri" pitchFamily="34" charset="-122"/>
                <a:cs typeface="Calibri" pitchFamily="34" charset="-120"/>
              </a:rPr>
              <a:t>🐍 PYTHON CODE</a:t>
            </a:r>
            <a:endParaRPr lang="en-US" sz="1200" dirty="0"/>
          </a:p>
        </p:txBody>
      </p:sp>
      <p:sp>
        <p:nvSpPr>
          <p:cNvPr id="14" name="Shape 11"/>
          <p:cNvSpPr/>
          <p:nvPr/>
        </p:nvSpPr>
        <p:spPr>
          <a:xfrm>
            <a:off x="0" y="4983480"/>
            <a:ext cx="9144000" cy="160020"/>
          </a:xfrm>
          <a:prstGeom prst="rect">
            <a:avLst/>
          </a:prstGeom>
          <a:solidFill>
            <a:srgbClr val="1E2761"/>
          </a:solidFill>
          <a:ln/>
        </p:spPr>
      </p:sp>
      <p:sp>
        <p:nvSpPr>
          <p:cNvPr id="15" name="Text 12"/>
          <p:cNvSpPr/>
          <p:nvPr/>
        </p:nvSpPr>
        <p:spPr>
          <a:xfrm>
            <a:off x="182880" y="4992624"/>
            <a:ext cx="8778240" cy="137160"/>
          </a:xfrm>
          <a:prstGeom prst="rect">
            <a:avLst/>
          </a:prstGeom>
          <a:noFill/>
          <a:ln/>
        </p:spPr>
        <p:txBody>
          <a:bodyPr wrap="square" lIns="0" tIns="0" rIns="0" bIns="0" rtlCol="0" anchor="ctr"/>
          <a:lstStyle/>
          <a:p>
            <a:pPr marL="0" indent="0" algn="ctr">
              <a:buNone/>
            </a:pPr>
            <a:r>
              <a:rPr lang="en-US" sz="800" dirty="0">
                <a:solidFill>
                  <a:srgbClr val="FFD166"/>
                </a:solidFill>
                <a:latin typeface="Calibri" pitchFamily="34" charset="0"/>
                <a:ea typeface="Calibri" pitchFamily="34" charset="-122"/>
                <a:cs typeface="Calibri" pitchFamily="34" charset="-120"/>
              </a:rPr>
              <a:t>Topic 5 of 6  |  Advanced Regression</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 7"/>
          <p:cNvSpPr/>
          <p:nvPr/>
        </p:nvSpPr>
        <p:spPr>
          <a:xfrm>
            <a:off x="171606" y="96950"/>
            <a:ext cx="5083062" cy="422451"/>
          </a:xfrm>
          <a:prstGeom prst="rect">
            <a:avLst/>
          </a:prstGeom>
          <a:solidFill>
            <a:srgbClr val="14532D"/>
          </a:solidFill>
          <a:ln/>
          <a:effectLst>
            <a:outerShdw blurRad="101600" dist="38100" dir="8100000" algn="bl" rotWithShape="0">
              <a:srgbClr val="000000">
                <a:alpha val="12000"/>
              </a:srgbClr>
            </a:outerShdw>
          </a:effectLst>
        </p:spPr>
      </p:sp>
      <p:sp>
        <p:nvSpPr>
          <p:cNvPr id="12" name="Shape 9"/>
          <p:cNvSpPr/>
          <p:nvPr/>
        </p:nvSpPr>
        <p:spPr>
          <a:xfrm>
            <a:off x="171605" y="426134"/>
            <a:ext cx="7544427" cy="4717365"/>
          </a:xfrm>
          <a:prstGeom prst="rect">
            <a:avLst/>
          </a:prstGeom>
          <a:solidFill>
            <a:srgbClr val="1A1A2E"/>
          </a:solidFill>
          <a:ln/>
          <a:effectLst>
            <a:outerShdw blurRad="101600" dist="38100" dir="8100000" algn="bl" rotWithShape="0">
              <a:srgbClr val="000000">
                <a:alpha val="12000"/>
              </a:srgbClr>
            </a:outerShdw>
          </a:effectLst>
        </p:spPr>
      </p:sp>
      <p:sp>
        <p:nvSpPr>
          <p:cNvPr id="13" name="Text 10"/>
          <p:cNvSpPr/>
          <p:nvPr/>
        </p:nvSpPr>
        <p:spPr>
          <a:xfrm>
            <a:off x="263045" y="480998"/>
            <a:ext cx="6920631" cy="4553079"/>
          </a:xfrm>
          <a:prstGeom prst="rect">
            <a:avLst/>
          </a:prstGeom>
          <a:noFill/>
          <a:ln/>
        </p:spPr>
        <p:txBody>
          <a:bodyPr wrap="square" lIns="0" tIns="0" rIns="0" bIns="0" rtlCol="0" anchor="t"/>
          <a:lstStyle/>
          <a:p>
            <a:pPr marL="0" indent="0">
              <a:buNone/>
            </a:pPr>
            <a:r>
              <a:rPr lang="en-US" sz="950" dirty="0">
                <a:solidFill>
                  <a:srgbClr val="A0D9EF"/>
                </a:solidFill>
                <a:latin typeface="Courier New" pitchFamily="34" charset="0"/>
                <a:ea typeface="Courier New" pitchFamily="34" charset="-122"/>
                <a:cs typeface="Courier New" pitchFamily="34" charset="-120"/>
              </a:rPr>
              <a:t>from sklearn.tree import \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  DecisionTreeRegressor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from sklearn.ensemble import </a:t>
            </a:r>
            <a:r>
              <a:rPr lang="en-US" sz="950" dirty="0" err="1">
                <a:solidFill>
                  <a:srgbClr val="E2E8F0"/>
                </a:solidFill>
                <a:latin typeface="Courier New" pitchFamily="34" charset="0"/>
                <a:ea typeface="Courier New" pitchFamily="34" charset="-122"/>
                <a:cs typeface="Courier New" pitchFamily="34" charset="-120"/>
              </a:rPr>
              <a:t>RandomForestRegressor,GradientBoostingRegressor</a:t>
            </a:r>
            <a:r>
              <a:rPr lang="en-US" sz="950" dirty="0">
                <a:solidFill>
                  <a:srgbClr val="E2E8F0"/>
                </a:solidFill>
                <a:latin typeface="Courier New" pitchFamily="34" charset="0"/>
                <a:ea typeface="Courier New" pitchFamily="34" charset="-122"/>
                <a:cs typeface="Courier New" pitchFamily="34" charset="-120"/>
              </a:rPr>
              <a:t>
from sklearn.datasets import \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  make_regression
X, y = make_regression(n_features=5,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  noise=0.1, random_state=42)
</a:t>
            </a:r>
            <a:r>
              <a:rPr lang="en-US" sz="950" dirty="0">
                <a:solidFill>
                  <a:srgbClr val="696969"/>
                </a:solidFill>
                <a:latin typeface="Courier New" pitchFamily="34" charset="0"/>
                <a:ea typeface="Courier New" pitchFamily="34" charset="-122"/>
                <a:cs typeface="Courier New" pitchFamily="34" charset="-120"/>
              </a:rPr>
              <a:t># Decision Tree
</a:t>
            </a:r>
            <a:r>
              <a:rPr lang="en-US" sz="950" dirty="0">
                <a:solidFill>
                  <a:srgbClr val="E2E8F0"/>
                </a:solidFill>
                <a:latin typeface="Courier New" pitchFamily="34" charset="0"/>
                <a:ea typeface="Courier New" pitchFamily="34" charset="-122"/>
                <a:cs typeface="Courier New" pitchFamily="34" charset="-120"/>
              </a:rPr>
              <a:t>dt = DecisionTreeRegressor(max_depth=4)
</a:t>
            </a:r>
            <a:r>
              <a:rPr lang="en-US" sz="950" dirty="0" err="1">
                <a:solidFill>
                  <a:srgbClr val="E2E8F0"/>
                </a:solidFill>
                <a:latin typeface="Courier New" pitchFamily="34" charset="0"/>
                <a:ea typeface="Courier New" pitchFamily="34" charset="-122"/>
                <a:cs typeface="Courier New" pitchFamily="34" charset="-120"/>
              </a:rPr>
              <a:t>dt.fit</a:t>
            </a:r>
            <a:r>
              <a:rPr lang="en-US" sz="950" dirty="0">
                <a:solidFill>
                  <a:srgbClr val="E2E8F0"/>
                </a:solidFill>
                <a:latin typeface="Courier New" pitchFamily="34" charset="0"/>
                <a:ea typeface="Courier New" pitchFamily="34" charset="-122"/>
                <a:cs typeface="Courier New" pitchFamily="34" charset="-120"/>
              </a:rPr>
              <a:t>(X, y)
</a:t>
            </a:r>
            <a:r>
              <a:rPr lang="en-US" sz="950" dirty="0">
                <a:solidFill>
                  <a:srgbClr val="696969"/>
                </a:solidFill>
                <a:latin typeface="Courier New" pitchFamily="34" charset="0"/>
                <a:ea typeface="Courier New" pitchFamily="34" charset="-122"/>
                <a:cs typeface="Courier New" pitchFamily="34" charset="-120"/>
              </a:rPr>
              <a:t># Random Forest
</a:t>
            </a:r>
            <a:r>
              <a:rPr lang="en-US" sz="950" dirty="0">
                <a:solidFill>
                  <a:srgbClr val="E2E8F0"/>
                </a:solidFill>
                <a:latin typeface="Courier New" pitchFamily="34" charset="0"/>
                <a:ea typeface="Courier New" pitchFamily="34" charset="-122"/>
                <a:cs typeface="Courier New" pitchFamily="34" charset="-120"/>
              </a:rPr>
              <a:t>rf = RandomForestRegressor(
  n_estimators=100, max_depth=5,
  random_state=42)
</a:t>
            </a:r>
            <a:r>
              <a:rPr lang="en-US" sz="950" dirty="0" err="1">
                <a:solidFill>
                  <a:srgbClr val="E2E8F0"/>
                </a:solidFill>
                <a:latin typeface="Courier New" pitchFamily="34" charset="0"/>
                <a:ea typeface="Courier New" pitchFamily="34" charset="-122"/>
                <a:cs typeface="Courier New" pitchFamily="34" charset="-120"/>
              </a:rPr>
              <a:t>rf.fit</a:t>
            </a:r>
            <a:r>
              <a:rPr lang="en-US" sz="950" dirty="0">
                <a:solidFill>
                  <a:srgbClr val="E2E8F0"/>
                </a:solidFill>
                <a:latin typeface="Courier New" pitchFamily="34" charset="0"/>
                <a:ea typeface="Courier New" pitchFamily="34" charset="-122"/>
                <a:cs typeface="Courier New" pitchFamily="34" charset="-120"/>
              </a:rPr>
              <a:t>(X, y)
</a:t>
            </a:r>
            <a:r>
              <a:rPr lang="en-US" sz="950" dirty="0">
                <a:solidFill>
                  <a:srgbClr val="696969"/>
                </a:solidFill>
                <a:latin typeface="Courier New" pitchFamily="34" charset="0"/>
                <a:ea typeface="Courier New" pitchFamily="34" charset="-122"/>
                <a:cs typeface="Courier New" pitchFamily="34" charset="-120"/>
              </a:rPr>
              <a:t># Feature importance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import numpy as np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fi = rf.feature_importances_
</a:t>
            </a:r>
            <a:endParaRPr lang="en-US" sz="950" dirty="0"/>
          </a:p>
          <a:p>
            <a:pPr marL="0" indent="0">
              <a:buNone/>
            </a:pPr>
            <a:r>
              <a:rPr lang="en-US" sz="950" dirty="0">
                <a:solidFill>
                  <a:srgbClr val="C3E88D"/>
                </a:solidFill>
                <a:latin typeface="Courier New" pitchFamily="34" charset="0"/>
                <a:ea typeface="Courier New" pitchFamily="34" charset="-122"/>
                <a:cs typeface="Courier New" pitchFamily="34" charset="-120"/>
              </a:rPr>
              <a:t>print('Importances:', fi.round(3))</a:t>
            </a:r>
            <a:endParaRPr lang="en-US" sz="950" dirty="0"/>
          </a:p>
        </p:txBody>
      </p:sp>
    </p:spTree>
    <p:extLst>
      <p:ext uri="{BB962C8B-B14F-4D97-AF65-F5344CB8AC3E}">
        <p14:creationId xmlns:p14="http://schemas.microsoft.com/office/powerpoint/2010/main" val="31366957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p:spPr>
      </p:sp>
      <p:sp>
        <p:nvSpPr>
          <p:cNvPr id="3" name="Shape 1"/>
          <p:cNvSpPr/>
          <p:nvPr/>
        </p:nvSpPr>
        <p:spPr>
          <a:xfrm>
            <a:off x="0" y="658368"/>
            <a:ext cx="9144000" cy="36576"/>
          </a:xfrm>
          <a:prstGeom prst="rect">
            <a:avLst/>
          </a:prstGeom>
          <a:solidFill>
            <a:srgbClr val="00C9A7"/>
          </a:solidFill>
          <a:ln/>
        </p:spPr>
      </p:sp>
      <p:sp>
        <p:nvSpPr>
          <p:cNvPr id="4" name="Text 2"/>
          <p:cNvSpPr/>
          <p:nvPr/>
        </p:nvSpPr>
        <p:spPr>
          <a:xfrm>
            <a:off x="164592" y="64008"/>
            <a:ext cx="7772400" cy="53035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6. Time-Series Regression Models</a:t>
            </a:r>
            <a:endParaRPr lang="en-US" sz="2200" dirty="0"/>
          </a:p>
        </p:txBody>
      </p:sp>
      <p:sp>
        <p:nvSpPr>
          <p:cNvPr id="5" name="Text 3"/>
          <p:cNvSpPr/>
          <p:nvPr/>
        </p:nvSpPr>
        <p:spPr>
          <a:xfrm>
            <a:off x="7315200" y="182880"/>
            <a:ext cx="1645920" cy="320040"/>
          </a:xfrm>
          <a:prstGeom prst="rect">
            <a:avLst/>
          </a:prstGeom>
          <a:noFill/>
          <a:ln/>
        </p:spPr>
        <p:txBody>
          <a:bodyPr wrap="square" lIns="0" tIns="0" rIns="0" bIns="0" rtlCol="0" anchor="ctr"/>
          <a:lstStyle/>
          <a:p>
            <a:pPr marL="0" indent="0" algn="r">
              <a:buNone/>
            </a:pPr>
            <a:r>
              <a:rPr lang="en-US" sz="850" dirty="0">
                <a:solidFill>
                  <a:srgbClr val="00C9A7"/>
                </a:solidFill>
                <a:latin typeface="Calibri" pitchFamily="34" charset="0"/>
                <a:ea typeface="Calibri" pitchFamily="34" charset="-122"/>
                <a:cs typeface="Calibri" pitchFamily="34" charset="-120"/>
              </a:rPr>
              <a:t>Definition  •  Equation  •  Real-Life Example</a:t>
            </a:r>
            <a:endParaRPr lang="en-US" sz="850" dirty="0"/>
          </a:p>
        </p:txBody>
      </p:sp>
      <p:sp>
        <p:nvSpPr>
          <p:cNvPr id="6" name="Shape 4"/>
          <p:cNvSpPr/>
          <p:nvPr/>
        </p:nvSpPr>
        <p:spPr>
          <a:xfrm>
            <a:off x="164592" y="822960"/>
            <a:ext cx="4160520" cy="329184"/>
          </a:xfrm>
          <a:prstGeom prst="rect">
            <a:avLst/>
          </a:prstGeom>
          <a:solidFill>
            <a:srgbClr val="1E2761"/>
          </a:solidFill>
          <a:ln/>
          <a:effectLst>
            <a:outerShdw blurRad="101600" dist="38100" dir="8100000" algn="bl" rotWithShape="0">
              <a:srgbClr val="000000">
                <a:alpha val="12000"/>
              </a:srgbClr>
            </a:outerShdw>
          </a:effectLst>
        </p:spPr>
      </p:sp>
      <p:sp>
        <p:nvSpPr>
          <p:cNvPr id="7" name="Text 5"/>
          <p:cNvSpPr/>
          <p:nvPr/>
        </p:nvSpPr>
        <p:spPr>
          <a:xfrm>
            <a:off x="201168" y="841248"/>
            <a:ext cx="4114800" cy="274320"/>
          </a:xfrm>
          <a:prstGeom prst="rect">
            <a:avLst/>
          </a:prstGeom>
          <a:noFill/>
          <a:ln/>
        </p:spPr>
        <p:txBody>
          <a:bodyPr wrap="square" lIns="0" tIns="0" rIns="0" bIns="0" rtlCol="0" anchor="ctr"/>
          <a:lstStyle/>
          <a:p>
            <a:pPr marL="0" indent="0">
              <a:buNone/>
            </a:pPr>
            <a:r>
              <a:rPr lang="en-US" sz="1200" b="1" dirty="0">
                <a:solidFill>
                  <a:srgbClr val="00C9A7"/>
                </a:solidFill>
                <a:latin typeface="Calibri" pitchFamily="34" charset="0"/>
                <a:ea typeface="Calibri" pitchFamily="34" charset="-122"/>
                <a:cs typeface="Calibri" pitchFamily="34" charset="-120"/>
              </a:rPr>
              <a:t>📖 DEFINITION</a:t>
            </a:r>
            <a:endParaRPr lang="en-US" sz="1200" dirty="0"/>
          </a:p>
        </p:txBody>
      </p:sp>
      <p:sp>
        <p:nvSpPr>
          <p:cNvPr id="8" name="Shape 6"/>
          <p:cNvSpPr/>
          <p:nvPr/>
        </p:nvSpPr>
        <p:spPr>
          <a:xfrm>
            <a:off x="164592" y="1152144"/>
            <a:ext cx="4160520" cy="1755648"/>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sp>
        <p:nvSpPr>
          <p:cNvPr id="9" name="Shape 7"/>
          <p:cNvSpPr/>
          <p:nvPr/>
        </p:nvSpPr>
        <p:spPr>
          <a:xfrm>
            <a:off x="164592" y="1152144"/>
            <a:ext cx="54864" cy="1755648"/>
          </a:xfrm>
          <a:prstGeom prst="rect">
            <a:avLst/>
          </a:prstGeom>
          <a:solidFill>
            <a:srgbClr val="00C9A7"/>
          </a:solidFill>
          <a:ln/>
        </p:spPr>
      </p:sp>
      <p:sp>
        <p:nvSpPr>
          <p:cNvPr id="10" name="Text 8"/>
          <p:cNvSpPr/>
          <p:nvPr/>
        </p:nvSpPr>
        <p:spPr>
          <a:xfrm>
            <a:off x="292608" y="1207008"/>
            <a:ext cx="3931920" cy="1627632"/>
          </a:xfrm>
          <a:prstGeom prst="rect">
            <a:avLst/>
          </a:prstGeom>
          <a:noFill/>
          <a:ln/>
        </p:spPr>
        <p:txBody>
          <a:bodyPr wrap="square" lIns="0" tIns="0" rIns="0" bIns="0" rtlCol="0" anchor="t"/>
          <a:lstStyle/>
          <a:p>
            <a:pPr marL="0" indent="0">
              <a:buNone/>
            </a:pPr>
            <a:r>
              <a:rPr lang="en-US" sz="1250" dirty="0">
                <a:solidFill>
                  <a:srgbClr val="1E293B"/>
                </a:solidFill>
                <a:latin typeface="Calibri" pitchFamily="34" charset="0"/>
                <a:ea typeface="Calibri" pitchFamily="34" charset="-122"/>
                <a:cs typeface="Calibri" pitchFamily="34" charset="-120"/>
              </a:rPr>
              <a:t>Time-series regression models the target variable as a function of time and its own past values (autoregression). ARIMA (AutoRegressive Integrated Moving Average) combines AR (past values), I (differencing for stationarity), and MA (past errors) components. Seasonal SARIMA extends this for periodic patterns. Modern approaches include using lag features in standard ML models (XGBoost, LSTM). Key concepts: stationarity, autocorrelation, partial autocorrelation, and differencing.</a:t>
            </a:r>
            <a:endParaRPr lang="en-US" sz="1250" dirty="0"/>
          </a:p>
        </p:txBody>
      </p:sp>
      <p:sp>
        <p:nvSpPr>
          <p:cNvPr id="11" name="Shape 9"/>
          <p:cNvSpPr/>
          <p:nvPr/>
        </p:nvSpPr>
        <p:spPr>
          <a:xfrm>
            <a:off x="164592" y="2999232"/>
            <a:ext cx="4160520" cy="329184"/>
          </a:xfrm>
          <a:prstGeom prst="rect">
            <a:avLst/>
          </a:prstGeom>
          <a:solidFill>
            <a:srgbClr val="2D6A8F"/>
          </a:solidFill>
          <a:ln/>
          <a:effectLst>
            <a:outerShdw blurRad="101600" dist="38100" dir="8100000" algn="bl" rotWithShape="0">
              <a:srgbClr val="000000">
                <a:alpha val="12000"/>
              </a:srgbClr>
            </a:outerShdw>
          </a:effectLst>
        </p:spPr>
      </p:sp>
      <p:sp>
        <p:nvSpPr>
          <p:cNvPr id="12" name="Text 10"/>
          <p:cNvSpPr/>
          <p:nvPr/>
        </p:nvSpPr>
        <p:spPr>
          <a:xfrm>
            <a:off x="201168" y="3017520"/>
            <a:ext cx="411480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 MATHEMATICAL EQUATION</a:t>
            </a:r>
            <a:endParaRPr lang="en-US" sz="1150" dirty="0"/>
          </a:p>
        </p:txBody>
      </p:sp>
      <p:sp>
        <p:nvSpPr>
          <p:cNvPr id="13" name="Shape 11"/>
          <p:cNvSpPr/>
          <p:nvPr/>
        </p:nvSpPr>
        <p:spPr>
          <a:xfrm>
            <a:off x="164592" y="3328416"/>
            <a:ext cx="4160520" cy="1572768"/>
          </a:xfrm>
          <a:prstGeom prst="rect">
            <a:avLst/>
          </a:prstGeom>
          <a:solidFill>
            <a:srgbClr val="1A1A2E"/>
          </a:solidFill>
          <a:ln/>
          <a:effectLst>
            <a:outerShdw blurRad="101600" dist="38100" dir="8100000" algn="bl" rotWithShape="0">
              <a:srgbClr val="000000">
                <a:alpha val="12000"/>
              </a:srgbClr>
            </a:outerShdw>
          </a:effectLst>
        </p:spPr>
      </p:sp>
      <p:sp>
        <p:nvSpPr>
          <p:cNvPr id="14" name="Text 12"/>
          <p:cNvSpPr/>
          <p:nvPr/>
        </p:nvSpPr>
        <p:spPr>
          <a:xfrm>
            <a:off x="274320" y="3383280"/>
            <a:ext cx="3931920" cy="1444752"/>
          </a:xfrm>
          <a:prstGeom prst="rect">
            <a:avLst/>
          </a:prstGeom>
          <a:noFill/>
          <a:ln/>
        </p:spPr>
        <p:txBody>
          <a:bodyPr wrap="square" lIns="0" tIns="0" rIns="0" bIns="0" rtlCol="0" anchor="t"/>
          <a:lstStyle/>
          <a:p>
            <a:pPr marL="0" indent="0">
              <a:buNone/>
            </a:pPr>
            <a:r>
              <a:rPr lang="en-US" sz="1300" b="1" dirty="0">
                <a:solidFill>
                  <a:srgbClr val="FFD166"/>
                </a:solidFill>
                <a:latin typeface="Courier New" pitchFamily="34" charset="0"/>
                <a:ea typeface="Courier New" pitchFamily="34" charset="-122"/>
                <a:cs typeface="Courier New" pitchFamily="34" charset="-120"/>
              </a:rPr>
              <a:t>AR(p) Model:
</a:t>
            </a:r>
            <a:endParaRPr lang="en-US" sz="1300" dirty="0"/>
          </a:p>
          <a:p>
            <a:pPr marL="0" indent="0">
              <a:buNone/>
            </a:pPr>
            <a:r>
              <a:rPr lang="en-US" sz="1300" dirty="0">
                <a:solidFill>
                  <a:srgbClr val="E2E8F0"/>
                </a:solidFill>
                <a:latin typeface="Courier New" pitchFamily="34" charset="0"/>
                <a:ea typeface="Courier New" pitchFamily="34" charset="-122"/>
                <a:cs typeface="Courier New" pitchFamily="34" charset="-120"/>
              </a:rPr>
              <a:t>yₜ = c + φ₁yₜ₋₁+...+φₚyₜ₋ₚ + εₜ
</a:t>
            </a:r>
            <a:endParaRPr lang="en-US" sz="1300" dirty="0"/>
          </a:p>
          <a:p>
            <a:pPr marL="0" indent="0">
              <a:buNone/>
            </a:pPr>
            <a:r>
              <a:rPr lang="en-US" sz="1300" b="1" dirty="0">
                <a:solidFill>
                  <a:srgbClr val="FFD166"/>
                </a:solidFill>
                <a:latin typeface="Courier New" pitchFamily="34" charset="0"/>
                <a:ea typeface="Courier New" pitchFamily="34" charset="-122"/>
                <a:cs typeface="Courier New" pitchFamily="34" charset="-120"/>
              </a:rPr>
              <a:t>MA(q) Model:
</a:t>
            </a:r>
            <a:endParaRPr lang="en-US" sz="1300" dirty="0"/>
          </a:p>
          <a:p>
            <a:pPr marL="0" indent="0">
              <a:buNone/>
            </a:pPr>
            <a:r>
              <a:rPr lang="en-US" sz="1300" dirty="0">
                <a:solidFill>
                  <a:srgbClr val="E2E8F0"/>
                </a:solidFill>
                <a:latin typeface="Courier New" pitchFamily="34" charset="0"/>
                <a:ea typeface="Courier New" pitchFamily="34" charset="-122"/>
                <a:cs typeface="Courier New" pitchFamily="34" charset="-120"/>
              </a:rPr>
              <a:t>yₜ = μ + εₜ + θ₁εₜ₋₁+...+θqεₜ₋q
</a:t>
            </a:r>
            <a:endParaRPr lang="en-US" sz="1300" dirty="0"/>
          </a:p>
          <a:p>
            <a:pPr marL="0" indent="0">
              <a:buNone/>
            </a:pPr>
            <a:r>
              <a:rPr lang="en-US" sz="1300" b="1" dirty="0">
                <a:solidFill>
                  <a:srgbClr val="FFD166"/>
                </a:solidFill>
                <a:latin typeface="Courier New" pitchFamily="34" charset="0"/>
                <a:ea typeface="Courier New" pitchFamily="34" charset="-122"/>
                <a:cs typeface="Courier New" pitchFamily="34" charset="-120"/>
              </a:rPr>
              <a:t>ARIMA(p,d,q):
</a:t>
            </a:r>
            <a:endParaRPr lang="en-US" sz="1300" dirty="0"/>
          </a:p>
          <a:p>
            <a:pPr marL="0" indent="0">
              <a:buNone/>
            </a:pPr>
            <a:r>
              <a:rPr lang="en-US" sz="1300" dirty="0">
                <a:solidFill>
                  <a:srgbClr val="E2E8F0"/>
                </a:solidFill>
                <a:latin typeface="Courier New" pitchFamily="34" charset="0"/>
                <a:ea typeface="Courier New" pitchFamily="34" charset="-122"/>
                <a:cs typeface="Courier New" pitchFamily="34" charset="-120"/>
              </a:rPr>
              <a:t>Differenced series:
</a:t>
            </a:r>
            <a:endParaRPr lang="en-US" sz="1300" dirty="0"/>
          </a:p>
          <a:p>
            <a:pPr marL="0" indent="0">
              <a:buNone/>
            </a:pPr>
            <a:r>
              <a:rPr lang="en-US" sz="1300" dirty="0">
                <a:solidFill>
                  <a:srgbClr val="E2E8F0"/>
                </a:solidFill>
                <a:latin typeface="Courier New" pitchFamily="34" charset="0"/>
                <a:ea typeface="Courier New" pitchFamily="34" charset="-122"/>
                <a:cs typeface="Courier New" pitchFamily="34" charset="-120"/>
              </a:rPr>
              <a:t>Δyₜ = yₜ - yₜ₋₁  (d times)
</a:t>
            </a:r>
            <a:endParaRPr lang="en-US" sz="1300" dirty="0"/>
          </a:p>
          <a:p>
            <a:pPr marL="0" indent="0">
              <a:buNone/>
            </a:pPr>
            <a:r>
              <a:rPr lang="en-US" sz="1300" dirty="0">
                <a:solidFill>
                  <a:srgbClr val="E2E8F0"/>
                </a:solidFill>
                <a:latin typeface="Courier New" pitchFamily="34" charset="0"/>
                <a:ea typeface="Courier New" pitchFamily="34" charset="-122"/>
                <a:cs typeface="Courier New" pitchFamily="34" charset="-120"/>
              </a:rPr>
              <a:t>Then fit ARMA(p,q) on Δyₜ
</a:t>
            </a:r>
            <a:endParaRPr lang="en-US" sz="1300" dirty="0"/>
          </a:p>
          <a:p>
            <a:pPr marL="0" indent="0">
              <a:buNone/>
            </a:pPr>
            <a:r>
              <a:rPr lang="en-US" sz="1300" b="1" dirty="0">
                <a:solidFill>
                  <a:srgbClr val="FFD166"/>
                </a:solidFill>
                <a:latin typeface="Courier New" pitchFamily="34" charset="0"/>
                <a:ea typeface="Courier New" pitchFamily="34" charset="-122"/>
                <a:cs typeface="Courier New" pitchFamily="34" charset="-120"/>
              </a:rPr>
              <a:t>ACF &amp; PACF:
</a:t>
            </a:r>
            <a:endParaRPr lang="en-US" sz="1300" dirty="0"/>
          </a:p>
          <a:p>
            <a:pPr marL="0" indent="0">
              <a:buNone/>
            </a:pPr>
            <a:r>
              <a:rPr lang="en-US" sz="1300" dirty="0">
                <a:solidFill>
                  <a:srgbClr val="E2E8F0"/>
                </a:solidFill>
                <a:latin typeface="Courier New" pitchFamily="34" charset="0"/>
                <a:ea typeface="Courier New" pitchFamily="34" charset="-122"/>
                <a:cs typeface="Courier New" pitchFamily="34" charset="-120"/>
              </a:rPr>
              <a:t>Select q from ACF cutoff
</a:t>
            </a:r>
            <a:endParaRPr lang="en-US" sz="1300" dirty="0"/>
          </a:p>
          <a:p>
            <a:pPr marL="0" indent="0">
              <a:buNone/>
            </a:pPr>
            <a:r>
              <a:rPr lang="en-US" sz="1300" dirty="0">
                <a:solidFill>
                  <a:srgbClr val="00C9A7"/>
                </a:solidFill>
                <a:latin typeface="Courier New" pitchFamily="34" charset="0"/>
                <a:ea typeface="Courier New" pitchFamily="34" charset="-122"/>
                <a:cs typeface="Courier New" pitchFamily="34" charset="-120"/>
              </a:rPr>
              <a:t>Select p from PACF cutoff</a:t>
            </a:r>
            <a:endParaRPr lang="en-US" sz="1300" dirty="0"/>
          </a:p>
        </p:txBody>
      </p:sp>
      <p:sp>
        <p:nvSpPr>
          <p:cNvPr id="15" name="Shape 13"/>
          <p:cNvSpPr/>
          <p:nvPr/>
        </p:nvSpPr>
        <p:spPr>
          <a:xfrm>
            <a:off x="4617720" y="822960"/>
            <a:ext cx="4343400" cy="329184"/>
          </a:xfrm>
          <a:prstGeom prst="rect">
            <a:avLst/>
          </a:prstGeom>
          <a:solidFill>
            <a:srgbClr val="FF6B6B"/>
          </a:solidFill>
          <a:ln/>
          <a:effectLst>
            <a:outerShdw blurRad="101600" dist="38100" dir="8100000" algn="bl" rotWithShape="0">
              <a:srgbClr val="000000">
                <a:alpha val="12000"/>
              </a:srgbClr>
            </a:outerShdw>
          </a:effectLst>
        </p:spPr>
      </p:sp>
      <p:sp>
        <p:nvSpPr>
          <p:cNvPr id="16" name="Text 14"/>
          <p:cNvSpPr/>
          <p:nvPr/>
        </p:nvSpPr>
        <p:spPr>
          <a:xfrm>
            <a:off x="4654296" y="841248"/>
            <a:ext cx="429768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REAL-LIFE EXAMPLE</a:t>
            </a:r>
            <a:endParaRPr lang="en-US" sz="1200" dirty="0"/>
          </a:p>
        </p:txBody>
      </p:sp>
      <p:sp>
        <p:nvSpPr>
          <p:cNvPr id="17" name="Shape 15"/>
          <p:cNvSpPr/>
          <p:nvPr/>
        </p:nvSpPr>
        <p:spPr>
          <a:xfrm>
            <a:off x="4617720" y="1152144"/>
            <a:ext cx="4343400" cy="3749040"/>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sp>
        <p:nvSpPr>
          <p:cNvPr id="18" name="Shape 16"/>
          <p:cNvSpPr/>
          <p:nvPr/>
        </p:nvSpPr>
        <p:spPr>
          <a:xfrm>
            <a:off x="4617720" y="1152144"/>
            <a:ext cx="54864" cy="3749040"/>
          </a:xfrm>
          <a:prstGeom prst="rect">
            <a:avLst/>
          </a:prstGeom>
          <a:solidFill>
            <a:srgbClr val="FF6B6B"/>
          </a:solidFill>
          <a:ln/>
        </p:spPr>
      </p:sp>
      <p:sp>
        <p:nvSpPr>
          <p:cNvPr id="19" name="Text 17"/>
          <p:cNvSpPr/>
          <p:nvPr/>
        </p:nvSpPr>
        <p:spPr>
          <a:xfrm>
            <a:off x="4745736" y="1225296"/>
            <a:ext cx="4114800" cy="3566160"/>
          </a:xfrm>
          <a:prstGeom prst="rect">
            <a:avLst/>
          </a:prstGeom>
          <a:noFill/>
          <a:ln/>
        </p:spPr>
        <p:txBody>
          <a:bodyPr wrap="square" lIns="0" tIns="0" rIns="0" bIns="0" rtlCol="0" anchor="t"/>
          <a:lstStyle/>
          <a:p>
            <a:pPr marL="0" indent="0">
              <a:buNone/>
            </a:pPr>
            <a:r>
              <a:rPr lang="en-US" sz="1250" b="1" dirty="0">
                <a:solidFill>
                  <a:srgbClr val="1E2761"/>
                </a:solidFill>
                <a:latin typeface="Calibri" pitchFamily="34" charset="0"/>
                <a:ea typeface="Calibri" pitchFamily="34" charset="-122"/>
                <a:cs typeface="Calibri" pitchFamily="34" charset="-120"/>
              </a:rPr>
              <a:t>📦 Supply Chain
</a:t>
            </a:r>
            <a:r>
              <a:rPr lang="en-US" sz="1200" dirty="0">
                <a:solidFill>
                  <a:srgbClr val="1E293B"/>
                </a:solidFill>
                <a:latin typeface="Calibri" pitchFamily="34" charset="0"/>
                <a:ea typeface="Calibri" pitchFamily="34" charset="-122"/>
                <a:cs typeface="Calibri" pitchFamily="34" charset="-120"/>
              </a:rPr>
              <a:t>Amazon forecasts weekly product demand using SARIMA with yearly seasonality (S=52). Helps pre-position inventory before festive season. Reduces stockouts by 35%.
</a:t>
            </a:r>
            <a:r>
              <a:rPr lang="en-US" sz="1250" b="1" dirty="0">
                <a:solidFill>
                  <a:srgbClr val="1E2761"/>
                </a:solidFill>
                <a:latin typeface="Calibri" pitchFamily="34" charset="0"/>
                <a:ea typeface="Calibri" pitchFamily="34" charset="-122"/>
                <a:cs typeface="Calibri" pitchFamily="34" charset="-120"/>
              </a:rPr>
              <a:t>🌤️ Weather Forecasting
</a:t>
            </a:r>
            <a:r>
              <a:rPr lang="en-US" sz="1200" dirty="0">
                <a:solidFill>
                  <a:srgbClr val="1E293B"/>
                </a:solidFill>
                <a:latin typeface="Calibri" pitchFamily="34" charset="0"/>
                <a:ea typeface="Calibri" pitchFamily="34" charset="-122"/>
                <a:cs typeface="Calibri" pitchFamily="34" charset="-120"/>
              </a:rPr>
              <a:t>Daily temperature follows AR(1) process: tomorrow's temp ≈ 0.85 × today's temp + trend + noise. ARIMA captures mean reversion.</a:t>
            </a:r>
            <a:endParaRPr lang="en-US" sz="1250" dirty="0"/>
          </a:p>
          <a:p>
            <a:pPr marL="0" indent="0">
              <a:buNone/>
            </a:pPr>
            <a:endParaRPr lang="en-US" sz="1250" dirty="0"/>
          </a:p>
          <a:p>
            <a:pPr marL="0" indent="0">
              <a:buNone/>
            </a:pPr>
            <a:r>
              <a:rPr lang="en-US" sz="1200" dirty="0">
                <a:solidFill>
                  <a:srgbClr val="1E293B"/>
                </a:solidFill>
                <a:latin typeface="Calibri" pitchFamily="34" charset="0"/>
                <a:ea typeface="Calibri" pitchFamily="34" charset="-122"/>
                <a:cs typeface="Calibri" pitchFamily="34" charset="-120"/>
              </a:rPr>
              <a:t>Facebook Prophet (additive model) extends this with holiday effects and trend changepoints for business metrics.</a:t>
            </a:r>
            <a:endParaRPr lang="en-US" sz="1250" dirty="0"/>
          </a:p>
        </p:txBody>
      </p:sp>
      <p:sp>
        <p:nvSpPr>
          <p:cNvPr id="20" name="Shape 18"/>
          <p:cNvSpPr/>
          <p:nvPr/>
        </p:nvSpPr>
        <p:spPr>
          <a:xfrm>
            <a:off x="0" y="4983480"/>
            <a:ext cx="9144000" cy="160020"/>
          </a:xfrm>
          <a:prstGeom prst="rect">
            <a:avLst/>
          </a:prstGeom>
          <a:solidFill>
            <a:srgbClr val="1E2761"/>
          </a:solidFill>
          <a:ln/>
        </p:spPr>
      </p:sp>
      <p:sp>
        <p:nvSpPr>
          <p:cNvPr id="21" name="Text 19"/>
          <p:cNvSpPr/>
          <p:nvPr/>
        </p:nvSpPr>
        <p:spPr>
          <a:xfrm>
            <a:off x="182880" y="4992624"/>
            <a:ext cx="8778240" cy="137160"/>
          </a:xfrm>
          <a:prstGeom prst="rect">
            <a:avLst/>
          </a:prstGeom>
          <a:noFill/>
          <a:ln/>
        </p:spPr>
        <p:txBody>
          <a:bodyPr wrap="square" lIns="0" tIns="0" rIns="0" bIns="0" rtlCol="0" anchor="ctr"/>
          <a:lstStyle/>
          <a:p>
            <a:pPr marL="0" indent="0" algn="ctr">
              <a:buNone/>
            </a:pPr>
            <a:r>
              <a:rPr lang="en-US" sz="800" dirty="0">
                <a:solidFill>
                  <a:srgbClr val="00C9A7"/>
                </a:solidFill>
                <a:latin typeface="Calibri" pitchFamily="34" charset="0"/>
                <a:ea typeface="Calibri" pitchFamily="34" charset="-122"/>
                <a:cs typeface="Calibri" pitchFamily="34" charset="-120"/>
              </a:rPr>
              <a:t>Topic 6 of 6  |  Advanced Regression</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2761"/>
          </a:solidFill>
          <a:ln/>
        </p:spPr>
      </p:sp>
      <p:sp>
        <p:nvSpPr>
          <p:cNvPr id="3" name="Shape 1"/>
          <p:cNvSpPr/>
          <p:nvPr/>
        </p:nvSpPr>
        <p:spPr>
          <a:xfrm>
            <a:off x="0" y="658368"/>
            <a:ext cx="9144000" cy="36576"/>
          </a:xfrm>
          <a:prstGeom prst="rect">
            <a:avLst/>
          </a:prstGeom>
          <a:solidFill>
            <a:srgbClr val="FFD166"/>
          </a:solidFill>
          <a:ln/>
        </p:spPr>
      </p:sp>
      <p:sp>
        <p:nvSpPr>
          <p:cNvPr id="4" name="Text 2"/>
          <p:cNvSpPr/>
          <p:nvPr/>
        </p:nvSpPr>
        <p:spPr>
          <a:xfrm>
            <a:off x="164592" y="64008"/>
            <a:ext cx="7772400" cy="530352"/>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6. Time-Series Regression Models</a:t>
            </a:r>
            <a:endParaRPr lang="en-US" sz="2200" dirty="0"/>
          </a:p>
        </p:txBody>
      </p:sp>
      <p:sp>
        <p:nvSpPr>
          <p:cNvPr id="5" name="Text 3"/>
          <p:cNvSpPr/>
          <p:nvPr/>
        </p:nvSpPr>
        <p:spPr>
          <a:xfrm>
            <a:off x="7315200" y="182880"/>
            <a:ext cx="1645920" cy="320040"/>
          </a:xfrm>
          <a:prstGeom prst="rect">
            <a:avLst/>
          </a:prstGeom>
          <a:noFill/>
          <a:ln/>
        </p:spPr>
        <p:txBody>
          <a:bodyPr wrap="square" lIns="0" tIns="0" rIns="0" bIns="0" rtlCol="0" anchor="ctr"/>
          <a:lstStyle/>
          <a:p>
            <a:pPr marL="0" indent="0" algn="r">
              <a:buNone/>
            </a:pPr>
            <a:r>
              <a:rPr lang="en-US" sz="850" dirty="0">
                <a:solidFill>
                  <a:srgbClr val="FFD166"/>
                </a:solidFill>
                <a:latin typeface="Calibri" pitchFamily="34" charset="0"/>
                <a:ea typeface="Calibri" pitchFamily="34" charset="-122"/>
                <a:cs typeface="Calibri" pitchFamily="34" charset="-120"/>
              </a:rPr>
              <a:t>Graph  •  Python Code</a:t>
            </a:r>
            <a:endParaRPr lang="en-US" sz="850" dirty="0"/>
          </a:p>
        </p:txBody>
      </p:sp>
      <p:sp>
        <p:nvSpPr>
          <p:cNvPr id="6" name="Shape 4"/>
          <p:cNvSpPr/>
          <p:nvPr/>
        </p:nvSpPr>
        <p:spPr>
          <a:xfrm>
            <a:off x="164592" y="804672"/>
            <a:ext cx="5029200" cy="329184"/>
          </a:xfrm>
          <a:prstGeom prst="rect">
            <a:avLst/>
          </a:prstGeom>
          <a:solidFill>
            <a:srgbClr val="2D6A8F"/>
          </a:solidFill>
          <a:ln/>
          <a:effectLst>
            <a:outerShdw blurRad="101600" dist="38100" dir="8100000" algn="bl" rotWithShape="0">
              <a:srgbClr val="000000">
                <a:alpha val="12000"/>
              </a:srgbClr>
            </a:outerShdw>
          </a:effectLst>
        </p:spPr>
      </p:sp>
      <p:sp>
        <p:nvSpPr>
          <p:cNvPr id="7" name="Text 5"/>
          <p:cNvSpPr/>
          <p:nvPr/>
        </p:nvSpPr>
        <p:spPr>
          <a:xfrm>
            <a:off x="201168" y="822960"/>
            <a:ext cx="493776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VISUALIZATION</a:t>
            </a:r>
            <a:endParaRPr lang="en-US" sz="1200" dirty="0"/>
          </a:p>
        </p:txBody>
      </p:sp>
      <p:sp>
        <p:nvSpPr>
          <p:cNvPr id="8" name="Shape 6"/>
          <p:cNvSpPr/>
          <p:nvPr/>
        </p:nvSpPr>
        <p:spPr>
          <a:xfrm>
            <a:off x="164592" y="1133856"/>
            <a:ext cx="5029200" cy="3675888"/>
          </a:xfrm>
          <a:prstGeom prst="rect">
            <a:avLst/>
          </a:prstGeom>
          <a:solidFill>
            <a:srgbClr val="FFFFFF"/>
          </a:solidFill>
          <a:ln w="12700">
            <a:solidFill>
              <a:srgbClr val="D0DDE8"/>
            </a:solidFill>
            <a:prstDash val="solid"/>
          </a:ln>
          <a:effectLst>
            <a:outerShdw blurRad="101600" dist="38100" dir="8100000" algn="bl" rotWithShape="0">
              <a:srgbClr val="000000">
                <a:alpha val="12000"/>
              </a:srgbClr>
            </a:outerShdw>
          </a:effectLst>
        </p:spPr>
      </p:sp>
      <p:pic>
        <p:nvPicPr>
          <p:cNvPr id="9" name="Image 0" descr="preencoded.png"/>
          <p:cNvPicPr>
            <a:picLocks noChangeAspect="1"/>
          </p:cNvPicPr>
          <p:nvPr/>
        </p:nvPicPr>
        <p:blipFill>
          <a:blip r:embed="rId3"/>
          <a:stretch>
            <a:fillRect/>
          </a:stretch>
        </p:blipFill>
        <p:spPr>
          <a:xfrm>
            <a:off x="256032" y="1188720"/>
            <a:ext cx="4846320" cy="3566160"/>
          </a:xfrm>
          <a:prstGeom prst="rect">
            <a:avLst/>
          </a:prstGeom>
        </p:spPr>
      </p:pic>
      <p:sp>
        <p:nvSpPr>
          <p:cNvPr id="10" name="Shape 7"/>
          <p:cNvSpPr/>
          <p:nvPr/>
        </p:nvSpPr>
        <p:spPr>
          <a:xfrm>
            <a:off x="5394960" y="804672"/>
            <a:ext cx="3584448" cy="329184"/>
          </a:xfrm>
          <a:prstGeom prst="rect">
            <a:avLst/>
          </a:prstGeom>
          <a:solidFill>
            <a:srgbClr val="14532D"/>
          </a:solidFill>
          <a:ln/>
          <a:effectLst>
            <a:outerShdw blurRad="101600" dist="38100" dir="8100000" algn="bl" rotWithShape="0">
              <a:srgbClr val="000000">
                <a:alpha val="12000"/>
              </a:srgbClr>
            </a:outerShdw>
          </a:effectLst>
        </p:spPr>
      </p:sp>
      <p:sp>
        <p:nvSpPr>
          <p:cNvPr id="11" name="Text 8"/>
          <p:cNvSpPr/>
          <p:nvPr/>
        </p:nvSpPr>
        <p:spPr>
          <a:xfrm>
            <a:off x="5431536" y="822960"/>
            <a:ext cx="3520440" cy="274320"/>
          </a:xfrm>
          <a:prstGeom prst="rect">
            <a:avLst/>
          </a:prstGeom>
          <a:noFill/>
          <a:ln/>
        </p:spPr>
        <p:txBody>
          <a:bodyPr wrap="square" lIns="0" tIns="0" rIns="0" bIns="0" rtlCol="0" anchor="ctr"/>
          <a:lstStyle/>
          <a:p>
            <a:pPr marL="0" indent="0">
              <a:buNone/>
            </a:pPr>
            <a:r>
              <a:rPr lang="en-US" sz="1200" b="1" dirty="0">
                <a:solidFill>
                  <a:srgbClr val="86EFAC"/>
                </a:solidFill>
                <a:latin typeface="Calibri" pitchFamily="34" charset="0"/>
                <a:ea typeface="Calibri" pitchFamily="34" charset="-122"/>
                <a:cs typeface="Calibri" pitchFamily="34" charset="-120"/>
              </a:rPr>
              <a:t>🐍 PYTHON CODE</a:t>
            </a:r>
            <a:endParaRPr lang="en-US" sz="1200" dirty="0"/>
          </a:p>
        </p:txBody>
      </p:sp>
      <p:sp>
        <p:nvSpPr>
          <p:cNvPr id="12" name="Shape 9"/>
          <p:cNvSpPr/>
          <p:nvPr/>
        </p:nvSpPr>
        <p:spPr>
          <a:xfrm>
            <a:off x="5394960" y="1133856"/>
            <a:ext cx="3584448" cy="3675888"/>
          </a:xfrm>
          <a:prstGeom prst="rect">
            <a:avLst/>
          </a:prstGeom>
          <a:solidFill>
            <a:srgbClr val="1A1A2E"/>
          </a:solidFill>
          <a:ln/>
          <a:effectLst>
            <a:outerShdw blurRad="101600" dist="38100" dir="8100000" algn="bl" rotWithShape="0">
              <a:srgbClr val="000000">
                <a:alpha val="12000"/>
              </a:srgbClr>
            </a:outerShdw>
          </a:effectLst>
        </p:spPr>
      </p:sp>
      <p:sp>
        <p:nvSpPr>
          <p:cNvPr id="13" name="Text 10"/>
          <p:cNvSpPr/>
          <p:nvPr/>
        </p:nvSpPr>
        <p:spPr>
          <a:xfrm>
            <a:off x="5486400" y="1188720"/>
            <a:ext cx="3401568" cy="3547872"/>
          </a:xfrm>
          <a:prstGeom prst="rect">
            <a:avLst/>
          </a:prstGeom>
          <a:noFill/>
          <a:ln/>
        </p:spPr>
        <p:txBody>
          <a:bodyPr wrap="square" lIns="0" tIns="0" rIns="0" bIns="0" rtlCol="0" anchor="t"/>
          <a:lstStyle/>
          <a:p>
            <a:pPr marL="0" indent="0">
              <a:buNone/>
            </a:pPr>
            <a:r>
              <a:rPr lang="en-US" sz="950" dirty="0">
                <a:solidFill>
                  <a:srgbClr val="A0D9EF"/>
                </a:solidFill>
                <a:latin typeface="Courier New" pitchFamily="34" charset="0"/>
                <a:ea typeface="Courier New" pitchFamily="34" charset="-122"/>
                <a:cs typeface="Courier New" pitchFamily="34" charset="-120"/>
              </a:rPr>
              <a:t>import pandas as pd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import numpy as np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from statsmodels.tsa.arima.model \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  import ARIMA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from statsmodels.tsa.stattools \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  import adfuller
</a:t>
            </a:r>
            <a:endParaRPr lang="en-US" sz="950" dirty="0"/>
          </a:p>
          <a:p>
            <a:pPr marL="0" indent="0">
              <a:buNone/>
            </a:pPr>
            <a:r>
              <a:rPr lang="en-US" sz="950" dirty="0">
                <a:solidFill>
                  <a:srgbClr val="696969"/>
                </a:solidFill>
                <a:latin typeface="Courier New" pitchFamily="34" charset="0"/>
                <a:ea typeface="Courier New" pitchFamily="34" charset="-122"/>
                <a:cs typeface="Courier New" pitchFamily="34" charset="-120"/>
              </a:rPr>
              <a:t># Generate sample time series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np.random.seed(42)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n = 100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t = np.arange(n)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y = 0.5*t + 5*np.sin(t*0.3) \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  + np.random.randn(n)*2
</a:t>
            </a:r>
            <a:endParaRPr lang="en-US" sz="950" dirty="0"/>
          </a:p>
          <a:p>
            <a:pPr marL="0" indent="0">
              <a:buNone/>
            </a:pPr>
            <a:r>
              <a:rPr lang="en-US" sz="950" dirty="0">
                <a:solidFill>
                  <a:srgbClr val="696969"/>
                </a:solidFill>
                <a:latin typeface="Courier New" pitchFamily="34" charset="0"/>
                <a:ea typeface="Courier New" pitchFamily="34" charset="-122"/>
                <a:cs typeface="Courier New" pitchFamily="34" charset="-120"/>
              </a:rPr>
              <a:t># Test stationarity (ADF test)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result = adfuller(np.diff(y))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print('p-value:', result[1])
</a:t>
            </a:r>
            <a:endParaRPr lang="en-US" sz="950" dirty="0"/>
          </a:p>
          <a:p>
            <a:pPr marL="0" indent="0">
              <a:buNone/>
            </a:pPr>
            <a:r>
              <a:rPr lang="en-US" sz="950" dirty="0">
                <a:solidFill>
                  <a:srgbClr val="696969"/>
                </a:solidFill>
                <a:latin typeface="Courier New" pitchFamily="34" charset="0"/>
                <a:ea typeface="Courier New" pitchFamily="34" charset="-122"/>
                <a:cs typeface="Courier New" pitchFamily="34" charset="-120"/>
              </a:rPr>
              <a:t># Fit ARIMA(2,1,2)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model = ARIMA(y, order=(2,1,2))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fitted = model.fit()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print(fitted.summary())
</a:t>
            </a:r>
            <a:endParaRPr lang="en-US" sz="950" dirty="0"/>
          </a:p>
          <a:p>
            <a:pPr marL="0" indent="0">
              <a:buNone/>
            </a:pPr>
            <a:r>
              <a:rPr lang="en-US" sz="950" dirty="0">
                <a:solidFill>
                  <a:srgbClr val="696969"/>
                </a:solidFill>
                <a:latin typeface="Courier New" pitchFamily="34" charset="0"/>
                <a:ea typeface="Courier New" pitchFamily="34" charset="-122"/>
                <a:cs typeface="Courier New" pitchFamily="34" charset="-120"/>
              </a:rPr>
              <a:t># Forecast next 10 steps
</a:t>
            </a:r>
            <a:endParaRPr lang="en-US" sz="950" dirty="0"/>
          </a:p>
          <a:p>
            <a:pPr marL="0" indent="0">
              <a:buNone/>
            </a:pPr>
            <a:r>
              <a:rPr lang="en-US" sz="950" dirty="0">
                <a:solidFill>
                  <a:srgbClr val="E2E8F0"/>
                </a:solidFill>
                <a:latin typeface="Courier New" pitchFamily="34" charset="0"/>
                <a:ea typeface="Courier New" pitchFamily="34" charset="-122"/>
                <a:cs typeface="Courier New" pitchFamily="34" charset="-120"/>
              </a:rPr>
              <a:t>fc = fitted.forecast(steps=10)
</a:t>
            </a:r>
            <a:endParaRPr lang="en-US" sz="950" dirty="0"/>
          </a:p>
          <a:p>
            <a:pPr marL="0" indent="0">
              <a:buNone/>
            </a:pPr>
            <a:r>
              <a:rPr lang="en-US" sz="950" dirty="0">
                <a:solidFill>
                  <a:srgbClr val="C3E88D"/>
                </a:solidFill>
                <a:latin typeface="Courier New" pitchFamily="34" charset="0"/>
                <a:ea typeface="Courier New" pitchFamily="34" charset="-122"/>
                <a:cs typeface="Courier New" pitchFamily="34" charset="-120"/>
              </a:rPr>
              <a:t>print('Forecast:', fc.round(2))</a:t>
            </a:r>
            <a:endParaRPr lang="en-US" sz="950" dirty="0"/>
          </a:p>
        </p:txBody>
      </p:sp>
      <p:sp>
        <p:nvSpPr>
          <p:cNvPr id="14" name="Shape 11"/>
          <p:cNvSpPr/>
          <p:nvPr/>
        </p:nvSpPr>
        <p:spPr>
          <a:xfrm>
            <a:off x="0" y="4983480"/>
            <a:ext cx="9144000" cy="160020"/>
          </a:xfrm>
          <a:prstGeom prst="rect">
            <a:avLst/>
          </a:prstGeom>
          <a:solidFill>
            <a:srgbClr val="1E2761"/>
          </a:solidFill>
          <a:ln/>
        </p:spPr>
      </p:sp>
      <p:sp>
        <p:nvSpPr>
          <p:cNvPr id="15" name="Text 12"/>
          <p:cNvSpPr/>
          <p:nvPr/>
        </p:nvSpPr>
        <p:spPr>
          <a:xfrm>
            <a:off x="182880" y="4992624"/>
            <a:ext cx="8778240" cy="137160"/>
          </a:xfrm>
          <a:prstGeom prst="rect">
            <a:avLst/>
          </a:prstGeom>
          <a:noFill/>
          <a:ln/>
        </p:spPr>
        <p:txBody>
          <a:bodyPr wrap="square" lIns="0" tIns="0" rIns="0" bIns="0" rtlCol="0" anchor="ctr"/>
          <a:lstStyle/>
          <a:p>
            <a:pPr marL="0" indent="0" algn="ctr">
              <a:buNone/>
            </a:pPr>
            <a:r>
              <a:rPr lang="en-US" sz="800" dirty="0">
                <a:solidFill>
                  <a:srgbClr val="FFD166"/>
                </a:solidFill>
                <a:latin typeface="Calibri" pitchFamily="34" charset="0"/>
                <a:ea typeface="Calibri" pitchFamily="34" charset="-122"/>
                <a:cs typeface="Calibri" pitchFamily="34" charset="-120"/>
              </a:rPr>
              <a:t>Topic 6 of 6  |  Advanced Regression</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C9A7"/>
          </a:solidFill>
          <a:ln/>
        </p:spPr>
      </p:sp>
      <p:sp>
        <p:nvSpPr>
          <p:cNvPr id="3" name="Text 1"/>
          <p:cNvSpPr/>
          <p:nvPr/>
        </p:nvSpPr>
        <p:spPr>
          <a:xfrm>
            <a:off x="182880" y="91440"/>
            <a:ext cx="8778240" cy="502920"/>
          </a:xfrm>
          <a:prstGeom prst="rect">
            <a:avLst/>
          </a:prstGeom>
          <a:noFill/>
          <a:ln/>
        </p:spPr>
        <p:txBody>
          <a:bodyPr wrap="square" lIns="0" tIns="0" rIns="0" bIns="0" rtlCol="0" anchor="ctr"/>
          <a:lstStyle/>
          <a:p>
            <a:pPr marL="0" indent="0" algn="ctr">
              <a:buNone/>
            </a:pPr>
            <a:r>
              <a:rPr lang="en-US" sz="2400" b="1" dirty="0">
                <a:solidFill>
                  <a:srgbClr val="1E2761"/>
                </a:solidFill>
                <a:latin typeface="Calibri" pitchFamily="34" charset="0"/>
                <a:ea typeface="Calibri" pitchFamily="34" charset="-122"/>
                <a:cs typeface="Calibri" pitchFamily="34" charset="-120"/>
              </a:rPr>
              <a:t>Quick Revision Cheat Sheet</a:t>
            </a:r>
            <a:endParaRPr lang="en-US" sz="2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182880" y="777240"/>
          <a:ext cx="8778240" cy="4023360"/>
        </p:xfrm>
        <a:graphic>
          <a:graphicData uri="http://schemas.openxmlformats.org/drawingml/2006/table">
            <a:tbl>
              <a:tblPr/>
              <a:tblGrid>
                <a:gridCol w="20116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84048">
                <a:tc>
                  <a:txBody>
                    <a:bodyPr/>
                    <a:lstStyle/>
                    <a:p>
                      <a:pPr marL="0" indent="0" algn="l">
                        <a:buNone/>
                      </a:pPr>
                      <a:r>
                        <a:rPr lang="en-US" sz="1200" b="1" dirty="0">
                          <a:solidFill>
                            <a:srgbClr val="1E2761"/>
                          </a:solidFill>
                          <a:latin typeface="Calibri" pitchFamily="34" charset="0"/>
                          <a:ea typeface="Calibri" pitchFamily="34" charset="-122"/>
                          <a:cs typeface="Calibri" pitchFamily="34" charset="-120"/>
                        </a:rPr>
                        <a:t>Topic</a:t>
                      </a:r>
                      <a:endParaRPr lang="en-US" sz="12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200" b="1" dirty="0">
                          <a:solidFill>
                            <a:srgbClr val="1E2761"/>
                          </a:solidFill>
                          <a:latin typeface="Calibri" pitchFamily="34" charset="0"/>
                          <a:ea typeface="Calibri" pitchFamily="34" charset="-122"/>
                          <a:cs typeface="Calibri" pitchFamily="34" charset="-120"/>
                        </a:rPr>
                        <a:t>Core Formula</a:t>
                      </a:r>
                      <a:endParaRPr lang="en-US" sz="12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200" b="1" dirty="0">
                          <a:solidFill>
                            <a:srgbClr val="1E2761"/>
                          </a:solidFill>
                          <a:latin typeface="Calibri" pitchFamily="34" charset="0"/>
                          <a:ea typeface="Calibri" pitchFamily="34" charset="-122"/>
                          <a:cs typeface="Calibri" pitchFamily="34" charset="-120"/>
                        </a:rPr>
                        <a:t>Key Insight</a:t>
                      </a:r>
                      <a:endParaRPr lang="en-US" sz="12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84048">
                <a:tc>
                  <a:txBody>
                    <a:bodyPr/>
                    <a:lstStyle/>
                    <a:p>
                      <a:pPr marL="0" indent="0" algn="l">
                        <a:buNone/>
                      </a:pPr>
                      <a:r>
                        <a:rPr lang="en-US" sz="1100" dirty="0">
                          <a:solidFill>
                            <a:srgbClr val="CBD5E1"/>
                          </a:solidFill>
                          <a:latin typeface="Calibri" pitchFamily="34" charset="0"/>
                          <a:ea typeface="Calibri" pitchFamily="34" charset="-122"/>
                          <a:cs typeface="Calibri" pitchFamily="34" charset="-120"/>
                        </a:rPr>
                        <a:t>Coeff. Interpretation</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CBD5E1"/>
                          </a:solidFill>
                          <a:latin typeface="Calibri" pitchFamily="34" charset="0"/>
                          <a:ea typeface="Calibri" pitchFamily="34" charset="-122"/>
                          <a:cs typeface="Calibri" pitchFamily="34" charset="-120"/>
                        </a:rPr>
                        <a:t>ŷ = β₀ + Σβᵢxᵢ</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CBD5E1"/>
                          </a:solidFill>
                          <a:latin typeface="Calibri" pitchFamily="34" charset="0"/>
                          <a:ea typeface="Calibri" pitchFamily="34" charset="-122"/>
                          <a:cs typeface="Calibri" pitchFamily="34" charset="-120"/>
                        </a:rPr>
                        <a:t>βᵢ = Δy per unit Δxᵢ (others fixed)</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extLst>
                  <a:ext uri="{0D108BD9-81ED-4DB2-BD59-A6C34878D82A}">
                    <a16:rowId xmlns:a16="http://schemas.microsoft.com/office/drawing/2014/main" val="10001"/>
                  </a:ext>
                </a:extLst>
              </a:tr>
              <a:tr h="384048">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Ridge (L2)</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L + λΣβᵢ²</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Shrinks all coefs, no elimination</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extLst>
                  <a:ext uri="{0D108BD9-81ED-4DB2-BD59-A6C34878D82A}">
                    <a16:rowId xmlns:a16="http://schemas.microsoft.com/office/drawing/2014/main" val="10002"/>
                  </a:ext>
                </a:extLst>
              </a:tr>
              <a:tr h="384048">
                <a:tc>
                  <a:txBody>
                    <a:bodyPr/>
                    <a:lstStyle/>
                    <a:p>
                      <a:pPr marL="0" indent="0" algn="l">
                        <a:buNone/>
                      </a:pPr>
                      <a:r>
                        <a:rPr lang="en-US" sz="1100" dirty="0">
                          <a:solidFill>
                            <a:srgbClr val="CBD5E1"/>
                          </a:solidFill>
                          <a:latin typeface="Calibri" pitchFamily="34" charset="0"/>
                          <a:ea typeface="Calibri" pitchFamily="34" charset="-122"/>
                          <a:cs typeface="Calibri" pitchFamily="34" charset="-120"/>
                        </a:rPr>
                        <a:t>Lasso (L1)</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CBD5E1"/>
                          </a:solidFill>
                          <a:latin typeface="Calibri" pitchFamily="34" charset="0"/>
                          <a:ea typeface="Calibri" pitchFamily="34" charset="-122"/>
                          <a:cs typeface="Calibri" pitchFamily="34" charset="-120"/>
                        </a:rPr>
                        <a:t>L + λΣ|βᵢ|</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CBD5E1"/>
                          </a:solidFill>
                          <a:latin typeface="Calibri" pitchFamily="34" charset="0"/>
                          <a:ea typeface="Calibri" pitchFamily="34" charset="-122"/>
                          <a:cs typeface="Calibri" pitchFamily="34" charset="-120"/>
                        </a:rPr>
                        <a:t>Exact zeros = feature selection</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extLst>
                  <a:ext uri="{0D108BD9-81ED-4DB2-BD59-A6C34878D82A}">
                    <a16:rowId xmlns:a16="http://schemas.microsoft.com/office/drawing/2014/main" val="10003"/>
                  </a:ext>
                </a:extLst>
              </a:tr>
              <a:tr h="384048">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Regularization</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df(λ) = Σdᵢ²/(dᵢ²+λ)</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λ↑ → simpler model, more bias</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extLst>
                  <a:ext uri="{0D108BD9-81ED-4DB2-BD59-A6C34878D82A}">
                    <a16:rowId xmlns:a16="http://schemas.microsoft.com/office/drawing/2014/main" val="10004"/>
                  </a:ext>
                </a:extLst>
              </a:tr>
              <a:tr h="384048">
                <a:tc>
                  <a:txBody>
                    <a:bodyPr/>
                    <a:lstStyle/>
                    <a:p>
                      <a:pPr marL="0" indent="0" algn="l">
                        <a:buNone/>
                      </a:pPr>
                      <a:r>
                        <a:rPr lang="en-US" sz="1100" dirty="0">
                          <a:solidFill>
                            <a:srgbClr val="CBD5E1"/>
                          </a:solidFill>
                          <a:latin typeface="Calibri" pitchFamily="34" charset="0"/>
                          <a:ea typeface="Calibri" pitchFamily="34" charset="-122"/>
                          <a:cs typeface="Calibri" pitchFamily="34" charset="-120"/>
                        </a:rPr>
                        <a:t>Polynomial</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CBD5E1"/>
                          </a:solidFill>
                          <a:latin typeface="Calibri" pitchFamily="34" charset="0"/>
                          <a:ea typeface="Calibri" pitchFamily="34" charset="-122"/>
                          <a:cs typeface="Calibri" pitchFamily="34" charset="-120"/>
                        </a:rPr>
                        <a:t>φ(x) = [1,x,x²,...,xᵈ]</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CBD5E1"/>
                          </a:solidFill>
                          <a:latin typeface="Calibri" pitchFamily="34" charset="0"/>
                          <a:ea typeface="Calibri" pitchFamily="34" charset="-122"/>
                          <a:cs typeface="Calibri" pitchFamily="34" charset="-120"/>
                        </a:rPr>
                        <a:t>Linear in feature space, nonlinear in input</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extLst>
                  <a:ext uri="{0D108BD9-81ED-4DB2-BD59-A6C34878D82A}">
                    <a16:rowId xmlns:a16="http://schemas.microsoft.com/office/drawing/2014/main" val="10005"/>
                  </a:ext>
                </a:extLst>
              </a:tr>
              <a:tr h="384048">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Decision Tree</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Split: min MSE(L)+MSE(R)</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Piecewise constant predictions</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extLst>
                  <a:ext uri="{0D108BD9-81ED-4DB2-BD59-A6C34878D82A}">
                    <a16:rowId xmlns:a16="http://schemas.microsoft.com/office/drawing/2014/main" val="10006"/>
                  </a:ext>
                </a:extLst>
              </a:tr>
              <a:tr h="384048">
                <a:tc>
                  <a:txBody>
                    <a:bodyPr/>
                    <a:lstStyle/>
                    <a:p>
                      <a:pPr marL="0" indent="0" algn="l">
                        <a:buNone/>
                      </a:pPr>
                      <a:r>
                        <a:rPr lang="en-US" sz="1100" dirty="0">
                          <a:solidFill>
                            <a:srgbClr val="CBD5E1"/>
                          </a:solidFill>
                          <a:latin typeface="Calibri" pitchFamily="34" charset="0"/>
                          <a:ea typeface="Calibri" pitchFamily="34" charset="-122"/>
                          <a:cs typeface="Calibri" pitchFamily="34" charset="-120"/>
                        </a:rPr>
                        <a:t>Random Forest</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CBD5E1"/>
                          </a:solidFill>
                          <a:latin typeface="Calibri" pitchFamily="34" charset="0"/>
                          <a:ea typeface="Calibri" pitchFamily="34" charset="-122"/>
                          <a:cs typeface="Calibri" pitchFamily="34" charset="-120"/>
                        </a:rPr>
                        <a:t>ŷ = (1/B)Σ T_b(x)</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CBD5E1"/>
                          </a:solidFill>
                          <a:latin typeface="Calibri" pitchFamily="34" charset="0"/>
                          <a:ea typeface="Calibri" pitchFamily="34" charset="-122"/>
                          <a:cs typeface="Calibri" pitchFamily="34" charset="-120"/>
                        </a:rPr>
                        <a:t>Bagging reduces variance</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extLst>
                  <a:ext uri="{0D108BD9-81ED-4DB2-BD59-A6C34878D82A}">
                    <a16:rowId xmlns:a16="http://schemas.microsoft.com/office/drawing/2014/main" val="10007"/>
                  </a:ext>
                </a:extLst>
              </a:tr>
              <a:tr h="384048">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ARIMA(p,d,q)</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Δᵈyₜ = AR(p) + MA(q)</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tc>
                  <a:txBody>
                    <a:bodyPr/>
                    <a:lstStyle/>
                    <a:p>
                      <a:pPr marL="0" indent="0" algn="l">
                        <a:buNone/>
                      </a:pPr>
                      <a:r>
                        <a:rPr lang="en-US" sz="1100" dirty="0">
                          <a:solidFill>
                            <a:srgbClr val="E2E8F0"/>
                          </a:solidFill>
                          <a:latin typeface="Calibri" pitchFamily="34" charset="0"/>
                          <a:ea typeface="Calibri" pitchFamily="34" charset="-122"/>
                          <a:cs typeface="Calibri" pitchFamily="34" charset="-120"/>
                        </a:rPr>
                        <a:t>d=differencing for stationarity</a:t>
                      </a:r>
                      <a:endParaRPr lang="en-US" sz="1100" dirty="0">
                        <a:latin typeface="Calibri" charset="0"/>
                        <a:ea typeface="Calibri" charset="0"/>
                        <a:cs typeface="Calibri" charset="0"/>
                      </a:endParaRPr>
                    </a:p>
                  </a:txBody>
                  <a:tcPr marL="76200" marR="76200" marT="25400" marB="25400" anchor="ctr">
                    <a:lnL w="12700" cap="flat" cmpd="sng" algn="ctr">
                      <a:solidFill>
                        <a:srgbClr val="2D4A6B"/>
                      </a:solidFill>
                      <a:prstDash val="solid"/>
                      <a:round/>
                      <a:headEnd type="none" w="med" len="med"/>
                      <a:tailEnd type="none" w="med" len="med"/>
                    </a:lnL>
                    <a:lnR w="12700" cap="flat" cmpd="sng" algn="ctr">
                      <a:solidFill>
                        <a:srgbClr val="2D4A6B"/>
                      </a:solidFill>
                      <a:prstDash val="solid"/>
                      <a:round/>
                      <a:headEnd type="none" w="med" len="med"/>
                      <a:tailEnd type="none" w="med" len="med"/>
                    </a:lnR>
                    <a:lnT w="12700" cap="flat" cmpd="sng" algn="ctr">
                      <a:solidFill>
                        <a:srgbClr val="2D4A6B"/>
                      </a:solidFill>
                      <a:prstDash val="solid"/>
                      <a:round/>
                      <a:headEnd type="none" w="med" len="med"/>
                      <a:tailEnd type="none" w="med" len="med"/>
                    </a:lnT>
                    <a:lnB w="12700" cap="flat" cmpd="sng" algn="ctr">
                      <a:solidFill>
                        <a:srgbClr val="2D4A6B"/>
                      </a:solidFill>
                      <a:prstDash val="solid"/>
                      <a:round/>
                      <a:headEnd type="none" w="med" len="med"/>
                      <a:tailEnd type="none" w="med" len="med"/>
                    </a:lnB>
                    <a:solidFill>
                      <a:srgbClr val="1E2761"/>
                    </a:solidFill>
                  </a:tcPr>
                </a:tc>
                <a:extLst>
                  <a:ext uri="{0D108BD9-81ED-4DB2-BD59-A6C34878D82A}">
                    <a16:rowId xmlns:a16="http://schemas.microsoft.com/office/drawing/2014/main" val="10008"/>
                  </a:ext>
                </a:extLst>
              </a:tr>
            </a:tbl>
          </a:graphicData>
        </a:graphic>
      </p:graphicFrame>
      <p:sp>
        <p:nvSpPr>
          <p:cNvPr id="5" name="Shape 2"/>
          <p:cNvSpPr/>
          <p:nvPr/>
        </p:nvSpPr>
        <p:spPr>
          <a:xfrm>
            <a:off x="182880" y="777240"/>
            <a:ext cx="8778240" cy="384048"/>
          </a:xfrm>
          <a:prstGeom prst="rect">
            <a:avLst/>
          </a:prstGeom>
          <a:solidFill>
            <a:srgbClr val="00C9A7"/>
          </a:solidFill>
          <a:ln/>
        </p:spPr>
      </p:sp>
      <p:sp>
        <p:nvSpPr>
          <p:cNvPr id="6" name="Text 3"/>
          <p:cNvSpPr/>
          <p:nvPr/>
        </p:nvSpPr>
        <p:spPr>
          <a:xfrm>
            <a:off x="256032" y="804672"/>
            <a:ext cx="192024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Topic</a:t>
            </a:r>
            <a:endParaRPr lang="en-US" sz="1300" dirty="0"/>
          </a:p>
        </p:txBody>
      </p:sp>
      <p:sp>
        <p:nvSpPr>
          <p:cNvPr id="7" name="Text 4"/>
          <p:cNvSpPr/>
          <p:nvPr/>
        </p:nvSpPr>
        <p:spPr>
          <a:xfrm>
            <a:off x="2286000" y="804672"/>
            <a:ext cx="301752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Core Formula</a:t>
            </a:r>
            <a:endParaRPr lang="en-US" sz="1300" dirty="0"/>
          </a:p>
        </p:txBody>
      </p:sp>
      <p:sp>
        <p:nvSpPr>
          <p:cNvPr id="8" name="Text 5"/>
          <p:cNvSpPr/>
          <p:nvPr/>
        </p:nvSpPr>
        <p:spPr>
          <a:xfrm>
            <a:off x="5468112" y="804672"/>
            <a:ext cx="3566160" cy="32004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Key Insight</a:t>
            </a:r>
            <a:endParaRPr lang="en-US" sz="1300" dirty="0"/>
          </a:p>
        </p:txBody>
      </p:sp>
      <p:sp>
        <p:nvSpPr>
          <p:cNvPr id="9" name="Shape 6"/>
          <p:cNvSpPr/>
          <p:nvPr/>
        </p:nvSpPr>
        <p:spPr>
          <a:xfrm>
            <a:off x="0" y="4956048"/>
            <a:ext cx="9144000" cy="182880"/>
          </a:xfrm>
          <a:prstGeom prst="rect">
            <a:avLst/>
          </a:prstGeom>
          <a:solidFill>
            <a:srgbClr val="00C9A7"/>
          </a:solidFill>
          <a:ln/>
        </p:spPr>
      </p:sp>
      <p:sp>
        <p:nvSpPr>
          <p:cNvPr id="10" name="Text 7"/>
          <p:cNvSpPr/>
          <p:nvPr/>
        </p:nvSpPr>
        <p:spPr>
          <a:xfrm>
            <a:off x="182880" y="4974336"/>
            <a:ext cx="8778240" cy="146304"/>
          </a:xfrm>
          <a:prstGeom prst="rect">
            <a:avLst/>
          </a:prstGeom>
          <a:noFill/>
          <a:ln/>
        </p:spPr>
        <p:txBody>
          <a:bodyPr wrap="square" lIns="0" tIns="0" rIns="0" bIns="0" rtlCol="0" anchor="ctr"/>
          <a:lstStyle/>
          <a:p>
            <a:pPr marL="0" indent="0" algn="ctr">
              <a:buNone/>
            </a:pPr>
            <a:r>
              <a:rPr lang="en-US" sz="850" b="1" dirty="0">
                <a:solidFill>
                  <a:srgbClr val="1E2761"/>
                </a:solidFill>
                <a:latin typeface="Calibri" pitchFamily="34" charset="0"/>
                <a:ea typeface="Calibri" pitchFamily="34" charset="-122"/>
                <a:cs typeface="Calibri" pitchFamily="34" charset="-120"/>
              </a:rPr>
              <a:t>All 6 Topics Covered • Definitions • Equations • Graphs • Python Code</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1172</TotalTime>
  <Words>3176</Words>
  <Application>Microsoft Office PowerPoint</Application>
  <PresentationFormat>On-screen Show (16:9)</PresentationFormat>
  <Paragraphs>254</Paragraphs>
  <Slides>17</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Regression Concepts</dc:title>
  <dc:subject>PptxGenJS Presentation</dc:subject>
  <dc:creator>PptxGenJS</dc:creator>
  <cp:lastModifiedBy>Dimple Nagpal</cp:lastModifiedBy>
  <cp:revision>3</cp:revision>
  <dcterms:created xsi:type="dcterms:W3CDTF">2026-03-30T07:40:38Z</dcterms:created>
  <dcterms:modified xsi:type="dcterms:W3CDTF">2026-04-04T03:51:43Z</dcterms:modified>
</cp:coreProperties>
</file>