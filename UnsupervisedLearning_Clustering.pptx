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Clustering Algorithms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443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 · K-Means · K-Medoids · Hierarchical · DBSCAN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Cluster Evaluation Metrics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371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&amp; Clustering Algorithms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of Unsupervised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hidden structure in unlabeled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Unsupervised Learning?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type of machine learning where algorithms find </a:t>
            </a:r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patterns, structures, or groupings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data WITHOUT any labeled outputs or predefined answers.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743200" cy="138988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0020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3677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Pattern Discovery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natural groupings, associations, and structures that exist inherently in data — no human labeling required.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600200"/>
            <a:ext cx="2743200" cy="138988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60020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63677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Representation Learning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2029968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and encode high-dimensional data into lower-dimensional representations capturing key features.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1600200"/>
            <a:ext cx="2743200" cy="138988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600200"/>
            <a:ext cx="274320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63677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Data Exploration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2029968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unknown datasets to understand their structure before applying supervised methods or domain analysis.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081528"/>
            <a:ext cx="2743200" cy="138988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81528"/>
            <a:ext cx="274320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181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Anomaly 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3511296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unusual data points that don't conform to normal patterns — critical for fraud and fault detection.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72968" y="3081528"/>
            <a:ext cx="2743200" cy="138988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3081528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1181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Association Mining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64408" y="3511296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rules about item co-occurrence (market basket analysis). E.g., customers who buy X also buy 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71616" y="3081528"/>
            <a:ext cx="2743200" cy="138988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3081528"/>
            <a:ext cx="27432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31181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Dimensionality Reduction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63056" y="3511296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UMAP — reduce features while preserving variance and structure for visualization.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 of Unsupervised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247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307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group shoppers by behavior for targeted marketing campaigns.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9384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9397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— identify unusual transaction patterns as anomalies in normal behavior.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98648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632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clustering — group patients with similar symptoms for diagnosis and treatment.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67912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67912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3250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3913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&amp; Media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42153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(LDA) — automatically discover themes across thousands of documents.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960120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1247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58968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Recommender Systems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58968" y="1307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— find similar users/items without explicit ratings using clustering.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929384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929384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09397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58968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Security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58968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— cluster normal traffic patterns and flag deviations as attacks.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2898648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898648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0632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58968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Bioinformatics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58968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clustering — group genes with similar expression profiles for research.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867912"/>
            <a:ext cx="4160520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867912"/>
            <a:ext cx="65836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03250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58968" y="3913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58968" y="42153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 — separate regions in images without pixel-level annotations.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Unsupervised Learning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2834640" cy="37490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28346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  Clustering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K-Medoids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HDBSCAN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Group similar data points together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932688"/>
            <a:ext cx="2834640" cy="37490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32688"/>
            <a:ext cx="283464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9784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Dimensionality Reduction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435608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(Principal Component Analysis)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t-SNE, UMAP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(Neural)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Analysis, ICA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Compress features preserving structure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932688"/>
            <a:ext cx="2834640" cy="37490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932688"/>
            <a:ext cx="2834640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9784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Association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1435608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Algorithm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Mining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item co-occurrence patterns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709160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This presentation focuses on Clustering — the most widely used unsupervised learning paradigm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vs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fundamental difference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vs Unsupervised — Core Difference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858768"/>
          </a:xfrm>
          <a:prstGeom prst="rect">
            <a:avLst/>
          </a:prstGeom>
          <a:solidFill>
            <a:srgbClr val="EBF5FB"/>
          </a:solidFill>
          <a:ln w="12700">
            <a:solidFill>
              <a:srgbClr val="AA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SUPERVISED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397764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INPUT features + OUTPUT labels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a mapping f(X) → 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labeled training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Classification, Regression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accuracy, RMSE, F1-score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Email spam detection (labelled spam/ham)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Linear Regression, SVM, Random Forest, Neural Nets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60520" cy="3858768"/>
          </a:xfrm>
          <a:prstGeom prst="rect">
            <a:avLst/>
          </a:prstGeom>
          <a:solidFill>
            <a:srgbClr val="E8F8F5"/>
          </a:solidFill>
          <a:ln w="12700">
            <a:solidFill>
              <a:srgbClr val="99D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UNSUPERVISED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435608"/>
            <a:ext cx="397764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INPUT features ONLY — no labels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finds structure/patterns in X alone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training data needed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Clustering, Dimensionality Reduction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Silhouette score, Inertia, DB Index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Customer segmentation (unknown groups)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K-Means, DBSCAN, PCA, Autoencoders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vs Unsupervised — Detailed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input-output pairs (X, 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input features (X), no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mapping f(X) = 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hidden patterns in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requires manual labeling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no labeling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class or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Clusters, components, or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F1, RMSE (clear metrics)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Inertia, Silhouette, DB Index (harder)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struggle with unlabeled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well to large unlabeled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Typically easier to interpret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harder — clusters need naming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(Algos)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Random Forest, 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DBSCAN, PCA, Apriori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(Tasks)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detection, price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segments, anomaly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noise affects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find spurious patterns in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Supervised vs Unsupervised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Framework: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8595360" cy="694944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89888"/>
            <a:ext cx="2377440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1790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labeled data?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1554480"/>
            <a:ext cx="2834640" cy="34747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Supervised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554480"/>
            <a:ext cx="2926080" cy="34747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Use Unsupervised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8595360" cy="694944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12848"/>
            <a:ext cx="2377440" cy="6949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the output classes?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34640" y="2377440"/>
            <a:ext cx="2834640" cy="34747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Supervised Classification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0" y="2377440"/>
            <a:ext cx="2926080" cy="34747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377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Clustering to discover groups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035808"/>
            <a:ext cx="8595360" cy="694944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35808"/>
            <a:ext cx="2377440" cy="69494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6382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 specific value?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3200400"/>
            <a:ext cx="2834640" cy="34747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Supervised Regression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0" y="3200400"/>
            <a:ext cx="2926080" cy="34747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200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Dimensionality Reduction / Clustering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858768"/>
            <a:ext cx="8595360" cy="694944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858768"/>
            <a:ext cx="2377440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8678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unknown data?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834640" y="4023360"/>
            <a:ext cx="2834640" cy="347472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Supervised if you have labels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52160" y="4023360"/>
            <a:ext cx="2926080" cy="34747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4023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Unsupervised to find structure first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4690872"/>
            <a:ext cx="8595360" cy="3931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690872"/>
            <a:ext cx="8394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Hybrid Approach: Use unsupervised learning to explore + create labels, then apply supervised learning — Semi-supervised Learning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Metrics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Euclidean, Manhattan, Cosine and choosing the right 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Distance Metrics Matter in Clustering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distance metric defines how 'similar' or 'different' two data points are. Clustering algorithms rely entirely on distances to form groups.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160520" cy="14813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Non-Negativity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39959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d(x, y) ≥ 0 for all x, 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always zero or positive — never negative.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627632"/>
            <a:ext cx="4160520" cy="14813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2763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6420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Symmetry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39959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d(x, y) = d(y, x)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A to B equals distance from B to 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273552"/>
            <a:ext cx="4160520" cy="14813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7355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1012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Identity of Indiscernibles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39959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d(x, y) = 0 ⟺ x = 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identical points have zero distance.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273552"/>
            <a:ext cx="4160520" cy="14813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27355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1012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Triangle Inequality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0600" y="3703320"/>
            <a:ext cx="39959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d(x, z) ≤ d(x, y) + d(y, z)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 never longer than indirect path.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42062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663440"/>
            <a:ext cx="8394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Choosing the WRONG distance metric can completely ruin clustering quality — different metrics reveal different structures in data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Euclidean Distance — Straight-Line Distance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intuitive distance: the straight-line (as-the-crow-flies) distance between two points in Euclidean 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9536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81328"/>
            <a:ext cx="8394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d(p, q) = √[ Σᵢ (pᵢ − qᵢ)² ]  =  √[ (p₁−q₁)² + (p₂−q₂)² + ... + (pₙ−qₙ)² 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Example — 2D Points A(1, 2) and B(4, 6):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596896"/>
            <a:ext cx="8595360" cy="45720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96896"/>
            <a:ext cx="8394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d(A, B) = √[ (4−1)² + (6−2)² ] = √[ 9 + 16 ] = √25 = 5.0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16382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Properties &amp; When to Use: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4160520" cy="1234440"/>
          </a:xfrm>
          <a:prstGeom prst="rect">
            <a:avLst/>
          </a:prstGeom>
          <a:solidFill>
            <a:srgbClr val="E8F8F5"/>
          </a:solidFill>
          <a:ln w="12700">
            <a:solidFill>
              <a:srgbClr val="99DD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118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When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continuous and on similar scales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compact, spherical clusters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represent physical spatial measurements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566160"/>
            <a:ext cx="4160520" cy="1234440"/>
          </a:xfrm>
          <a:prstGeom prst="rect">
            <a:avLst/>
          </a:prstGeom>
          <a:solidFill>
            <a:srgbClr val="FEEEEA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6118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Problematic When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have vastly different scales (normalize first!)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 — curse of dimensionality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Text/categorical data without numeric encoding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Manhattan Distance — City Block Distance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the grid-like street layout of Manhattan. The sum of absolute differences along each dimension (axis-aligned path).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8394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d(p, q) = Σᵢ |pᵢ − qᵢ|  =  |p₁−q₁| + |p₂−q₂| + ... + |pₙ−qₙ|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Example — A(1, 2) and B(4, 6):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859536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78608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d(A, B) = |4−1| + |6−2| = 3 + 4 = 7.0   (vs Euclidean = 5.0)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27248"/>
          <a:ext cx="8595360" cy="18288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straight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+ vertical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 of sum of squares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absolute differences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to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sensitive (squares large diff)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sensitive (absolute, not squared)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Degrades 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robust in high-dim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distance,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data, robust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Distance — Angle-Based Similarity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two vectors — not their magnitude. Two vectors pointing in the same direction have cosine similarity = 1 (distance = 0).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8595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54480"/>
            <a:ext cx="8394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cosine_similarity(A, B) = (A · B) / (‖A‖ × ‖B‖)     cosine_distance = 1 − cosine_similarity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Example — A(1, 2, 3) and B(2, 4, 6):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615184"/>
            <a:ext cx="859536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615184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= 1×2 + 2×4 + 3×6 = 28  |  ‖A‖ = √14 ≈ 3.74  |  ‖B‖ = √56 ≈ 7.48  →  similarity = 28/(3.74×7.48) = 1.0  (same direction!)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163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&amp; Use Cases: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 with same words but different lengths → cosine similarity = 1.0 (same direction)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(length) is IGNORED — only orientation matters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-1 (opposite directions) to +1 (same direction), so distance is 0 to 2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Text clustering (TF-IDF vectors), recommendation systems, NLP tasks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Word2Vec, document similarity, image recognition feature comparison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Appropriate Distance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7764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2743200"/>
                <a:gridCol w="201168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scaled similarly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geometric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different scales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 + Standardization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 first to remove scale 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(after scaling)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outlier-prone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diff less sensitive to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K-Medoids, 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Sparse vectors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direction, ignores magnitude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(NLP), LSA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mismatches across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(num + cat)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Gower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both continuous and nominal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K-Prototypes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|A∩B|/|A∪B|, good for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 (sparse)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Sequences / Time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DTW (Dynamic Time Warping)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sequences of different lengths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956048"/>
            <a:ext cx="839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Metrics — Formulas &amp; Visual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39776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834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9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Euclidean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" y="1463040"/>
            <a:ext cx="2615184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463040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√[(x₂−x₁)² + (y₂−y₁)²]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2084832"/>
            <a:ext cx="2615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allowed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scale differences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continuous data in compact clusters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914400"/>
            <a:ext cx="2834640" cy="39776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914400"/>
            <a:ext cx="283464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969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Manhattan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74136" y="1463040"/>
            <a:ext cx="2615184" cy="51206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463040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|x₂−x₁| + |y₂−y₁|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74136" y="2084832"/>
            <a:ext cx="2615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Axis-aligned path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diagonals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&amp; scale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high-dimensional, sparse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914400"/>
            <a:ext cx="2834640" cy="39776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914400"/>
            <a:ext cx="283464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969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64224" y="1463040"/>
            <a:ext cx="2615184" cy="5120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463040"/>
            <a:ext cx="2414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(A·B)/(‖A‖·‖B‖)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64224" y="2084832"/>
            <a:ext cx="2615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vectors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magnitude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affected by vector length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text, TF-IDF, sparse vectors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data into K groups by minimizing intra-cluster variance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unsupervised algorithm that partitions N data points into </a:t>
            </a:r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non-overlapping clusters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minimizing the sum of squared distances from each point to its cluster centroid.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45920"/>
            <a:ext cx="8394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WCSS = Σₖ Σ_{xᵢ∈Cₖ} ‖xᵢ − μₖ‖²   where μₖ = centroid of cluster 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40864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user parameter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2734056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K must be specified in advance. Choosing K is a key challenge (Elbow Method helps).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304288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304288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340864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Centroid-based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2734056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is represented by its mean (centroid). Points belong to the nearest centroid.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49040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85616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assignment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178808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belongs to exactly ONE cluster — no fuzzy/probabilistic membership.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749040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749040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785616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optimization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4178808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between assigning points to clusters and updating centroids until convergence.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Algorithm — Step-by-Step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5669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252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" y="978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3716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number of clusters K (hyperparameter). K=3 means we expect 3 groups in the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04288"/>
            <a:ext cx="5669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32688" y="2350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Centroids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7432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place K centroids (often by randomly selecting K data points). K-Means++ picks better initial centroids.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6758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75888"/>
            <a:ext cx="5669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684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" y="37216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41148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data point, calculate distance to ALL K centroids. Assign each point to the NEAREST centroid's cluster.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9326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32688"/>
            <a:ext cx="5669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2252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367528" y="978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Centroids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67528" y="13716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each centroid as the MEAN of all points currently assigned to that cluster: μₖ = (1/nₖ)Σxᵢ∈Cₖ xᵢ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23042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04288"/>
            <a:ext cx="5669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367528" y="2350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Convergence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67528" y="27432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centroids haven't moved (or moved less than threshold ε), algorithm has converged. Else repeat Step 3.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6758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675888"/>
            <a:ext cx="56692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684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367528" y="37216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Clusters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41148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final K cluster assignments and centroids. Compute WCSS (inertia) to evaluate quality.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— Variants, Limitations &amp; Hyperparameters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132588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2588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6245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K-Means++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5786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centroid initialization — first centroid random, each subsequent centroid chosen with probability proportional to distance² from existing centroids. Reduces bad local minima.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325880"/>
            <a:ext cx="2743200" cy="132588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2588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6245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Mini-Batch K-Means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1755648"/>
            <a:ext cx="25786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 mini-batches instead of full dataset per iteration. Faster for very large datasets with minimal quality loss. sklearn: MiniBatchKMeans.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1325880"/>
            <a:ext cx="2743200" cy="132588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325880"/>
            <a:ext cx="27432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36245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with Multiple Inits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1755648"/>
            <a:ext cx="25786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K-Means multiple times (n_init=10) with different random seeds. Keep best result (lowest WCSS). Handles local minima problem.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27614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163824"/>
            <a:ext cx="841248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specify K in advance — not always obvious how many clusters exist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initial centroid placement — may converge to local minima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spherical, equal-sized clusters — fails on elongated or irregular shapes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— outliers pull centroids away from true cluster centers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clusters of very different densities or sizes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Method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optimal number of clusters 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Method — Finding Optimal 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plots WCSS (Within-Cluster Sum of Squares) vs K. The 'elbow' point where the rate of WCSS decrease sharply slows down indicates the optimal 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5120640" cy="3017520"/>
          </a:xfrm>
          <a:prstGeom prst="rect">
            <a:avLst/>
          </a:prstGeom>
          <a:solidFill>
            <a:srgbClr val="EEF4F7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82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vs K (Elbow Curve)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 rot="16200000">
            <a:off x="320040" y="2176272"/>
            <a:ext cx="274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(Inertia)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4325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K 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403250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1879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457200" cy="-587829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0432" y="3444675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600123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34440" y="3508683"/>
            <a:ext cx="457200" cy="-573133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7632" y="2871543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912" y="3026991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91640" y="2935551"/>
            <a:ext cx="457200" cy="-220436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4832" y="2651107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2806555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48840" y="2715115"/>
            <a:ext cx="457200" cy="-124914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2526193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6312" y="2681641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590201"/>
            <a:ext cx="457200" cy="-73479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9232" y="2452715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2608163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63240" y="2516723"/>
            <a:ext cx="457200" cy="-51435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6432" y="240128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25567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0440" y="2465288"/>
            <a:ext cx="457200" cy="-29391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13632" y="237188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67912" y="25273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691640" y="1993392"/>
            <a:ext cx="0" cy="233172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719072" y="2011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Elbow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K=3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the Elbow: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77840" y="2029968"/>
            <a:ext cx="3291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K=1: All points in one cluster → maximum WCSS (worst)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 increases: WCSS always decreases (more clusters = tighter fit)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point: WCSS improvement per additional K slows dramatically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K=N: Each point is its own cluster → WCSS=0 (overfitting)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= at the bend/elbow of the curve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Method — Limitations &amp; Alternative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0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of Elbow Method: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'elbow' is not always clear — can be gradual or ambiguous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when clusters are well-separated; fails on complex distributions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uses WCSS — ignores cluster separation (external validity)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Alternative Methods for Choosing K: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4160520" cy="12618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743200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79776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172968"/>
            <a:ext cx="3995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average silhouette score for each K. Peak score = best K. Considers both cohesion and separation.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4160520" cy="12618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743200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779776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Statistic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3172968"/>
            <a:ext cx="3995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WCSS to that expected under null distribution (random data). Maximizing gap gives optimal 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133088"/>
            <a:ext cx="4160520" cy="12618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133088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69664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Davies-Bouldin Index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4562856"/>
            <a:ext cx="3995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DB Index across values of K. Lower = better. Considers both within-cluster and between-cluster distances.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4133088"/>
            <a:ext cx="4160520" cy="12618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4133088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169664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Calinski-Harabasz Index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4562856"/>
            <a:ext cx="3995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between-cluster to within-cluster dispersion. Maximize for optimal K. Also called Variance Ratio Criterion.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K-Medoids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clustering using actual data points as centers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K-Medoids — Partitioning Around Medoids (PAM)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K-Medoids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called PAM — Partitioning Around Medoids) is like K-Means but uses actual </a:t>
            </a:r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as cluster centers (medoids)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computed means.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45920"/>
            <a:ext cx="8394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Σₖ Σ_{xᵢ∈Cₖ} d(xᵢ, mₖ)  where mₖ is actual medoid (data point) — any distance metric d can be used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vs K-Medoids — Key Differences:</a:t>
            </a:r>
            <a:endParaRPr lang="en-US" sz="13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8595360" cy="233172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K-Medoids (PAM)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cluster members (virtual point)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data point (medoid)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Euclidean (squared distances)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metric: Euclidean, Manhattan, etc.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Robustness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— outliers shift the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— medoid is a real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O(NKT) — very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O(K(N-K)²) — slower for large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 may not exist in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Medoid is an actual data point — interpretable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datasets, Euclidean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Small-medium data, non-Euclidean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K-Medoids Algorithm — PAM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566928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252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" y="978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Medoids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3716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 K data points as initial medoids from the dataset.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04288"/>
            <a:ext cx="566928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32688" y="2350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7432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non-medoid data point to the nearest medoid using chosen distance metric 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6758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75888"/>
            <a:ext cx="566928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684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" y="37216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41148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cost = Σ d(xᵢ, medoid of its cluster). This is the objective to minimize.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9326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32688"/>
            <a:ext cx="566928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2252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367528" y="9784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Swapping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67528" y="13716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medoid m and non-medoid point o, compute the cost if o replaces m as medoid.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23042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04288"/>
            <a:ext cx="566928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367528" y="2350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 Swap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67528" y="27432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swap reduces total cost, perform the swap that gives maximum cost reduction.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675888"/>
            <a:ext cx="4160520" cy="1234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675888"/>
            <a:ext cx="566928" cy="12344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684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367528" y="37216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/ Converge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4114800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2-5 until no swap reduces cost. Final medoids are the cluster representatives.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K-Medoids — Advantages, Limitations &amp; Variants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3822192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41605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7764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distance metric (not just Euclidean)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— medoid is a real data point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interpretable — cluster center is an actual example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categorical or mixed data with appropriate metric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to converge to a local minimum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60520" cy="3822192"/>
          </a:xfrm>
          <a:prstGeom prst="rect">
            <a:avLst/>
          </a:prstGeom>
          <a:solidFill>
            <a:srgbClr val="FEEEEA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Limitations &amp; Variants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389888"/>
            <a:ext cx="397764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for large N — O(K(N-K)²) per iteration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CLARA: samples subset of data for speed on large datasets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CLARANS: random search of swap neighborhood — faster than PAM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specify K in advance (same issue as K-Means)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still find local minima — use multiple random starts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&amp; Divisive — building nested cluster trees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Clustering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TREE of clusters (dendrogram) showing the hierarchy of cluster merges or splits. No need to pre-specify K — choose cutoff after seeing the dendrogram.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3200400"/>
          </a:xfrm>
          <a:prstGeom prst="rect">
            <a:avLst/>
          </a:prstGeom>
          <a:solidFill>
            <a:srgbClr val="EBF5FB"/>
          </a:solidFill>
          <a:ln w="12700">
            <a:solidFill>
              <a:srgbClr val="AACC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72768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⬆ Agglomerative (Bottom-Up)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3977640" cy="2670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each data point is its own cluster (N clusters)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repeatedly merge the two most similar clusters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all points form one single cluster (1 cluster)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approach — sklearn AgglomerativeClustering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by cutting dendrogram at desired level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160520" cy="3200400"/>
          </a:xfrm>
          <a:prstGeom prst="rect">
            <a:avLst/>
          </a:prstGeom>
          <a:solidFill>
            <a:srgbClr val="FEF9E7"/>
          </a:solidFill>
          <a:ln w="12700">
            <a:solidFill>
              <a:srgbClr val="DDCC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416052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184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⬇ Divisive (Top-Down)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2029968"/>
            <a:ext cx="3977640" cy="2670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all data points in one single cluster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recursively split clusters into sub-clusters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each point is its own cluster (N clusters)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 — computationally expensive (2ᴺ partitions)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algorithm is the classic divisive method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Dendrogram — The Cluster Tree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dendrogram is a tree diagram showing the hierarchy of cluster merges. The HEIGHT of each merge indicates the DISTANCE at which clusters were joined.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5029200" cy="3200400"/>
          </a:xfrm>
          <a:prstGeom prst="rect">
            <a:avLst/>
          </a:prstGeom>
          <a:solidFill>
            <a:srgbClr val="EEF4F7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18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(Sample)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2702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42702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4520" y="42702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42702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42702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427024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471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361688"/>
            <a:ext cx="0" cy="-6400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4361688"/>
            <a:ext cx="0" cy="-6400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721608"/>
            <a:ext cx="5029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4361688"/>
            <a:ext cx="0" cy="-6400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4361688"/>
            <a:ext cx="0" cy="-6400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3721608"/>
            <a:ext cx="5029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4361688"/>
            <a:ext cx="0" cy="-6400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4361688"/>
            <a:ext cx="0" cy="-6400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3721608"/>
            <a:ext cx="5029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8700" y="3721608"/>
            <a:ext cx="0" cy="-658368"/>
          </a:xfrm>
          <a:prstGeom prst="line">
            <a:avLst/>
          </a:prstGeom>
          <a:noFill/>
          <a:ln w="12700">
            <a:solidFill>
              <a:srgbClr val="6B3F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17420" y="3721608"/>
            <a:ext cx="0" cy="-658368"/>
          </a:xfrm>
          <a:prstGeom prst="line">
            <a:avLst/>
          </a:prstGeom>
          <a:noFill/>
          <a:ln w="12700">
            <a:solidFill>
              <a:srgbClr val="6B3F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8700" y="3063240"/>
            <a:ext cx="1188720" cy="0"/>
          </a:xfrm>
          <a:prstGeom prst="line">
            <a:avLst/>
          </a:prstGeom>
          <a:noFill/>
          <a:ln w="12700">
            <a:solidFill>
              <a:srgbClr val="6B3F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23060" y="3063240"/>
            <a:ext cx="0" cy="-658368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43300" y="3721608"/>
            <a:ext cx="0" cy="-1316736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23060" y="2404872"/>
            <a:ext cx="1920240" cy="0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2898648"/>
            <a:ext cx="4828032" cy="0"/>
          </a:xfrm>
          <a:prstGeom prst="line">
            <a:avLst/>
          </a:prstGeom>
          <a:noFill/>
          <a:ln w="12700">
            <a:solidFill>
              <a:srgbClr val="D63031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389120" y="2715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here → K=2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048" y="3611880"/>
            <a:ext cx="4828032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389120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here → K=3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Dendrogram: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77840" y="1956816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= merge distance (height)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merge = more dissimilar clusters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vertical lines = clear separation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at height h → K clusters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LARGEST GAP between merges — that level suggests optimal 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explore K by changing cut height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Linkage Criteria — How to Measure Cluster Distance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criterion defines how the distance between two CLUSTERS is calculated from pairwise point distances: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8595360" cy="7955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286000" cy="7955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17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Linkage (MIN)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892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d(Cᵢ, Cⱼ) = min{d(a,b) : a∈Cᵢ, b∈Cⱼ}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70048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Detects non-convex shapes; elongated clusters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048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Chaining effect — clusters chain together through close 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664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Non-convex, elongated clusters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8595360" cy="7955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0008"/>
            <a:ext cx="2286000" cy="7955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Linkage (MAX)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2779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d(Cᵢ, Cⱼ) = max{d(a,b) : a∈Cᵢ, b∈Cⱼ}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70048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Compact, equal-sized clusters; no chaining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70048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Sensitive to outliers; may break large clusters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5511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Compact clusters, equal sizes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8595360" cy="7955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36976"/>
            <a:ext cx="2286000" cy="7955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Linkage (UPGMA)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36667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d(Cᵢ, Cⱼ) = (1/|Cᵢ||Cⱼ|) Σ d(a,b)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70048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Compromise — moderate chaining and outlier resistance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70048" y="36667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Changes with scale; computationally more expensive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4381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purpose, moderate robustness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79552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23944"/>
            <a:ext cx="2286000" cy="7955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78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Ward's Linkage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45537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minimizes total within-cluster variance increase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70048" y="4169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Creates compact, equal-sized clusters; most popular in practice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670048" y="4553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Assumes Euclidean distance; may not work with other metrics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43251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use, equal-sized clusters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Clustering — Parameters &amp; Complexity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 (sklearn.cluster.AgglomerativeClustering):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395728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926080"/>
              </a:tblGrid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/ 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clusters to find (cut level)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(specify based on dendrogram)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 criterion for cluster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'ward' (default), 'complete', 'average', 'single'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affinity /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metric between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'euclidean' (default), 'manhattan', 'cosine'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to n_clusters — cut at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by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compute_full_tree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full dendrogram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when distance_threshold is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24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connectivity matrix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(default — fully connected)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 Analysis: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4206240"/>
            <a:ext cx="2834640" cy="685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251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O(N² log N)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O(N³)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4206240"/>
            <a:ext cx="2834640" cy="685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4251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O(N²)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matrix storage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4206240"/>
            <a:ext cx="2743200" cy="685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42519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N&lt;10K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BIRCH for larger data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Density-Based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clusters as dense regions separated by sparse areas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— Density-Based Spatial Clustering of Applications with Noise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groups points that are DENSELY packed together and marks points in sparse regions as NOISE (outliers). No need to specify K — clusters form naturally from density.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274320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078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ε (epsilon)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093976"/>
            <a:ext cx="25786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radius around a point to search for neighbors. A neighborhood is the circle of radius ε around a point. Key hyperparameter.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664208"/>
            <a:ext cx="274320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66420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70078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MinPts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2093976"/>
            <a:ext cx="25786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number of points (including the point itself) within ε-neighborhood for a point to be a core point. Key hyperparameter.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1664208"/>
            <a:ext cx="274320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66420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70078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Point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2093976"/>
            <a:ext cx="25786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that has at LEAST MinPts points within its ε-neighborhood (including itself). Can expand a cluster.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274320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18688"/>
            <a:ext cx="274320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5526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 Point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3648456"/>
            <a:ext cx="25786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that is NOT a core point itself but lies within the ε-neighborhood of a core point. Belongs to a cluster.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72968" y="3218688"/>
            <a:ext cx="274320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3218688"/>
            <a:ext cx="274320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25526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 Point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64408" y="3648456"/>
            <a:ext cx="25786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that is neither a core point nor a border point. Falls in sparse regions. Labeled -1 (outlier).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71616" y="3218688"/>
            <a:ext cx="274320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3218688"/>
            <a:ext cx="274320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325526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Density-Reachability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63056" y="3648456"/>
            <a:ext cx="25786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q is density-reachable from p if there's a chain of core points connecting them within ε distance.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Algorithm — Step-by-Step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61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96926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All Unvisited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1280160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points start as UNVISITED. Cluster assignments are all UNDEFINED.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32688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32688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61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6088" y="96926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Unvisited Point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76088" y="1280160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unvisited point P. Mark P as visited.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1975104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75104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03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" y="201168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Neighbors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2322576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points within ε distance of P → the ε-neighborhood N(P).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1975104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975104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203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76088" y="201168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Point Check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76088" y="2322576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|N(P)| &lt; MinPts → mark P as NOISE and go to step 2 (may change later).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17520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41248" y="30540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New Cluster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1248" y="336499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|N(P)| ≥ MinPts → P is a core point. Create new cluster C. Add P to C.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17520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76088" y="30540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Cluster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76088" y="336499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 Q in N(P): if unvisited, find its neighbors. If Q is also a core point, add its neighbors to expansion queue. Add Q to cluster C.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74320" y="4059936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059936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41248" y="409651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Continue Expanding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41248" y="440740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 6 until no more points can be added to cluster C.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4059936"/>
            <a:ext cx="4160520" cy="9144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059936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288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276088" y="409651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/ Finish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276088" y="440740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step 2 until all points visited. Output: cluster labels + noise points (-1).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— Hyperparameters, Advantages &amp; 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ε and MinPts: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 rule: MinPts ≥ D+1 where D is data dimensions; typically MinPts = 2×D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selection: k-distance graph — plot distance to k-th nearest neighbor (k=MinPts) sorted ascending. Look for 'elbow' in the plot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ε → many clusters (too fine); Large ε → few clusters (too coarse)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MinPts → sensitive to noise; Large MinPts → misses small clusters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4160520" cy="2148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65176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97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Advantages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081528"/>
            <a:ext cx="39776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require specifying K in advance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arbitrarily shaped clusters (non-convex)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outlier detection (noise points)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in cluster assignment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clusters of varying sizes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4160520" cy="2148840"/>
          </a:xfrm>
          <a:prstGeom prst="rect">
            <a:avLst/>
          </a:prstGeom>
          <a:solidFill>
            <a:srgbClr val="FEEEEA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651760"/>
            <a:ext cx="4160520" cy="384048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97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Limitations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081528"/>
            <a:ext cx="397764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ε and MinPts choice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clusters have different densities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data: distances become uniform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O(N²) distance matrix for some implementations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variant handles variable density better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Density-Based vs Partition-Based vs Hierarchical — Full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96512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  <a:gridCol w="1737360"/>
                <a:gridCol w="1737360"/>
              </a:tblGrid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K-Medoids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required?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(post-hoc)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(depends on linkage)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(arbitrary)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built-in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(noise label)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O(NKT) —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O(K(N-K)²) — 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— 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— fast*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specify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specify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after dendrogram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from 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Variation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equal 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equal 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handle some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on varying density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n_init, max_iter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max_iter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n_clusters, linkage,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(eps), min_samples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data, spherical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Robust, non-Euclidean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K, hierarchy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Arbitrary shapes,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unusual patterns that don't conform to expected behavior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called outlier detection) identifies data points, patterns, or events that deviate significantly from the majority of the data — the "normal" behavior.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150876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3657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2821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Anomalies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2578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data point that is far from the rest.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transaction of $100,000 when average is $50.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1691640"/>
            <a:ext cx="2743200" cy="150876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691640"/>
            <a:ext cx="274320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72821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 Anomalies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64408" y="2121408"/>
            <a:ext cx="2578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that is anomalous only in a specific context.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30°C temperature normal in July, anomalous in January.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1691640"/>
            <a:ext cx="2743200" cy="150876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691640"/>
            <a:ext cx="274320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72821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Collective Anomalies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63056" y="2121408"/>
            <a:ext cx="2578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points that collectively forms an anomaly.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Sequence of identical timestamps (automated attack).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310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1627632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30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" y="41148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93392" y="3703320"/>
            <a:ext cx="1627632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3730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93392" y="41148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12464" y="3703320"/>
            <a:ext cx="1627632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12464" y="3730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12464" y="41148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31536" y="3703320"/>
            <a:ext cx="1627632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31536" y="3730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31536" y="41148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50608" y="3703320"/>
            <a:ext cx="1627632" cy="80467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3730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50608" y="41148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— Methods &amp;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2743200" cy="1828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926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Methods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362456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flag points with |z| &gt; 3 std deviations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Method: flag below Q1-1.5×IQR or above Q3+1.5×IQR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Gaussian distribution of normal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932688"/>
            <a:ext cx="2743200" cy="1828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3268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6926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Distance-Based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64408" y="1362456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Outlier Score: point with k-th nearest neighbor distance larger than threshold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(Local Outlier Factor): compare local density to neighbors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in low dimensions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71616" y="932688"/>
            <a:ext cx="2743200" cy="1828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932688"/>
            <a:ext cx="274320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96926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Clustering-Based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63056" y="1362456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noise points = anomalies (labeled -1)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far from any cluster centroid in K-Means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near -1 identifies poor cluster fits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898648"/>
            <a:ext cx="2743200" cy="1828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98648"/>
            <a:ext cx="274320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3522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Forest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trees isolate anomalies in fewer splits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have shorter path lengths in random trees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O(N log N), works in high dimensions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72968" y="2898648"/>
            <a:ext cx="2743200" cy="1828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898648"/>
            <a:ext cx="2743200" cy="36576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293522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One-Class SVM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64408" y="3328416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SVM on normal data 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points outside the boundary = anomalies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 handles non-linear boundaries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71616" y="2898648"/>
            <a:ext cx="2743200" cy="182880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2898648"/>
            <a:ext cx="27432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93522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Autoencoder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63056" y="3328416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network: compress → reconstruct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reconstruction error = anomaly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detect complex, non-linear anomalies in images/sequences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82803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IsolationForest, LocalOutlierFactor, OneClassSVM | PyOD library for comprehensive anomaly detection tools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— LOF &amp; Isolation Forest Deep Dive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Outlier Factor (LOF)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4160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LOCAL density of point p to its K neighbors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≈ 1: point has similar density to neighbors (normal)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&gt;&gt; 1: point has much lower density → outlier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LOF(p) = avg[lrd(o)/lrd(p)] for o in k-NN(p)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lrd(p) = local reachability density = 1 / avg(reach-dist)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detects local outliers in clusters of different densities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0" cy="35661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14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35024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random decision trees by randomly selecting features and split values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EASIER to isolate → shorter average path length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= avg path length across all trees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 → anomaly; score &gt; 0 → normal point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parameter sets expected anomaly fraction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— scales to large high-dimensional datasets</a:t>
            </a:r>
            <a:endParaRPr lang="en-US" sz="12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56432"/>
          <a:ext cx="8595360" cy="1572768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3931920"/>
              </a:tblGrid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 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(increase for sparse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0.05–0.1 (expected outlier fraction)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eps, min_samples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k-distance plot to find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560320" cy="2560320"/>
          </a:xfrm>
          <a:prstGeom prst="ellipse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Evaluating Clustering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· Silhouette Score · Davies-Bouldin Index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Cluster Evaluation is Challenging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supervised learning (where ground truth labels enable direct evaluation), clustering evaluation is fundamentally harder — there is no 'correct answer' to compare against.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16052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27632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733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Evaluation 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data and cluster assignments. No ground truth labels needed. Measure cohesion (within-cluster tightness) and separation (between-cluster distance).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Inertia, Silhouette Score, Davies-Bouldin Index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160520" cy="141732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27632"/>
            <a:ext cx="4160520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733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Evaluation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048256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cluster assignments to KNOWN ground truth labels. Only possible when you have pre-existing category labels.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Adjusted Rand Index (ARI), Normalized Mutual Info (NMI), Homogeneity, Completeness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Clustering Properties: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538728"/>
            <a:ext cx="2743200" cy="128016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3872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753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Cohesion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39684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within same cluster are CLOSE to each other (small intra-cluster distance).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72968" y="3538728"/>
            <a:ext cx="2743200" cy="128016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353872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5753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Separation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64408" y="39684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 DIFFERENT clusters are far apart (large inter-cluster distance).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71616" y="3538728"/>
            <a:ext cx="2743200" cy="1280160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3538728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575304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63056" y="3968496"/>
            <a:ext cx="2578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matches the true number of natural groups in the data.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Inertia — Within-Cluster Sum of Squares (WCSS)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Inertia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tightly packed the clusters are by summing squared distances from each point to its cluster centroid.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859536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0200"/>
            <a:ext cx="8394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(WCSS) = Σₖ Σ_{xᵢ ∈ Cₖ} ‖xᵢ − μₖ‖²   where μₖ = centroid of cluster 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2743200" cy="13533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2257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271576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Inertia = Tighter, better-formed clusters. Higher Inertia = Spread-out, poor clusters.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72968" y="2286000"/>
            <a:ext cx="2743200" cy="13533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228600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32257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271576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≥ 0. Inertia = 0 only when K = N (every point is its own cluster — useless).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71616" y="2286000"/>
            <a:ext cx="2743200" cy="13533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228600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232257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 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63056" y="271576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DECREASES as K increases. Cannot find optimal K by minimizing alone → use Elbow Method.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2743200" cy="13533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4904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8561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 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417880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uses Euclidean distance. Scale-sensitive — always standardize features before computing inertia.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72968" y="3749040"/>
            <a:ext cx="2743200" cy="13533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374904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78561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sklearn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64408" y="417880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kmeans.inertia_ after fitting. Also called within-cluster sum of squares (WCSS).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71616" y="3749040"/>
            <a:ext cx="2743200" cy="13533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374904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3785616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63056" y="4178808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for K-Means optimization. Use alongside Silhouette for comprehensive evaluation.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Score — Cohesion and Separation Metric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Score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each point fits within its own cluster compared to other clusters. Considers BOTH cohesion and separation.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1605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 i: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 = avg distance to points in SAME cluster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b(i) = avg distance to points in NEAREST OTHER cluster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silhouette(i) = (b(i) − a(i)) / max(a(i), b(i))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627632"/>
            <a:ext cx="4160520" cy="80467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627632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avg silhouette(i) across all points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-1 to +1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= well-separated | 0 = boundary | -1 = wrong cluster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Interpreting Silhouette Scores: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2084832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90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0.71 – 1.00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" y="3246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structure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41448" y="2962656"/>
            <a:ext cx="208483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2990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0.51 – 0.70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41448" y="3246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structure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08576" y="2962656"/>
            <a:ext cx="2084832" cy="5669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990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0.26 – 0.50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08576" y="3246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structure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75704" y="2962656"/>
            <a:ext cx="2084832" cy="566928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2990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0.25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75704" y="3246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substantial structure found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6393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of Silhouette Score: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5760" y="4041648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clustering algorithm (not just K-Means) and any distance metric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poorly assigned individual points via silhouette plots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used to select optimal K — compute for K=2,3,...,10 and pick the K with maximum avg 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silhouette_score(X, labels) and silhouette_samples(X, labels) for per-point scores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Davies–Bouldin Index — Cluster Separation Metric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Davies-Bouldin Index (DBI) </a:t>
            </a:r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average similarity between each cluster and its most similar (worst-case) neighbor.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8394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= (1/K) Σₖ max_{j≠k} [ (sᵢ + sⱼ) / d(cᵢ, cⱼ) 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 sₖ = avg distance within cluster k   |   d(cᵢ, cⱼ) = distance between cluster centroids i and j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5054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Properties: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907792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0779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4436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 Minimize DBI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DBI = better clustering. DBI = 0 is perfect (never achieved on real data). Unlike Silhouette, LOWER is better.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907792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90779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94436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Measures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3337560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within-cluster scatter (sₖ) to between-cluster distance d(cᵢ,cⱼ). High scatter + small separation → high DBI (bad).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325112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32511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6168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≥ 0 always. No upper bound. Typical good scores: &lt; 0.5. Scores &gt; 1.5 indicate poor separation.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4325112"/>
            <a:ext cx="4160520" cy="1298448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4325112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361688"/>
            <a:ext cx="3995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to Silhouette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4754880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is faster to compute — O(N) vs O(N²). But DBI assumes convex clusters (centroid-based), Silhouette works for any shape.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Evaluation — All Metrics Compared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74904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  <a:gridCol w="2011680"/>
                <a:gridCol w="1600200"/>
                <a:gridCol w="160020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Without Labels?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Agnostic?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 (WCSS)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as 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Within-cluster tightness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K-Means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Cohesion + Separation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Scatter/separation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(maximize)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Between/within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Rand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(random)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with ground 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needs labels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information w/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needs labels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8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709160"/>
            <a:ext cx="8394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Best Practice: Use Silhouette + DB Index together for internal evaluation, and ARI + NMI when ground truth labels are available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 — Complete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4F7"/>
          </a:solidFill>
          <a:ln w="12700">
            <a:solidFill>
              <a:srgbClr val="EE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workflow for clustering projects: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1152144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26464" y="1719072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1389888"/>
            <a:ext cx="1152144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4533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Distance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60904" y="1719072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1389888"/>
            <a:ext cx="1152144" cy="12618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7977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95344" y="1719072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77640" y="1389888"/>
            <a:ext cx="1152144" cy="12618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1421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(Elbow/Sil.)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9784" y="1719072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1389888"/>
            <a:ext cx="1152144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4865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Clusters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4224" y="1719072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1389888"/>
            <a:ext cx="1152144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8309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(Sil, DBI, etc.)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98664" y="1719072"/>
            <a:ext cx="9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80960" y="1389888"/>
            <a:ext cx="1152144" cy="126187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17536" y="1417320"/>
            <a:ext cx="10789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Clusters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7889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before distance-based methods (StandardScaler or MinMaxScaler)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 first — visualize with PCA/t-SNE before choosing algorithm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multiple algorithms and compare Silhouette + DB Index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stability: run multiple times; consistent results = genuine structure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visualize final clusters — numbers alone don't tell the full story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—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42416" y="950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42416" y="1243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unlabeled data — clustering, dim. reduction, association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914400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42416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77256" y="950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Metrics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77256" y="1243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(straight-line) · Manhattan (city-block) · Cosine (angle) — choose by data 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682496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682496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1051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42416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42416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into K spherical clusters by minimizing WCSS. Fast, scalable, needs K specified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682496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682496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1051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77256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Method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77256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WCSS vs K — 'elbow' point = optimal K. Use with Silhouette for confirmation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450592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450592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578608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💠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42416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K-Medoids (PAM)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42416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points as centers. Robust to outliers, works with any distance metric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450592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450592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78608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477256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Clustering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77256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of nested clusters. Agglomerative (bottom-up). Ward's linkage most common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218688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218688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34670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42416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42416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Density-based, arbitrary shapes, built-in outlier detection. Needs ε and MinPts tuning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3218688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218688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34670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477256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77256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· Isolation Forest · DBSCAN noise. Point, contextual, and collective anomalies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3986784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986784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1148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042416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Inertia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42416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Within-cluster SS — lower = tighter clusters. Used in Elbow Method. K-Means specific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00600" y="3986784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986784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11480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5477256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Score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477256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 to +1). Cohesion + separation. &gt;0.5 good. Works with any algorithm and metric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5760" y="4754880"/>
            <a:ext cx="4160520" cy="658368"/>
          </a:xfrm>
          <a:prstGeom prst="rect">
            <a:avLst/>
          </a:prstGeom>
          <a:solidFill>
            <a:srgbClr val="122238"/>
          </a:solidFill>
          <a:ln w="12700">
            <a:solidFill>
              <a:srgbClr val="2244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4754880"/>
            <a:ext cx="60350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882896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1042416" y="4791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Davies-Bouldin Index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1042416" y="5084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Minimize! Ratio of scatter to separation. Complements Silhouette for full evaluation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8371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&amp; Clustering Algorithms — Complete Reference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 &amp; Clustering Algorithms</dc:title>
  <dc:subject>PptxGenJS Presentation</dc:subject>
  <dc:creator>PptxGenJS</dc:creator>
  <cp:lastModifiedBy>PptxGenJS</cp:lastModifiedBy>
  <cp:revision>1</cp:revision>
  <dcterms:created xsi:type="dcterms:W3CDTF">2026-04-08T09:21:03Z</dcterms:created>
  <dcterms:modified xsi:type="dcterms:W3CDTF">2026-04-08T09:21:03Z</dcterms:modified>
</cp:coreProperties>
</file>