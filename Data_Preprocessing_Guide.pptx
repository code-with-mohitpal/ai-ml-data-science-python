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2" d="100"/>
          <a:sy n="122" d="100"/>
        </p:scale>
        <p:origin x="250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535619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DATA PREPROCESSING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2560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Comprehensive Guide with Python Implementation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0" y="3200400"/>
            <a:ext cx="1828800" cy="45720"/>
          </a:xfrm>
          <a:prstGeom prst="rect">
            <a:avLst/>
          </a:prstGeom>
          <a:solidFill>
            <a:srgbClr val="028090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is Data Preprocessing?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73152" cy="338328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914400"/>
            <a:ext cx="804672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2000" dirty="0"/>
          </a:p>
          <a:p>
            <a:pPr marL="0" indent="0">
              <a:buNone/>
            </a:pPr>
            <a:r>
              <a:rPr lang="en-US" sz="14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preprocessing is the process of transforming raw data into a clean, structured format suitable for machine learning algorithms. It's a critical step that directly impacts model performance.</a:t>
            </a: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2000" dirty="0"/>
          </a:p>
          <a:p>
            <a:pPr marL="0" indent="0">
              <a:buNone/>
            </a:pPr>
            <a:r>
              <a:rPr lang="en-US" sz="14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Real-world data is messy: missing values, outliers, inconsistencies</a:t>
            </a:r>
            <a:endParaRPr lang="en-US" sz="2000" dirty="0"/>
          </a:p>
          <a:p>
            <a:pPr marL="0" indent="0">
              <a:buNone/>
            </a:pPr>
            <a:r>
              <a:rPr lang="en-US" sz="14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ML algorithms require clean, numerical data</a:t>
            </a:r>
            <a:endParaRPr lang="en-US" sz="2000" dirty="0"/>
          </a:p>
          <a:p>
            <a:pPr marL="0" indent="0">
              <a:buNone/>
            </a:pPr>
            <a:r>
              <a:rPr lang="en-US" sz="14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60-80% of a data scientist's time is spent on preprocessing</a:t>
            </a:r>
            <a:endParaRPr lang="en-US" sz="2000" dirty="0"/>
          </a:p>
          <a:p>
            <a:pPr marL="0" indent="0">
              <a:buNone/>
            </a:pPr>
            <a:r>
              <a:rPr lang="en-US" sz="14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Quality preprocessing = Better model performance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Data Preprocessing Pipeline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2560320" cy="1188720"/>
          </a:xfrm>
          <a:prstGeom prst="rect">
            <a:avLst/>
          </a:prstGeom>
          <a:solidFill>
            <a:srgbClr val="FFFFFF"/>
          </a:solidFill>
          <a:ln w="254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12801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Data Collection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94360" y="16916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Gather raw data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383280" y="1097280"/>
            <a:ext cx="2560320" cy="1188720"/>
          </a:xfrm>
          <a:prstGeom prst="rect">
            <a:avLst/>
          </a:prstGeom>
          <a:solidFill>
            <a:srgbClr val="FFFFFF"/>
          </a:solidFill>
          <a:ln w="254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520440" y="12801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Handling Missing Values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520440" y="16916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Impute or remove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309360" y="1097280"/>
            <a:ext cx="2560320" cy="1188720"/>
          </a:xfrm>
          <a:prstGeom prst="rect">
            <a:avLst/>
          </a:prstGeom>
          <a:solidFill>
            <a:srgbClr val="FFFFFF"/>
          </a:solidFill>
          <a:ln w="25400">
            <a:solidFill>
              <a:srgbClr val="02809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46520" y="12801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Outlier Detection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46520" y="16916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&amp; treat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743200"/>
            <a:ext cx="2560320" cy="1188720"/>
          </a:xfrm>
          <a:prstGeom prst="rect">
            <a:avLst/>
          </a:prstGeom>
          <a:solidFill>
            <a:srgbClr val="FFFFFF"/>
          </a:solidFill>
          <a:ln w="25400">
            <a:solidFill>
              <a:srgbClr val="02809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29260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Encoding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94360" y="33375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categorical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383280" y="2743200"/>
            <a:ext cx="2560320" cy="1188720"/>
          </a:xfrm>
          <a:prstGeom prst="rect">
            <a:avLst/>
          </a:prstGeom>
          <a:solidFill>
            <a:srgbClr val="FFFFFF"/>
          </a:solidFill>
          <a:ln w="25400">
            <a:solidFill>
              <a:srgbClr val="02809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520440" y="29260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Scaling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520440" y="33375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 features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309360" y="2743200"/>
            <a:ext cx="2560320" cy="1188720"/>
          </a:xfrm>
          <a:prstGeom prst="rect">
            <a:avLst/>
          </a:prstGeom>
          <a:solidFill>
            <a:srgbClr val="FFFFFF"/>
          </a:solidFill>
          <a:ln w="25400">
            <a:solidFill>
              <a:srgbClr val="02809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46520" y="29260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Balance Check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446520" y="33375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imbalance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Understanding Data Leakage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3931920" cy="3474720"/>
          </a:xfrm>
          <a:prstGeom prst="rect">
            <a:avLst/>
          </a:prstGeom>
          <a:solidFill>
            <a:srgbClr val="FFFFFF"/>
          </a:solidFill>
          <a:ln w="254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1051560"/>
            <a:ext cx="3657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Data Leakage?</a:t>
            </a:r>
            <a:endParaRPr lang="en-US" sz="1800" dirty="0"/>
          </a:p>
          <a:p>
            <a:pPr marL="0" indent="0">
              <a:buNone/>
            </a:pPr>
            <a:r>
              <a:rPr lang="en-US" sz="12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information from outside the training dataset is used to create the model, leading to overly optimistic performance.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6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of Leakage:</a:t>
            </a:r>
            <a:endParaRPr lang="en-US" sz="1800" dirty="0"/>
          </a:p>
          <a:p>
            <a:pPr marL="0" indent="0">
              <a:buNone/>
            </a:pPr>
            <a:r>
              <a:rPr lang="en-US" sz="11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Target Leakage</a:t>
            </a:r>
            <a:endParaRPr lang="en-US" sz="1800" dirty="0"/>
          </a:p>
          <a:p>
            <a:pPr marL="0" indent="0">
              <a:buNone/>
            </a:pPr>
            <a:r>
              <a:rPr lang="en-US" sz="11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Features that include data only available after the target is known</a:t>
            </a:r>
            <a:endParaRPr lang="en-US" sz="1800" dirty="0"/>
          </a:p>
          <a:p>
            <a:pPr marL="0" indent="0">
              <a:buNone/>
            </a:pPr>
            <a:r>
              <a:rPr lang="en-US" sz="11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Train-Test Contamination</a:t>
            </a:r>
            <a:endParaRPr lang="en-US" sz="1800" dirty="0"/>
          </a:p>
          <a:p>
            <a:pPr marL="0" indent="0">
              <a:buNone/>
            </a:pPr>
            <a:r>
              <a:rPr lang="en-US" sz="11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Test data influences training (e.g., scaling before split)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0" y="914400"/>
            <a:ext cx="4114800" cy="347472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6" name="Text 4"/>
          <p:cNvSpPr/>
          <p:nvPr/>
        </p:nvSpPr>
        <p:spPr>
          <a:xfrm>
            <a:off x="4709160" y="105156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Example: Preventing Leakage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709160" y="1508760"/>
            <a:ext cx="384048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C35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❌ WRONG: Scaling before split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F3C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scaler.fit(X)  # Uses test info!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F3C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X_train, X_test = split(X)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8A7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✅ CORRECT: Scale after split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F3C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X_train, X_test = split(X)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F3C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scaler.fit(X_train)  # Train only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F3C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X_train = scaler.transform(X_train)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F3C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X_test = scaler.transform(X_test)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Handling Missing Values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457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of Missing Data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1554480"/>
            <a:ext cx="41148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MCAR (Missing Completely at Random)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No pattern; safe to delete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MAR (Missing at Random)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Related to other variables; impute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MNAR (Missing Not at Random)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Systematic; needs careful handling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754880" y="109728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Imputation Techniques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754880" y="1554480"/>
            <a:ext cx="39319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Deletion: Remove rows/columns (&gt;30% missing)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Mean/Median: Numerical features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Mode: Categorical features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Forward/Backward Fill: Time series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KNN Imputation: Use similar records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Iterative Imputation: Predict missing values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Add Indicator: Flag missing values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Missing Values: Python Implementation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35661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051560"/>
            <a:ext cx="786384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F3C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pandas as pd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F3C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sklearn.impute import SimpleImputer, KNNImputer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C75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Check missing values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F3C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print(df.isnull().sum())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F3C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print(df.isnull().sum() / len(df) * 100)  # Percentage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C75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Method 1: Simple Imputation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F3C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imputer = SimpleImputer(strategy='mean')  # or 'median', 'most_frequent'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F3C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df[numerical_cols] = imputer.fit_transform(df[numerical_cols])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C75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Method 2: KNN Imputation (better for complex patterns)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F3C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knn_imputer = KNNImputer(n_neighbors=5)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F3C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df_imputed = knn_imputer.fit_transform(df[numerical_cols])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C75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Method 3: Drop rows with missing values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F3C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df_clean = df.dropna()  # Remove any row with missing value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F3C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df_clean = df.dropna(thresh=0.7*len(df.columns))  # Keep if 70% non-null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Outlier Detection &amp; Handling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3931920" cy="3566160"/>
          </a:xfrm>
          <a:prstGeom prst="rect">
            <a:avLst/>
          </a:prstGeom>
          <a:solidFill>
            <a:srgbClr val="FFFFFF"/>
          </a:solidFill>
          <a:ln w="25400">
            <a:solidFill>
              <a:srgbClr val="00A89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10515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Methods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94360" y="1463040"/>
            <a:ext cx="3657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Statistical Methods</a:t>
            </a: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• Z-Score: |z| &gt; 3</a:t>
            </a: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• IQR: Q1 - 1.5*IQR or Q3 + 1.5*IQR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Visual Methods</a:t>
            </a: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• Box plots</a:t>
            </a: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• Scatter plots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ML Methods</a:t>
            </a: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• Isolation Forest</a:t>
            </a: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• Local Outlier Factor (LOF)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754880" y="914400"/>
            <a:ext cx="3931920" cy="3566160"/>
          </a:xfrm>
          <a:prstGeom prst="rect">
            <a:avLst/>
          </a:prstGeom>
          <a:solidFill>
            <a:srgbClr val="FFFFFF"/>
          </a:solidFill>
          <a:ln w="25400">
            <a:solidFill>
              <a:srgbClr val="02C39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92040" y="10515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Handling Strategies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892040" y="1463040"/>
            <a:ext cx="3657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Remove</a:t>
            </a: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When: Clear errors, &lt;5% of data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Cap/Floor (Winsorization)</a:t>
            </a: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Replace with threshold values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Transform</a:t>
            </a: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Log, square root to reduce impact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Keep</a:t>
            </a: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When: Genuine extreme values</a:t>
            </a: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Use robust algorithms (tree-based)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Outlier Detection: Python Implementation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35661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051560"/>
            <a:ext cx="786384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F3C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numpy as np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F3C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scipy import stats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F3C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sklearn.ensemble import IsolationForest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C75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Method 1: Z-Score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F3C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z_scores = np.abs(stats.zscore(df['column']))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F3C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outliers = df[z_scores &gt; 3]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C75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Method 2: IQR Method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F3C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Q1 = df['column'].quantile(0.25)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F3C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Q3 = df['column'].quantile(0.75)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F3C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IQR = Q3 - Q1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F3C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lower_bound = Q1 - 1.5 * IQR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F3C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upper_bound = Q3 + 1.5 * IQR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F3C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df_clean = df[(df['column'] &gt;= lower_bound) &amp; (df['column'] &lt;= upper_bound)]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C75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Method 3: Isolation Forest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F3C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iso_forest = IsolationForest(contamination=0.1, random_state=42)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F3C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outliers = iso_forest.fit_predict(df[numerical_cols])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F3C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df_clean = df[outliers == 1]  # 1 = inliers, -1 = outliers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Handling Categorical Data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457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188720"/>
            <a:ext cx="2560320" cy="3017520"/>
          </a:xfrm>
          <a:prstGeom prst="rect">
            <a:avLst/>
          </a:prstGeom>
          <a:solidFill>
            <a:srgbClr val="FFFFFF"/>
          </a:solidFill>
          <a:ln w="25400">
            <a:solidFill>
              <a:srgbClr val="02809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188720"/>
            <a:ext cx="2560320" cy="4572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28016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Encoding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94360" y="1783080"/>
            <a:ext cx="22860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to use:</a:t>
            </a:r>
            <a:endParaRPr lang="en-US" sz="1100" dirty="0"/>
          </a:p>
          <a:p>
            <a:pPr marL="0" indent="0">
              <a:buNone/>
            </a:pPr>
            <a:r>
              <a:rPr lang="en-US" sz="10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Ordinal data with order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1100" dirty="0"/>
          </a:p>
          <a:p>
            <a:pPr marL="0" indent="0">
              <a:buNone/>
            </a:pPr>
            <a:r>
              <a:rPr lang="en-US" sz="1000" dirty="0">
                <a:solidFill>
                  <a:srgbClr val="2F3C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Low=0, Medium=1, High=2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000" dirty="0">
                <a:solidFill>
                  <a:srgbClr val="28A7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Simple, preserves order</a:t>
            </a:r>
            <a:endParaRPr lang="en-US" sz="1100" dirty="0"/>
          </a:p>
          <a:p>
            <a:pPr marL="0" indent="0">
              <a:buNone/>
            </a:pPr>
            <a:r>
              <a:rPr lang="en-US" sz="1000" dirty="0">
                <a:solidFill>
                  <a:srgbClr val="DC3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Implies magnitude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383280" y="1188720"/>
            <a:ext cx="2560320" cy="3017520"/>
          </a:xfrm>
          <a:prstGeom prst="rect">
            <a:avLst/>
          </a:prstGeom>
          <a:solidFill>
            <a:srgbClr val="FFFFFF"/>
          </a:solidFill>
          <a:ln w="25400">
            <a:solidFill>
              <a:srgbClr val="02809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383280" y="1188720"/>
            <a:ext cx="2560320" cy="4572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0" name="Text 8"/>
          <p:cNvSpPr/>
          <p:nvPr/>
        </p:nvSpPr>
        <p:spPr>
          <a:xfrm>
            <a:off x="3474720" y="128016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One-Hot Encoding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520440" y="1783080"/>
            <a:ext cx="22860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to use:</a:t>
            </a:r>
            <a:endParaRPr lang="en-US" sz="1100" dirty="0"/>
          </a:p>
          <a:p>
            <a:pPr marL="0" indent="0">
              <a:buNone/>
            </a:pPr>
            <a:r>
              <a:rPr lang="en-US" sz="10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Nominal data, few categories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1100" dirty="0"/>
          </a:p>
          <a:p>
            <a:pPr marL="0" indent="0">
              <a:buNone/>
            </a:pPr>
            <a:r>
              <a:rPr lang="en-US" sz="1000" dirty="0">
                <a:solidFill>
                  <a:srgbClr val="2F3C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Color: [0,1,0] for Red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000" dirty="0">
                <a:solidFill>
                  <a:srgbClr val="28A7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 false relationships</a:t>
            </a:r>
            <a:endParaRPr lang="en-US" sz="1100" dirty="0"/>
          </a:p>
          <a:p>
            <a:pPr marL="0" indent="0">
              <a:buNone/>
            </a:pPr>
            <a:r>
              <a:rPr lang="en-US" sz="1000" dirty="0">
                <a:solidFill>
                  <a:srgbClr val="DC3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High dimensionality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309360" y="1188720"/>
            <a:ext cx="2560320" cy="3017520"/>
          </a:xfrm>
          <a:prstGeom prst="rect">
            <a:avLst/>
          </a:prstGeom>
          <a:solidFill>
            <a:srgbClr val="FFFFFF"/>
          </a:solidFill>
          <a:ln w="25400">
            <a:solidFill>
              <a:srgbClr val="02809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309360" y="1188720"/>
            <a:ext cx="2560320" cy="4572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0" y="128016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Encoding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46520" y="1783080"/>
            <a:ext cx="22860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to use:</a:t>
            </a:r>
            <a:endParaRPr lang="en-US" sz="1100" dirty="0"/>
          </a:p>
          <a:p>
            <a:pPr marL="0" indent="0">
              <a:buNone/>
            </a:pPr>
            <a:r>
              <a:rPr lang="en-US" sz="10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cardinality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1100" dirty="0"/>
          </a:p>
          <a:p>
            <a:pPr marL="0" indent="0">
              <a:buNone/>
            </a:pPr>
            <a:r>
              <a:rPr lang="en-US" sz="1000" dirty="0">
                <a:solidFill>
                  <a:srgbClr val="2F3C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Mean of target per category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000" dirty="0">
                <a:solidFill>
                  <a:srgbClr val="28A7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Reduces dimensions</a:t>
            </a:r>
            <a:endParaRPr lang="en-US" sz="1100" dirty="0"/>
          </a:p>
          <a:p>
            <a:pPr marL="0" indent="0">
              <a:buNone/>
            </a:pPr>
            <a:r>
              <a:rPr lang="en-US" sz="1000" dirty="0">
                <a:solidFill>
                  <a:srgbClr val="DC3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Risk of overfitting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Categorical Encoding: Python Implementation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35661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051560"/>
            <a:ext cx="786384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F3C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sklearn.preprocessing import LabelEncoder, OneHotEncoder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F3C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category_encoders as ce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C75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Method 1: Label Encoding (for ordinal data)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F3C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 = LabelEncoder()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F3C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df['education_encoded'] = le.fit_transform(df['education'])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C75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Method 2: One-Hot Encoding (for nominal data)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F3C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df_encoded = pd.get_dummies(df, columns=['color', 'city'], drop_first=True)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C75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Or using sklearn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F3C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ohe = OneHotEncoder(sparse=False, drop='first')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F3C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encoded = ohe.fit_transform(df[['color']])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C75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Method 3: Target Encoding (for high cardinality)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F3C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encoder = ce.TargetEncoder(cols=['zip_code'])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F3C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df['zip_encoded'] = encoder.fit_transform(df['zip_code'], df['target'])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C75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Method 4: Frequency Encoding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F3C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freq_map = df['category'].value_counts(normalize=True).to_dict()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F3C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df['category_freq'] = df['category'].map(freq_map)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Feature Scaling &amp; Normalization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3931920" cy="2103120"/>
          </a:xfrm>
          <a:prstGeom prst="rect">
            <a:avLst/>
          </a:prstGeom>
          <a:solidFill>
            <a:srgbClr val="FFFFFF"/>
          </a:solidFill>
          <a:ln w="254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10515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Scale Features?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94360" y="1463040"/>
            <a:ext cx="3657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Features have different units and ranges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(e.g., Age: 20-80, Income: 20k-200k)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Distance-based algorithms affected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(KNN, SVM, Neural Networks)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Gradient descent converges faster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Prevents features from dominating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754880" y="914400"/>
            <a:ext cx="3931920" cy="2103120"/>
          </a:xfrm>
          <a:prstGeom prst="rect">
            <a:avLst/>
          </a:prstGeom>
          <a:solidFill>
            <a:srgbClr val="FFFFFF"/>
          </a:solidFill>
          <a:ln w="25400">
            <a:solidFill>
              <a:srgbClr val="DC354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92040" y="10515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C3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NOT to Scale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892040" y="1463040"/>
            <a:ext cx="3657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Tree-based models (Random Forest, XGBoost)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Split based on thresholds, not distances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Naive Bayes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Assumes feature independence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When interpretability matters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Original scale easier to explain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3212926"/>
            <a:ext cx="8229600" cy="118872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IN" dirty="0"/>
          </a:p>
        </p:txBody>
      </p:sp>
      <p:sp>
        <p:nvSpPr>
          <p:cNvPr id="10" name="Text 8"/>
          <p:cNvSpPr/>
          <p:nvPr/>
        </p:nvSpPr>
        <p:spPr>
          <a:xfrm>
            <a:off x="594360" y="3337560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Scaling Methods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94360" y="3703320"/>
            <a:ext cx="7955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StandardScaler: (x - mean) / std → Mean=0, Std=1 | Use: Normally distributed, sensitive to outliers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MinMaxScaler: (x - min) / (max - min) → Range [0,1] | Use: Bounded range, neural networks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RobustScaler: (x - median) / IQR → Robust to outliers | Use: Data with outliers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Feature Scaling: Python Implementation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35661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051560"/>
            <a:ext cx="786384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F3C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sklearn.preprocessing import StandardScaler, MinMaxScaler, RobustScaler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F3C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sklearn.model_selection import train_test_split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C35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Split first to avoid data leakage!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F3C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X_train, X_test, y_train, y_test = train_test_split(X, y, test_size=0.2)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C75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Method 1: StandardScaler (Z-score normalization)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F3C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scaler = StandardScaler()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F3C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X_train_scaled = scaler.fit_transform(X_train)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F3C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X_test_scaled = scaler.transform(X_test)  # Use same scaler, no fit!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C75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Method 2: MinMaxScaler (0-1 range)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F3C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minmax = MinMaxScaler(feature_range=(0, 1))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F3C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X_train_minmax = minmax.fit_transform(X_train)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C75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Method 3: RobustScaler (for outliers)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F3C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robust = RobustScaler()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F3C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X_train_robust = robust.fit_transform(X_train)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C75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Log transformation for skewed data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F3C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X_log = np.log1p(X)  # log(1+x) to handle zeros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Handling Class Imbalance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3931920" cy="3566160"/>
          </a:xfrm>
          <a:prstGeom prst="rect">
            <a:avLst/>
          </a:prstGeom>
          <a:solidFill>
            <a:srgbClr val="FFFFFF"/>
          </a:solidFill>
          <a:ln w="254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10515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94360" y="1463040"/>
            <a:ext cx="365760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one class heavily outnumbers others: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Fraud detection: 99% legitimate, 1% fraud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Disease diagnosis: 95% healthy, 5% sick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3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Consequences: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Model biased toward majority class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High accuracy but poor recall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Minority class predictions ignored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3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Detection: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class distribution:</a:t>
            </a:r>
            <a:endParaRPr lang="en-US" sz="1200" dirty="0"/>
          </a:p>
          <a:p>
            <a:pPr marL="0" indent="0">
              <a:buNone/>
            </a:pPr>
            <a:r>
              <a:rPr lang="en-US" sz="1000" dirty="0">
                <a:solidFill>
                  <a:srgbClr val="2F3C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y.value_counts(normalize=True)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754880" y="914400"/>
            <a:ext cx="3931920" cy="3566160"/>
          </a:xfrm>
          <a:prstGeom prst="rect">
            <a:avLst/>
          </a:prstGeom>
          <a:solidFill>
            <a:srgbClr val="FFFFFF"/>
          </a:solidFill>
          <a:ln w="25400">
            <a:solidFill>
              <a:srgbClr val="02C39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92040" y="10515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Techniques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892040" y="1463040"/>
            <a:ext cx="365760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Resampling</a:t>
            </a: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• Oversampling: Add minority samples (SMOTE)</a:t>
            </a: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• Undersampling: Remove majority samples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Class Weights</a:t>
            </a: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Penalize misclassification of minority class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Ensemble Methods</a:t>
            </a: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Balanced Random Forest, EasyEnsemble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Evaluation Metrics</a:t>
            </a: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Use Precision, Recall, F1, ROC-AUC</a:t>
            </a: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rgbClr val="DC3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NOT just accuracy!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Class Imbalance: Python Implementation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35661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051560"/>
            <a:ext cx="786384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F3C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imblearn.over_sampling import SMOTE, RandomOverSampler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F3C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imblearn.under_sampling import RandomUnderSampler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F3C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sklearn.ensemble import RandomForestClassifier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C75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Method 1: SMOTE (Synthetic Minority Over-sampling)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F3C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smote = SMOTE(random_state=42)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F3C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X_resampled, y_resampled = smote.fit_resample(X_train, y_train)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C75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Method 2: Random Under-sampling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F3C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undersample = RandomUnderSampler(random_state=42)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F3C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X_under, y_under = undersample.fit_resample(X_train, y_train)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C75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Method 3: Class Weights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F3C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 = RandomForestClassifier(class_weight='balanced', random_state=42)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F3C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model.fit(X_train, y_train)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C75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Method 4: Combination (SMOTE + Undersampling)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F3C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imblearn.combine import SMOTETomek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F3C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smt = SMOTETomek(random_state=42)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F3C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X_balanced, y_balanced = smt.fit_resample(X_train, y_train)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Complete Preprocessing Workflow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356616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051560"/>
            <a:ext cx="786384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Step 1: Load and explore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F3C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 = pd.read_csv('data.csv')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F3C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print(df.info(), df.describe(), df.isnull().sum())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Step 2: Handle missing values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F3C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imputer = SimpleImputer(strategy='median')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F3C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df[numerical_cols] = imputer.fit_transform(df[numerical_cols])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Step 3: Remove outliers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F3C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Q1, Q3 = df['price'].quantile([0.25, 0.75])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F3C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IQR = Q3 - Q1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F3C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 = df[(df['price'] &gt;= Q1-1.5*IQR) &amp; (df['price'] &lt;= Q3+1.5*IQR)]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Step 4: Encode categorical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F3C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df_encoded = pd.get_dummies(df, columns=['category'], drop_first=True)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Step 5: Split BEFORE scaling (prevent leakage)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F3C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X_train, X_test, y_train, y_test = train_test_split(X, y, test_size=0.2)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Step 6: Scale features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F3C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scaler = StandardScaler()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F3C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X_train_scaled = scaler.fit_transform(X_train)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F3C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X_test_scaled = scaler.transform(X_test)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Step 7: Handle imbalance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F3C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smote = SMOTE()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F3C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X_train_balanced, y_train_balanced = smote.fit_resample(X_train_scaled, y_train)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Best Practices &amp; Key Takeaways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3931920" cy="3566160"/>
          </a:xfrm>
          <a:prstGeom prst="rect">
            <a:avLst/>
          </a:prstGeom>
          <a:solidFill>
            <a:srgbClr val="FFFFFF"/>
          </a:solidFill>
          <a:ln w="254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10515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8A7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Do's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94360" y="1508760"/>
            <a:ext cx="365760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Always explore data first (EDA)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Split data BEFORE scaling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Document preprocessing steps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Use pipelines for reproducibility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Validate on separate test set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Save fitted scalers/encoders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Check data distribution after preprocessing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Use appropriate metrics for imbalanced data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754880" y="914400"/>
            <a:ext cx="3931920" cy="3566160"/>
          </a:xfrm>
          <a:prstGeom prst="rect">
            <a:avLst/>
          </a:prstGeom>
          <a:solidFill>
            <a:srgbClr val="FFFFFF"/>
          </a:solidFill>
          <a:ln w="25400">
            <a:solidFill>
              <a:srgbClr val="DC354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92040" y="10515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C3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Don'ts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892040" y="1508760"/>
            <a:ext cx="365760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Don't scale before train-test split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Don't remove outliers blindly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Don't use mean imputation for MNAR data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Don't use Label Encoding for nominal data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Don't ignore class imbalance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Don't forget to scale new data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Don't rely solely on accuracy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Don't preprocess without understanding data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Summary</a:t>
            </a:r>
            <a:endParaRPr lang="en-US" sz="4200" dirty="0"/>
          </a:p>
        </p:txBody>
      </p:sp>
      <p:sp>
        <p:nvSpPr>
          <p:cNvPr id="3" name="Shape 1"/>
          <p:cNvSpPr/>
          <p:nvPr/>
        </p:nvSpPr>
        <p:spPr>
          <a:xfrm>
            <a:off x="3200400" y="1737360"/>
            <a:ext cx="2743200" cy="4572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920240"/>
            <a:ext cx="8229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preprocessing is the foundation of successful ML projects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Steps:</a:t>
            </a:r>
            <a:endParaRPr lang="en-US" sz="16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Missing Values → Detect Outliers → Encode Categoricals → Scale Features → Balance Classes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Remember: Prevent data leakage, use pipelines, and choose techniques based on your data!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42976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i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5084</TotalTime>
  <Words>2292</Words>
  <Application>Microsoft Office PowerPoint</Application>
  <PresentationFormat>On-screen Show (16:9)</PresentationFormat>
  <Paragraphs>338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Arial</vt:lpstr>
      <vt:lpstr>Arial Black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Preprocessing - Complete Guide</dc:title>
  <dc:subject>PptxGenJS Presentation</dc:subject>
  <dc:creator>Data Science Instructor</dc:creator>
  <cp:lastModifiedBy>Dimple Nagpal</cp:lastModifiedBy>
  <cp:revision>3</cp:revision>
  <dcterms:created xsi:type="dcterms:W3CDTF">2026-01-28T07:35:22Z</dcterms:created>
  <dcterms:modified xsi:type="dcterms:W3CDTF">2026-02-12T03:41:09Z</dcterms:modified>
</cp:coreProperties>
</file>