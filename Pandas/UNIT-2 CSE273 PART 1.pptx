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77" r:id="rId13"/>
    <p:sldId id="278" r:id="rId14"/>
    <p:sldId id="270" r:id="rId15"/>
    <p:sldId id="271" r:id="rId16"/>
    <p:sldId id="272" r:id="rId17"/>
    <p:sldId id="279" r:id="rId18"/>
    <p:sldId id="273" r:id="rId19"/>
    <p:sldId id="274" r:id="rId20"/>
    <p:sldId id="280" r:id="rId21"/>
    <p:sldId id="275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C691-B71C-B16F-740B-C6B046C73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22FCD-5E7D-96D3-71DB-C7E045370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009-43D1-D6AD-119F-A339769A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12803-8D56-E371-B9E1-EC32FBC6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5DD64-164B-EA17-6F97-4803C741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87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E1A03-6B61-27EE-0C82-6E9C3D65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9076-7A3B-32FA-D8EF-C90333D6E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05F62-30A1-F0B4-13C7-7666FC5B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E27E9-8FAE-20A4-C877-5573E32C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D7B3B-939B-F301-F7F0-64D21C95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67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85D3-E979-860C-2F1E-B8E11B91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3B8D-F5BC-BD4D-9243-6F6C76B32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5DD49-B07A-01CE-7F9B-E37EFEB0D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FAD08-C2E2-3503-83F8-FC0E732B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9EB1E-6E27-5F09-DFC2-2C31020B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01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9FB8-160D-B437-3D56-7C0B26EF9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DA7B-1DE9-BD86-B305-F7AE2C176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776D2-CBEF-2C07-AD67-1B229468B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4306-76DC-D7DC-11AE-02027710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909CB-F9CB-8864-D91A-39064BE35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ED193-683D-E43D-0084-923945898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23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6E66-3487-9F6E-0265-9E3DD28B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A744D-8F1B-0D69-A086-86CB04F88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24857-DE0D-D8E4-19EC-2A93D6754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A62F6-F08A-21FF-9C8A-959A63415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93D43-6362-4763-21A0-29448A935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A50AD-0F74-3D5A-A54C-C3B11E753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3A0773-0C25-C7B5-0A0B-166D76EF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A8785-D608-7935-1F55-D1644A3A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33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52F0-DEFA-0B9A-615C-0C9E7C50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5B510-2B5D-15F3-CBFB-C009829E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7A4D2-5E62-8FCC-416C-ECBBD109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7B2DB-6659-DC9E-F97A-9A45B23D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74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9B511-DDCB-FB63-2E90-BCB9D288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9D4CF-595E-AF33-CBDD-8F8F51CD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BD0C4-3AE9-B7C7-E9CF-426F4814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27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5E5B-C46D-9F50-D314-346905DC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AA220-EC5D-3270-C106-1EEF08B07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DDE5B-FCCD-4F7C-36D6-39D2DFC81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48E22-179D-033C-3A2B-9B682911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5E20D-538E-5776-1602-583BDAEE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5A090-A818-C5C2-D712-BFC1681E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44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40FA-75AB-C49C-0F20-03FF8A9D9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EB998-334B-8EA3-E13B-167229948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F47D7-F45F-56F7-A1EF-29523CBD9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B9B6F-AD1C-4E20-36CB-3E457637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C834D-4379-EFAE-A7CA-89993618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29619-36FB-44B7-03A4-B71AB2B1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95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5A9C-F4B7-A9BD-1328-E6EC865C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A93B2-7576-03F0-613E-7DC89651E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7A46-8285-ECAC-097E-970291F1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C08FE-BC8A-790E-B4DB-4DE6FB6B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77AC5-8E25-5655-C41A-50E2851A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2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F56BF5-8187-EA56-2DE7-5FBE83285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9AB51-708E-5062-4985-A040FEA19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B914B-87DF-08E9-CE24-6EE1986B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8F0BF-87D2-C9A9-A891-D8159EC9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E34E8-ACBD-8677-4D3A-55C3662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79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2DAE5-E63B-ED1F-ECAF-F154E4098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A1D73-27A7-7E69-099E-F183B75C6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53A1A-9DCF-695C-9011-6A0B267EE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EB34D-70E4-42F3-B80C-AFFB83C1827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C3B9-8622-B352-296B-74DFC14FD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BD412-84B2-ACEF-E6D6-C8DF03F96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72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D572-1E62-C362-6FF6-C38D82E9B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F1E4F-B5EF-1634-7C52-4A395C843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for Data Handling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0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E5C17-0FAC-A218-4AA7-2B5ABA8C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Pandas?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27AFB-273E-0063-82AA-E8CA9FC06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Open‑source Python library for data manipulation and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top of NumPy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fast, flexible, and expressive data structures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Data Science, Machine Learning, and Analytics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29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E98A-F35B-3477-B13D-5C8E7A6DF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Pandas?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1FB4E-9594-4692-4DD1-6AE897EA7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structured data efficiently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data cleaning and preparation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well with visualization and ML libraries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081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>
                <a:latin typeface="Times New Roman"/>
              </a:rPr>
              <a:t>Pandas vs NumPy</a:t>
            </a:r>
            <a:r>
              <a:rPr lang="en-IN" sz="2800" b="1" dirty="0">
                <a:latin typeface="Times New Roman"/>
              </a:rPr>
              <a:t>:</a:t>
            </a:r>
            <a:endParaRPr sz="28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latin typeface="Times New Roman"/>
              </a:rPr>
              <a:t>- NumPy focuses on numerical computation using arrays</a:t>
            </a:r>
          </a:p>
          <a:p>
            <a:pPr marL="0" indent="0">
              <a:buNone/>
            </a:pPr>
            <a:r>
              <a:rPr dirty="0">
                <a:latin typeface="Times New Roman"/>
              </a:rPr>
              <a:t>- Pandas focuses on data handling and analysis</a:t>
            </a:r>
          </a:p>
          <a:p>
            <a:pPr marL="0" indent="0">
              <a:buNone/>
            </a:pPr>
            <a:r>
              <a:rPr dirty="0">
                <a:latin typeface="Times New Roman"/>
              </a:rPr>
              <a:t>- Pandas supports heterogeneous data and missing values</a:t>
            </a:r>
          </a:p>
          <a:p>
            <a:pPr marL="0" indent="0">
              <a:buNone/>
            </a:pPr>
            <a:r>
              <a:rPr dirty="0">
                <a:latin typeface="Times New Roman"/>
              </a:rPr>
              <a:t>- Pandas provides rich file I/O (CSV, Excel, SQL)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>
                <a:latin typeface="Times New Roman"/>
              </a:rPr>
              <a:t>Pandas Series</a:t>
            </a:r>
            <a:r>
              <a:rPr lang="en-IN" sz="2800" b="1" dirty="0">
                <a:latin typeface="Times New Roman"/>
              </a:rPr>
              <a:t>:</a:t>
            </a:r>
            <a:endParaRPr sz="28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Times New Roman"/>
              </a:rPr>
              <a:t>- One-dimensional labeled data structure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Each element has an index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Can store numeric or non-numeric data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Useful for single-column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>
                <a:latin typeface="Times New Roman"/>
              </a:rPr>
              <a:t>Creating a Pandas Series</a:t>
            </a:r>
            <a:r>
              <a:rPr lang="en-IN" sz="2800" b="1" dirty="0">
                <a:latin typeface="Times New Roman"/>
              </a:rPr>
              <a:t>:</a:t>
            </a:r>
            <a:endParaRPr sz="2800" b="1" dirty="0">
              <a:latin typeface="Times New Roman"/>
            </a:endParaRPr>
          </a:p>
        </p:txBody>
      </p:sp>
      <p:pic>
        <p:nvPicPr>
          <p:cNvPr id="3" name="Picture 2" descr="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0" y="1645920"/>
            <a:ext cx="7772400" cy="3627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6779"/>
          </a:xfrm>
        </p:spPr>
        <p:txBody>
          <a:bodyPr/>
          <a:lstStyle/>
          <a:p>
            <a:pPr algn="ctr"/>
            <a:r>
              <a:rPr sz="2800" b="1" dirty="0">
                <a:latin typeface="Times New Roman"/>
              </a:rPr>
              <a:t>Pandas </a:t>
            </a:r>
            <a:r>
              <a:rPr sz="2800" b="1" dirty="0" err="1">
                <a:latin typeface="Times New Roman"/>
              </a:rPr>
              <a:t>DataFrame</a:t>
            </a:r>
            <a:r>
              <a:rPr lang="en-IN" sz="2800" b="1" dirty="0">
                <a:latin typeface="Times New Roman"/>
              </a:rPr>
              <a:t>:</a:t>
            </a:r>
            <a:endParaRPr sz="28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190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Times New Roman"/>
              </a:rPr>
              <a:t>- Two-dimensional tabular data structure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Rows represent observations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Columns represent features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Can store multiple data types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>
                <a:latin typeface="Times New Roman"/>
              </a:rPr>
              <a:t>Creating a Pandas </a:t>
            </a:r>
            <a:r>
              <a:rPr sz="2800" b="1" dirty="0" err="1">
                <a:latin typeface="Times New Roman"/>
              </a:rPr>
              <a:t>DataFrame</a:t>
            </a:r>
            <a:r>
              <a:rPr lang="en-IN" sz="2800" b="1" dirty="0">
                <a:latin typeface="Times New Roman"/>
              </a:rPr>
              <a:t>:</a:t>
            </a:r>
            <a:endParaRPr sz="2800" b="1" dirty="0">
              <a:latin typeface="Times New Roman"/>
            </a:endParaRPr>
          </a:p>
        </p:txBody>
      </p:sp>
      <p:pic>
        <p:nvPicPr>
          <p:cNvPr id="3" name="Picture 2" descr="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0" y="1645920"/>
            <a:ext cx="7772400" cy="3627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>
                <a:latin typeface="Times New Roman"/>
              </a:rPr>
              <a:t>Reading CSV Files</a:t>
            </a:r>
            <a:r>
              <a:rPr lang="en-IN" sz="2800" b="1" dirty="0">
                <a:latin typeface="Times New Roman"/>
              </a:rPr>
              <a:t>:</a:t>
            </a:r>
            <a:endParaRPr sz="28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Times New Roman"/>
              </a:rPr>
              <a:t>- CSV is a common data storage format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Pandas provides </a:t>
            </a:r>
            <a:r>
              <a:rPr sz="2400" dirty="0" err="1">
                <a:latin typeface="Times New Roman"/>
              </a:rPr>
              <a:t>read_csv</a:t>
            </a:r>
            <a:r>
              <a:rPr sz="2400" dirty="0">
                <a:latin typeface="Times New Roman"/>
              </a:rPr>
              <a:t>() function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Automatically creates a </a:t>
            </a:r>
            <a:r>
              <a:rPr sz="2400" dirty="0" err="1">
                <a:latin typeface="Times New Roman"/>
              </a:rPr>
              <a:t>DataFrame</a:t>
            </a:r>
            <a:endParaRPr sz="2400" dirty="0">
              <a:latin typeface="Times New Roman"/>
            </a:endParaRPr>
          </a:p>
        </p:txBody>
      </p:sp>
      <p:pic>
        <p:nvPicPr>
          <p:cNvPr id="4" name="Picture 3" descr="readc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851" y="3586163"/>
            <a:ext cx="777240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>
                <a:latin typeface="Times New Roman"/>
              </a:rPr>
              <a:t>Writing CSV Files</a:t>
            </a:r>
            <a:r>
              <a:rPr lang="en-IN" sz="2800" b="1" dirty="0">
                <a:latin typeface="Times New Roman"/>
              </a:rPr>
              <a:t>:</a:t>
            </a:r>
            <a:endParaRPr sz="28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Processed data can be saved to CSV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Useful for reporting and reuse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Controlled using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to_csv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index=False?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writing row index as an extra column</a:t>
            </a: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writec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529" y="4152900"/>
            <a:ext cx="7772400" cy="2159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>
                <a:latin typeface="Times New Roman"/>
              </a:rPr>
              <a:t>Inspecting Datasets</a:t>
            </a:r>
            <a:r>
              <a:rPr lang="en-IN" sz="2800" b="1" dirty="0">
                <a:latin typeface="Times New Roman"/>
              </a:rPr>
              <a:t>:</a:t>
            </a:r>
            <a:endParaRPr sz="28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Times New Roman"/>
              </a:rPr>
              <a:t>- Understand structure and quality of data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Identify missing values and data types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Decide preprocessing steps</a:t>
            </a:r>
          </a:p>
        </p:txBody>
      </p:sp>
      <p:pic>
        <p:nvPicPr>
          <p:cNvPr id="4" name="Picture 3" descr="insp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29000"/>
            <a:ext cx="777240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5D85-94D1-AF5E-231F-65C07FEB7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Inspecting Dataset – Basic Methods: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785F8-1151-5FD8-2C3D-05D4B6883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inspection functions: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head() – First few rows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tail() – Last few rows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info() – Structure and data types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describe() – Statistical summary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689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2B2C-A9D0-722D-337C-ED034B311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Dataset Shape and Columns: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A00E9-B971-B832-E55A-3DA498E34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– Number of rows and columns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 – Column names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– Row labels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dataset size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feature selection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dimension mismatch errors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634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>
                <a:latin typeface="Times New Roman"/>
              </a:rPr>
              <a:t>Selecting Data</a:t>
            </a:r>
            <a:r>
              <a:rPr lang="en-IN" sz="2800" b="1" dirty="0">
                <a:latin typeface="Times New Roman"/>
              </a:rPr>
              <a:t>:</a:t>
            </a:r>
            <a:endParaRPr sz="28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Times New Roman"/>
              </a:rPr>
              <a:t>- Select specific columns or rows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Useful for feature selection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Reduces data complexity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>
                <a:latin typeface="Times New Roman"/>
              </a:rPr>
              <a:t>Selecting Columns</a:t>
            </a:r>
            <a:r>
              <a:rPr lang="en-IN" sz="2800" b="1" dirty="0">
                <a:latin typeface="Times New Roman"/>
              </a:rPr>
              <a:t>:</a:t>
            </a:r>
            <a:endParaRPr sz="2800" b="1" dirty="0">
              <a:latin typeface="Times New Roman"/>
            </a:endParaRPr>
          </a:p>
        </p:txBody>
      </p:sp>
      <p:pic>
        <p:nvPicPr>
          <p:cNvPr id="3" name="Picture 2" descr="select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0" y="1645920"/>
            <a:ext cx="7772400" cy="2245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F3D143-F4A7-E536-E077-D94A90CC8E66}"/>
              </a:ext>
            </a:extLst>
          </p:cNvPr>
          <p:cNvSpPr txBox="1"/>
          <p:nvPr/>
        </p:nvSpPr>
        <p:spPr>
          <a:xfrm>
            <a:off x="1229967" y="4111631"/>
            <a:ext cx="60976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column selection → returns Series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column selection → returns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Use Cases: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 selection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>
                <a:latin typeface="Times New Roman"/>
              </a:rPr>
              <a:t>Selecting Rows using loc &amp; </a:t>
            </a:r>
            <a:r>
              <a:rPr sz="2800" b="1" dirty="0" err="1">
                <a:latin typeface="Times New Roman"/>
              </a:rPr>
              <a:t>iloc</a:t>
            </a:r>
            <a:r>
              <a:rPr lang="en-IN" sz="2800" b="1" dirty="0">
                <a:latin typeface="Times New Roman"/>
              </a:rPr>
              <a:t>:</a:t>
            </a:r>
            <a:endParaRPr sz="2800" b="1" dirty="0"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635274-E199-C9E9-F91E-7FE0E14BB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313" y="1700627"/>
            <a:ext cx="4115374" cy="172426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8C50-1B36-B30F-B8E3-FB17E467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 vs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FAD20-207B-4AAD-99EA-B4ADC15A0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Label‑based indexing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both start and end labels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Integer‑based indexing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index is excluded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843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b="1" dirty="0">
                <a:latin typeface="Times New Roman"/>
              </a:rPr>
              <a:t>Filtering Data</a:t>
            </a:r>
            <a:r>
              <a:rPr lang="en-IN" sz="2800" b="1" dirty="0">
                <a:latin typeface="Times New Roman"/>
              </a:rPr>
              <a:t>:</a:t>
            </a:r>
            <a:endParaRPr sz="28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Times New Roman"/>
              </a:rPr>
              <a:t>- Select rows based on conditions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Helps focus on relevant data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Improves analysis accuracy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 dirty="0">
                <a:latin typeface="Times New Roman"/>
              </a:rPr>
              <a:t>Filtering Data Using Conditions</a:t>
            </a:r>
            <a:r>
              <a:rPr lang="en-IN" sz="2800" b="1" dirty="0">
                <a:latin typeface="Times New Roman"/>
              </a:rPr>
              <a:t>:</a:t>
            </a:r>
            <a:endParaRPr sz="2800" b="1" dirty="0">
              <a:latin typeface="Times New Roman"/>
            </a:endParaRPr>
          </a:p>
        </p:txBody>
      </p:sp>
      <p:pic>
        <p:nvPicPr>
          <p:cNvPr id="3" name="Picture 2" descr="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0" y="1645920"/>
            <a:ext cx="7772400" cy="224536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1E3671A-0EC7-267A-3B01-E787D236F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314" y="4295650"/>
            <a:ext cx="62456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 creates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mask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rows satisfying the condition are selected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EBC1-343C-BEDE-FE0C-2B7F44DE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with Multiple Conditions: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A6B12-3F7C-DD4B-06C4-ADEA6998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conditions using: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(&amp;)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(|)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74FC93-39B7-3459-915D-795A7B9E8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81" y="3273001"/>
            <a:ext cx="5001323" cy="3038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C294C9-6C39-D6FF-0847-EB59D70ED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523" y="4411397"/>
            <a:ext cx="5963482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989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latin typeface="Times New Roman"/>
              </a:rP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Times New Roman"/>
              </a:rPr>
              <a:t>- Always inspect data before analysis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Handle missing values carefully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Use meaningful column names</a:t>
            </a:r>
          </a:p>
          <a:p>
            <a:pPr marL="0" indent="0">
              <a:buNone/>
            </a:pPr>
            <a:r>
              <a:rPr sz="2400" dirty="0">
                <a:latin typeface="Times New Roman"/>
              </a:rPr>
              <a:t>- Validate filtered results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9DB3E6AD-7ECC-923A-63CD-ECDCB708B7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278479"/>
              </p:ext>
            </p:extLst>
          </p:nvPr>
        </p:nvGraphicFramePr>
        <p:xfrm>
          <a:off x="838200" y="2331720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96851506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7201403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3174447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0559958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3289034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454738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Color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Crop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Yield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8344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754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Mumbai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Wheat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030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Delhi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212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Chandigarh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759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Mumbai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Wheat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80558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7A740C0-FBD2-CCE8-8BD7-2D79E582F1C6}"/>
              </a:ext>
            </a:extLst>
          </p:cNvPr>
          <p:cNvSpPr txBox="1"/>
          <p:nvPr/>
        </p:nvSpPr>
        <p:spPr>
          <a:xfrm>
            <a:off x="3319669" y="854765"/>
            <a:ext cx="7185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this:</a:t>
            </a:r>
          </a:p>
        </p:txBody>
      </p:sp>
    </p:spTree>
    <p:extLst>
      <p:ext uri="{BB962C8B-B14F-4D97-AF65-F5344CB8AC3E}">
        <p14:creationId xmlns:p14="http://schemas.microsoft.com/office/powerpoint/2010/main" val="693866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505</Words>
  <Application>Microsoft Office PowerPoint</Application>
  <PresentationFormat>Widescreen</PresentationFormat>
  <Paragraphs>127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UNIT-2</vt:lpstr>
      <vt:lpstr>What is Pandas?</vt:lpstr>
      <vt:lpstr>Why Pandas?</vt:lpstr>
      <vt:lpstr>Pandas vs NumPy:</vt:lpstr>
      <vt:lpstr>Pandas Series:</vt:lpstr>
      <vt:lpstr>Creating a Pandas Series:</vt:lpstr>
      <vt:lpstr>Pandas DataFrame:</vt:lpstr>
      <vt:lpstr>Creating a Pandas DataFrame:</vt:lpstr>
      <vt:lpstr>Reading CSV Files:</vt:lpstr>
      <vt:lpstr>Writing CSV Files:</vt:lpstr>
      <vt:lpstr>Inspecting Datasets:</vt:lpstr>
      <vt:lpstr>Inspecting Dataset – Basic Methods:</vt:lpstr>
      <vt:lpstr>Understanding Dataset Shape and Columns:</vt:lpstr>
      <vt:lpstr>Selecting Data:</vt:lpstr>
      <vt:lpstr>Selecting Columns:</vt:lpstr>
      <vt:lpstr>Selecting Rows using loc &amp; iloc:</vt:lpstr>
      <vt:lpstr>loc vs iloc:</vt:lpstr>
      <vt:lpstr>Filtering Data:</vt:lpstr>
      <vt:lpstr>Filtering Data Using Conditions:</vt:lpstr>
      <vt:lpstr>Filtering with Multiple Conditions:</vt:lpstr>
      <vt:lpstr>Best Practices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Ramanjot Kaur</dc:creator>
  <cp:lastModifiedBy>Ramanjot Kaur</cp:lastModifiedBy>
  <cp:revision>59</cp:revision>
  <dcterms:created xsi:type="dcterms:W3CDTF">2026-02-03T03:25:19Z</dcterms:created>
  <dcterms:modified xsi:type="dcterms:W3CDTF">2026-02-11T10:45:21Z</dcterms:modified>
</cp:coreProperties>
</file>