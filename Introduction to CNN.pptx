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gif" ContentType="image/gif"/>
  <Default Extension="rels" ContentType="application/vnd.openxmlformats-package.relationships+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5"/>
  </p:notesMasterIdLst>
  <p:handoutMasterIdLst>
    <p:handoutMasterId r:id="rId38"/>
  </p:handoutMasterIdLst>
  <p:sldIdLst>
    <p:sldId id="285" r:id="rId3"/>
    <p:sldId id="286" r:id="rId4"/>
    <p:sldId id="287" r:id="rId6"/>
    <p:sldId id="339" r:id="rId7"/>
    <p:sldId id="340" r:id="rId8"/>
    <p:sldId id="341" r:id="rId9"/>
    <p:sldId id="342" r:id="rId10"/>
    <p:sldId id="343" r:id="rId11"/>
    <p:sldId id="344" r:id="rId12"/>
    <p:sldId id="346" r:id="rId13"/>
    <p:sldId id="347" r:id="rId14"/>
    <p:sldId id="348" r:id="rId15"/>
    <p:sldId id="349" r:id="rId16"/>
    <p:sldId id="350" r:id="rId17"/>
    <p:sldId id="351" r:id="rId18"/>
    <p:sldId id="352" r:id="rId19"/>
    <p:sldId id="353" r:id="rId20"/>
    <p:sldId id="354" r:id="rId21"/>
    <p:sldId id="355" r:id="rId22"/>
    <p:sldId id="356" r:id="rId23"/>
    <p:sldId id="357" r:id="rId24"/>
    <p:sldId id="358" r:id="rId25"/>
    <p:sldId id="359" r:id="rId26"/>
    <p:sldId id="360" r:id="rId27"/>
    <p:sldId id="361" r:id="rId28"/>
    <p:sldId id="362" r:id="rId29"/>
    <p:sldId id="368" r:id="rId30"/>
    <p:sldId id="364" r:id="rId31"/>
    <p:sldId id="375" r:id="rId32"/>
    <p:sldId id="376" r:id="rId33"/>
    <p:sldId id="377" r:id="rId34"/>
    <p:sldId id="378" r:id="rId35"/>
    <p:sldId id="379" r:id="rId36"/>
    <p:sldId id="272" r:id="rId37"/>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5"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92" autoAdjust="0"/>
    <p:restoredTop sz="94660"/>
  </p:normalViewPr>
  <p:slideViewPr>
    <p:cSldViewPr showGuides="1">
      <p:cViewPr varScale="1">
        <p:scale>
          <a:sx n="123" d="100"/>
          <a:sy n="123" d="100"/>
        </p:scale>
        <p:origin x="744" y="184"/>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2" Type="http://schemas.openxmlformats.org/officeDocument/2006/relationships/customXml" Target="../customXml/item1.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handoutMaster" Target="handoutMasters/handoutMaster1.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fld>
            <a:endParaRPr/>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fld>
            <a:endParaRPr/>
          </a:p>
        </p:txBody>
      </p:sp>
    </p:spTree>
  </p:cSld>
  <p:clrMap bg1="lt1" tx1="dk1" bg2="lt2" tx2="dk2" accent1="accent1" accent2="accent2" accent3="accent3" accent4="accent4" accent5="accent5" accent6="accent6" hlink="hlink" folHlink="folHlink"/>
  <p:hf hdr="0" ftr="0" dt="0"/>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165" algn="l" defTabSz="1219200" rtl="0" eaLnBrk="1" latinLnBrk="0" hangingPunct="1">
      <a:defRPr sz="1600" kern="1200">
        <a:solidFill>
          <a:schemeClr val="tx1"/>
        </a:solidFill>
        <a:latin typeface="+mn-lt"/>
        <a:ea typeface="+mn-ea"/>
        <a:cs typeface="+mn-cs"/>
      </a:defRPr>
    </a:lvl4pPr>
    <a:lvl5pPr marL="2437765" algn="l" defTabSz="1219200" rtl="0" eaLnBrk="1" latinLnBrk="0" hangingPunct="1">
      <a:defRPr sz="1600" kern="1200">
        <a:solidFill>
          <a:schemeClr val="tx1"/>
        </a:solidFill>
        <a:latin typeface="+mn-lt"/>
        <a:ea typeface="+mn-ea"/>
        <a:cs typeface="+mn-cs"/>
      </a:defRPr>
    </a:lvl5pPr>
    <a:lvl6pPr marL="3047365" algn="l" defTabSz="1219200" rtl="0" eaLnBrk="1" latinLnBrk="0" hangingPunct="1">
      <a:defRPr sz="1600" kern="1200">
        <a:solidFill>
          <a:schemeClr val="tx1"/>
        </a:solidFill>
        <a:latin typeface="+mn-lt"/>
        <a:ea typeface="+mn-ea"/>
        <a:cs typeface="+mn-cs"/>
      </a:defRPr>
    </a:lvl6pPr>
    <a:lvl7pPr marL="3656965" algn="l" defTabSz="1219200" rtl="0" eaLnBrk="1" latinLnBrk="0" hangingPunct="1">
      <a:defRPr sz="1600" kern="1200">
        <a:solidFill>
          <a:schemeClr val="tx1"/>
        </a:solidFill>
        <a:latin typeface="+mn-lt"/>
        <a:ea typeface="+mn-ea"/>
        <a:cs typeface="+mn-cs"/>
      </a:defRPr>
    </a:lvl7pPr>
    <a:lvl8pPr marL="4266565" algn="l" defTabSz="1219200" rtl="0" eaLnBrk="1" latinLnBrk="0" hangingPunct="1">
      <a:defRPr sz="1600" kern="1200">
        <a:solidFill>
          <a:schemeClr val="tx1"/>
        </a:solidFill>
        <a:latin typeface="+mn-lt"/>
        <a:ea typeface="+mn-ea"/>
        <a:cs typeface="+mn-cs"/>
      </a:defRPr>
    </a:lvl8pPr>
    <a:lvl9pPr marL="4876165"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EBA5BD7-F043-4D1B-AA17-CD412FC534DE}"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6" name="Group 15"/>
          <p:cNvGrpSpPr/>
          <p:nvPr/>
        </p:nvGrpSpPr>
        <p:grpSpPr>
          <a:xfrm>
            <a:off x="0" y="-8466"/>
            <a:ext cx="12188825"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6675" y="2404534"/>
            <a:ext cx="7764913" cy="1646302"/>
          </a:xfrm>
        </p:spPr>
        <p:txBody>
          <a:bodyPr anchor="b">
            <a:noAutofit/>
          </a:bodyPr>
          <a:lstStyle>
            <a:lvl1pPr algn="r">
              <a:defRPr sz="5400">
                <a:solidFill>
                  <a:schemeClr val="accent1">
                    <a:lumMod val="75000"/>
                  </a:schemeClr>
                </a:solidFill>
              </a:defRPr>
            </a:lvl1pPr>
          </a:lstStyle>
          <a:p>
            <a:r>
              <a:rPr lang="en-GB"/>
              <a:t>Click to edit Master title style</a:t>
            </a:r>
            <a:endParaRPr lang="en-US" dirty="0"/>
          </a:p>
        </p:txBody>
      </p:sp>
      <p:sp>
        <p:nvSpPr>
          <p:cNvPr id="3" name="Subtitle 2"/>
          <p:cNvSpPr>
            <a:spLocks noGrp="1"/>
          </p:cNvSpPr>
          <p:nvPr>
            <p:ph type="subTitle" idx="1"/>
          </p:nvPr>
        </p:nvSpPr>
        <p:spPr>
          <a:xfrm>
            <a:off x="1506675" y="4050834"/>
            <a:ext cx="7764913"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0965" indent="0" algn="ctr">
              <a:buNone/>
              <a:defRPr>
                <a:solidFill>
                  <a:schemeClr val="tx1">
                    <a:tint val="75000"/>
                  </a:schemeClr>
                </a:solidFill>
              </a:defRPr>
            </a:lvl4pPr>
            <a:lvl5pPr marL="1828165" indent="0" algn="ctr">
              <a:buNone/>
              <a:defRPr>
                <a:solidFill>
                  <a:schemeClr val="tx1">
                    <a:tint val="75000"/>
                  </a:schemeClr>
                </a:solidFill>
              </a:defRPr>
            </a:lvl5pPr>
            <a:lvl6pPr marL="2285365" indent="0" algn="ctr">
              <a:buNone/>
              <a:defRPr>
                <a:solidFill>
                  <a:schemeClr val="tx1">
                    <a:tint val="75000"/>
                  </a:schemeClr>
                </a:solidFill>
              </a:defRPr>
            </a:lvl6pPr>
            <a:lvl7pPr marL="2742565" indent="0" algn="ctr">
              <a:buNone/>
              <a:defRPr>
                <a:solidFill>
                  <a:schemeClr val="tx1">
                    <a:tint val="75000"/>
                  </a:schemeClr>
                </a:solidFill>
              </a:defRPr>
            </a:lvl7pPr>
            <a:lvl8pPr marL="3199130" indent="0" algn="ctr">
              <a:buNone/>
              <a:defRPr>
                <a:solidFill>
                  <a:schemeClr val="tx1">
                    <a:tint val="75000"/>
                  </a:schemeClr>
                </a:solidFill>
              </a:defRPr>
            </a:lvl8pPr>
            <a:lvl9pPr marL="365633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3DB6524A-7F0A-431C-9520-44BE5A4A7EA9}" type="datetime1">
              <a:rPr lang="en-US" smtClean="0"/>
            </a:fld>
            <a:endParaRPr lang="en-US"/>
          </a:p>
        </p:txBody>
      </p:sp>
      <p:sp>
        <p:nvSpPr>
          <p:cNvPr id="5" name="Footer Placeholder 4"/>
          <p:cNvSpPr>
            <a:spLocks noGrp="1"/>
          </p:cNvSpPr>
          <p:nvPr>
            <p:ph type="ftr" sz="quarter" idx="11"/>
          </p:nvPr>
        </p:nvSpPr>
        <p:spPr/>
        <p:txBody>
          <a:bodyPr/>
          <a:lstStyle/>
          <a:p>
            <a:r>
              <a:rPr lang="en-US"/>
              <a:t>AUC Patent Details</a:t>
            </a:r>
            <a:endParaRPr lang="en-US"/>
          </a:p>
        </p:txBody>
      </p:sp>
      <p:sp>
        <p:nvSpPr>
          <p:cNvPr id="6" name="Slide Number Placeholder 5"/>
          <p:cNvSpPr>
            <a:spLocks noGrp="1"/>
          </p:cNvSpPr>
          <p:nvPr>
            <p:ph type="sldNum" sz="quarter" idx="12"/>
          </p:nvPr>
        </p:nvSpPr>
        <p:spPr/>
        <p:txBody>
          <a:bodyPr/>
          <a:lstStyle/>
          <a:p>
            <a:fld id="{C014DD1E-5D91-48A3-AD6D-45FBA980D106}" type="slidenum">
              <a:rPr lang="en-US" smtClean="0"/>
            </a:fld>
            <a:endParaRPr lang="en-US"/>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Date Placeholder 3"/>
          <p:cNvSpPr>
            <a:spLocks noGrp="1"/>
          </p:cNvSpPr>
          <p:nvPr>
            <p:ph type="dt" sz="half" idx="10"/>
          </p:nvPr>
        </p:nvSpPr>
        <p:spPr/>
        <p:txBody>
          <a:bodyPr/>
          <a:lstStyle/>
          <a:p>
            <a:fld id="{869DCC5B-B2AB-46D3-A0BE-4A765538FAA0}" type="datetime1">
              <a:rPr lang="en-US" smtClean="0"/>
            </a:fld>
            <a:endParaRPr lang="en-US"/>
          </a:p>
        </p:txBody>
      </p:sp>
      <p:sp>
        <p:nvSpPr>
          <p:cNvPr id="5" name="Footer Placeholder 4"/>
          <p:cNvSpPr>
            <a:spLocks noGrp="1"/>
          </p:cNvSpPr>
          <p:nvPr>
            <p:ph type="ftr" sz="quarter" idx="11"/>
          </p:nvPr>
        </p:nvSpPr>
        <p:spPr/>
        <p:txBody>
          <a:bodyPr/>
          <a:lstStyle/>
          <a:p>
            <a:r>
              <a:rPr lang="en-US"/>
              <a:t>AUC Patent Details</a:t>
            </a:r>
            <a:endParaRPr lang="en-US"/>
          </a:p>
        </p:txBody>
      </p:sp>
      <p:sp>
        <p:nvSpPr>
          <p:cNvPr id="6" name="Slide Number Placeholder 5"/>
          <p:cNvSpPr>
            <a:spLocks noGrp="1"/>
          </p:cNvSpPr>
          <p:nvPr>
            <p:ph type="sldNum" sz="quarter" idx="12"/>
          </p:nvPr>
        </p:nvSpPr>
        <p:spPr/>
        <p:txBody>
          <a:bodyPr/>
          <a:lstStyle/>
          <a:p>
            <a:fld id="{C014DD1E-5D91-48A3-AD6D-45FBA980D106}" type="slidenum">
              <a:rPr lang="en-US" smtClean="0"/>
            </a:fld>
            <a:endParaRPr lang="en-US"/>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159" y="2700868"/>
            <a:ext cx="8594429"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77159" y="4527448"/>
            <a:ext cx="8594429"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0965" indent="0">
              <a:buNone/>
              <a:defRPr sz="1400">
                <a:solidFill>
                  <a:schemeClr val="tx1">
                    <a:tint val="75000"/>
                  </a:schemeClr>
                </a:solidFill>
              </a:defRPr>
            </a:lvl4pPr>
            <a:lvl5pPr marL="1828165" indent="0">
              <a:buNone/>
              <a:defRPr sz="1400">
                <a:solidFill>
                  <a:schemeClr val="tx1">
                    <a:tint val="75000"/>
                  </a:schemeClr>
                </a:solidFill>
              </a:defRPr>
            </a:lvl5pPr>
            <a:lvl6pPr marL="2285365" indent="0">
              <a:buNone/>
              <a:defRPr sz="1400">
                <a:solidFill>
                  <a:schemeClr val="tx1">
                    <a:tint val="75000"/>
                  </a:schemeClr>
                </a:solidFill>
              </a:defRPr>
            </a:lvl6pPr>
            <a:lvl7pPr marL="2742565" indent="0">
              <a:buNone/>
              <a:defRPr sz="1400">
                <a:solidFill>
                  <a:schemeClr val="tx1">
                    <a:tint val="75000"/>
                  </a:schemeClr>
                </a:solidFill>
              </a:defRPr>
            </a:lvl7pPr>
            <a:lvl8pPr marL="3199130" indent="0">
              <a:buNone/>
              <a:defRPr sz="1400">
                <a:solidFill>
                  <a:schemeClr val="tx1">
                    <a:tint val="75000"/>
                  </a:schemeClr>
                </a:solidFill>
              </a:defRPr>
            </a:lvl8pPr>
            <a:lvl9pPr marL="3656330" indent="0">
              <a:buNone/>
              <a:defRPr sz="14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A135DD35-3E90-4F02-A970-73DF82366EF5}" type="datetime1">
              <a:rPr lang="en-US" smtClean="0"/>
            </a:fld>
            <a:endParaRPr lang="en-US"/>
          </a:p>
        </p:txBody>
      </p:sp>
      <p:sp>
        <p:nvSpPr>
          <p:cNvPr id="5" name="Footer Placeholder 4"/>
          <p:cNvSpPr>
            <a:spLocks noGrp="1"/>
          </p:cNvSpPr>
          <p:nvPr>
            <p:ph type="ftr" sz="quarter" idx="11"/>
          </p:nvPr>
        </p:nvSpPr>
        <p:spPr/>
        <p:txBody>
          <a:bodyPr/>
          <a:lstStyle/>
          <a:p>
            <a:r>
              <a:rPr lang="en-US"/>
              <a:t>AUC Patent Details</a:t>
            </a:r>
            <a:endParaRPr lang="en-US"/>
          </a:p>
        </p:txBody>
      </p:sp>
      <p:sp>
        <p:nvSpPr>
          <p:cNvPr id="6" name="Slide Number Placeholder 5"/>
          <p:cNvSpPr>
            <a:spLocks noGrp="1"/>
          </p:cNvSpPr>
          <p:nvPr>
            <p:ph type="sldNum" sz="quarter" idx="12"/>
          </p:nvPr>
        </p:nvSpPr>
        <p:spPr/>
        <p:txBody>
          <a:bodyPr/>
          <a:lstStyle/>
          <a:p>
            <a:fld id="{C014DD1E-5D91-48A3-AD6D-45FBA980D106}" type="slidenum">
              <a:rPr lang="en-US" smtClean="0"/>
            </a:fld>
            <a:endParaRPr lang="en-US"/>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77158" y="2160589"/>
            <a:ext cx="4182945" cy="3880772"/>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Content Placeholder 3"/>
          <p:cNvSpPr>
            <a:spLocks noGrp="1"/>
          </p:cNvSpPr>
          <p:nvPr>
            <p:ph sz="half" idx="2"/>
          </p:nvPr>
        </p:nvSpPr>
        <p:spPr>
          <a:xfrm>
            <a:off x="5088645" y="2160590"/>
            <a:ext cx="4182944" cy="3880773"/>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5" name="Date Placeholder 4"/>
          <p:cNvSpPr>
            <a:spLocks noGrp="1"/>
          </p:cNvSpPr>
          <p:nvPr>
            <p:ph type="dt" sz="half" idx="10"/>
          </p:nvPr>
        </p:nvSpPr>
        <p:spPr/>
        <p:txBody>
          <a:bodyPr/>
          <a:lstStyle/>
          <a:p>
            <a:fld id="{3048D747-58C1-4457-8FF3-090733B4C26F}" type="datetime1">
              <a:rPr lang="en-US" smtClean="0"/>
            </a:fld>
            <a:endParaRPr lang="en-US"/>
          </a:p>
        </p:txBody>
      </p:sp>
      <p:sp>
        <p:nvSpPr>
          <p:cNvPr id="6" name="Footer Placeholder 5"/>
          <p:cNvSpPr>
            <a:spLocks noGrp="1"/>
          </p:cNvSpPr>
          <p:nvPr>
            <p:ph type="ftr" sz="quarter" idx="11"/>
          </p:nvPr>
        </p:nvSpPr>
        <p:spPr/>
        <p:txBody>
          <a:bodyPr/>
          <a:lstStyle/>
          <a:p>
            <a:r>
              <a:rPr lang="en-US"/>
              <a:t>AUC Patent Details</a:t>
            </a:r>
            <a:endParaRPr lang="en-US"/>
          </a:p>
        </p:txBody>
      </p:sp>
      <p:sp>
        <p:nvSpPr>
          <p:cNvPr id="7" name="Slide Number Placeholder 6"/>
          <p:cNvSpPr>
            <a:spLocks noGrp="1"/>
          </p:cNvSpPr>
          <p:nvPr>
            <p:ph type="sldNum" sz="quarter" idx="12"/>
          </p:nvPr>
        </p:nvSpPr>
        <p:spPr/>
        <p:txBody>
          <a:bodyPr/>
          <a:lstStyle/>
          <a:p>
            <a:fld id="{C014DD1E-5D91-48A3-AD6D-45FBA980D106}" type="slidenum">
              <a:rPr lang="en-US" smtClean="0"/>
            </a:fld>
            <a:endParaRPr lang="en-US"/>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75570" y="2160983"/>
            <a:ext cx="4184533" cy="576262"/>
          </a:xfrm>
        </p:spPr>
        <p:txBody>
          <a:bodyPr anchor="b">
            <a:noAutofit/>
          </a:bodyPr>
          <a:lstStyle>
            <a:lvl1pPr marL="0" indent="0">
              <a:buNone/>
              <a:defRPr sz="2400" b="0"/>
            </a:lvl1pPr>
            <a:lvl2pPr marL="457200" indent="0">
              <a:buNone/>
              <a:defRPr sz="2000" b="1"/>
            </a:lvl2pPr>
            <a:lvl3pPr marL="914400" indent="0">
              <a:buNone/>
              <a:defRPr sz="1800" b="1"/>
            </a:lvl3pPr>
            <a:lvl4pPr marL="1370965" indent="0">
              <a:buNone/>
              <a:defRPr sz="1600" b="1"/>
            </a:lvl4pPr>
            <a:lvl5pPr marL="1828165" indent="0">
              <a:buNone/>
              <a:defRPr sz="1600" b="1"/>
            </a:lvl5pPr>
            <a:lvl6pPr marL="2285365" indent="0">
              <a:buNone/>
              <a:defRPr sz="1600" b="1"/>
            </a:lvl6pPr>
            <a:lvl7pPr marL="2742565" indent="0">
              <a:buNone/>
              <a:defRPr sz="1600" b="1"/>
            </a:lvl7pPr>
            <a:lvl8pPr marL="3199130" indent="0">
              <a:buNone/>
              <a:defRPr sz="1600" b="1"/>
            </a:lvl8pPr>
            <a:lvl9pPr marL="3656330" indent="0">
              <a:buNone/>
              <a:defRPr sz="1600" b="1"/>
            </a:lvl9pPr>
          </a:lstStyle>
          <a:p>
            <a:pPr lvl="0"/>
            <a:r>
              <a:rPr lang="en-GB"/>
              <a:t>Click to edit Master text styles</a:t>
            </a:r>
            <a:endParaRPr lang="en-GB"/>
          </a:p>
        </p:txBody>
      </p:sp>
      <p:sp>
        <p:nvSpPr>
          <p:cNvPr id="4" name="Content Placeholder 3"/>
          <p:cNvSpPr>
            <a:spLocks noGrp="1"/>
          </p:cNvSpPr>
          <p:nvPr>
            <p:ph sz="half" idx="2"/>
          </p:nvPr>
        </p:nvSpPr>
        <p:spPr>
          <a:xfrm>
            <a:off x="675570" y="2737246"/>
            <a:ext cx="4184533" cy="3304117"/>
          </a:xfrm>
        </p:spPr>
        <p:txBody>
          <a:bodyPr>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5" name="Text Placeholder 4"/>
          <p:cNvSpPr>
            <a:spLocks noGrp="1"/>
          </p:cNvSpPr>
          <p:nvPr>
            <p:ph type="body" sz="quarter" idx="3"/>
          </p:nvPr>
        </p:nvSpPr>
        <p:spPr>
          <a:xfrm>
            <a:off x="5087058" y="2160983"/>
            <a:ext cx="4184528" cy="576262"/>
          </a:xfrm>
        </p:spPr>
        <p:txBody>
          <a:bodyPr anchor="b">
            <a:noAutofit/>
          </a:bodyPr>
          <a:lstStyle>
            <a:lvl1pPr marL="0" indent="0">
              <a:buNone/>
              <a:defRPr sz="2400" b="0"/>
            </a:lvl1pPr>
            <a:lvl2pPr marL="457200" indent="0">
              <a:buNone/>
              <a:defRPr sz="2000" b="1"/>
            </a:lvl2pPr>
            <a:lvl3pPr marL="914400" indent="0">
              <a:buNone/>
              <a:defRPr sz="1800" b="1"/>
            </a:lvl3pPr>
            <a:lvl4pPr marL="1370965" indent="0">
              <a:buNone/>
              <a:defRPr sz="1600" b="1"/>
            </a:lvl4pPr>
            <a:lvl5pPr marL="1828165" indent="0">
              <a:buNone/>
              <a:defRPr sz="1600" b="1"/>
            </a:lvl5pPr>
            <a:lvl6pPr marL="2285365" indent="0">
              <a:buNone/>
              <a:defRPr sz="1600" b="1"/>
            </a:lvl6pPr>
            <a:lvl7pPr marL="2742565" indent="0">
              <a:buNone/>
              <a:defRPr sz="1600" b="1"/>
            </a:lvl7pPr>
            <a:lvl8pPr marL="3199130" indent="0">
              <a:buNone/>
              <a:defRPr sz="1600" b="1"/>
            </a:lvl8pPr>
            <a:lvl9pPr marL="3656330" indent="0">
              <a:buNone/>
              <a:defRPr sz="1600" b="1"/>
            </a:lvl9pPr>
          </a:lstStyle>
          <a:p>
            <a:pPr lvl="0"/>
            <a:r>
              <a:rPr lang="en-GB"/>
              <a:t>Click to edit Master text styles</a:t>
            </a:r>
            <a:endParaRPr lang="en-GB"/>
          </a:p>
        </p:txBody>
      </p:sp>
      <p:sp>
        <p:nvSpPr>
          <p:cNvPr id="6" name="Content Placeholder 5"/>
          <p:cNvSpPr>
            <a:spLocks noGrp="1"/>
          </p:cNvSpPr>
          <p:nvPr>
            <p:ph sz="quarter" idx="4"/>
          </p:nvPr>
        </p:nvSpPr>
        <p:spPr>
          <a:xfrm>
            <a:off x="5087059" y="2737246"/>
            <a:ext cx="4184527" cy="3304117"/>
          </a:xfrm>
        </p:spPr>
        <p:txBody>
          <a:bodyPr>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7" name="Date Placeholder 6"/>
          <p:cNvSpPr>
            <a:spLocks noGrp="1"/>
          </p:cNvSpPr>
          <p:nvPr>
            <p:ph type="dt" sz="half" idx="10"/>
          </p:nvPr>
        </p:nvSpPr>
        <p:spPr/>
        <p:txBody>
          <a:bodyPr/>
          <a:lstStyle/>
          <a:p>
            <a:fld id="{8992C724-F3EB-4A46-850D-C52A965013B2}" type="datetime1">
              <a:rPr lang="en-US" smtClean="0"/>
            </a:fld>
            <a:endParaRPr lang="en-US"/>
          </a:p>
        </p:txBody>
      </p:sp>
      <p:sp>
        <p:nvSpPr>
          <p:cNvPr id="8" name="Footer Placeholder 7"/>
          <p:cNvSpPr>
            <a:spLocks noGrp="1"/>
          </p:cNvSpPr>
          <p:nvPr>
            <p:ph type="ftr" sz="quarter" idx="11"/>
          </p:nvPr>
        </p:nvSpPr>
        <p:spPr/>
        <p:txBody>
          <a:bodyPr/>
          <a:lstStyle/>
          <a:p>
            <a:r>
              <a:rPr lang="en-US"/>
              <a:t>AUC Patent Details</a:t>
            </a:r>
            <a:endParaRPr lang="en-US"/>
          </a:p>
        </p:txBody>
      </p:sp>
      <p:sp>
        <p:nvSpPr>
          <p:cNvPr id="9" name="Slide Number Placeholder 8"/>
          <p:cNvSpPr>
            <a:spLocks noGrp="1"/>
          </p:cNvSpPr>
          <p:nvPr>
            <p:ph type="sldNum" sz="quarter" idx="12"/>
          </p:nvPr>
        </p:nvSpPr>
        <p:spPr/>
        <p:txBody>
          <a:bodyPr/>
          <a:lstStyle/>
          <a:p>
            <a:fld id="{C014DD1E-5D91-48A3-AD6D-45FBA980D106}" type="slidenum">
              <a:rPr lang="en-US" smtClean="0"/>
            </a:fld>
            <a:endParaRPr lang="en-US"/>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158" y="609600"/>
            <a:ext cx="8594429"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3ACCD22A-AB2F-4E5F-97DC-A059BCCADE40}" type="datetime1">
              <a:rPr lang="en-US" smtClean="0"/>
            </a:fld>
            <a:endParaRPr lang="en-US"/>
          </a:p>
        </p:txBody>
      </p:sp>
      <p:sp>
        <p:nvSpPr>
          <p:cNvPr id="4" name="Footer Placeholder 3"/>
          <p:cNvSpPr>
            <a:spLocks noGrp="1"/>
          </p:cNvSpPr>
          <p:nvPr>
            <p:ph type="ftr" sz="quarter" idx="11"/>
          </p:nvPr>
        </p:nvSpPr>
        <p:spPr/>
        <p:txBody>
          <a:bodyPr/>
          <a:lstStyle/>
          <a:p>
            <a:r>
              <a:rPr lang="en-US"/>
              <a:t>AUC Patent Details</a:t>
            </a:r>
            <a:endParaRPr lang="en-US"/>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1FA4A2-ADEF-4B98-80E9-A9E79943BF7E}" type="datetime1">
              <a:rPr lang="en-US" smtClean="0"/>
            </a:fld>
            <a:endParaRPr lang="en-US"/>
          </a:p>
        </p:txBody>
      </p:sp>
      <p:sp>
        <p:nvSpPr>
          <p:cNvPr id="3" name="Footer Placeholder 2"/>
          <p:cNvSpPr>
            <a:spLocks noGrp="1"/>
          </p:cNvSpPr>
          <p:nvPr>
            <p:ph type="ftr" sz="quarter" idx="11"/>
          </p:nvPr>
        </p:nvSpPr>
        <p:spPr/>
        <p:txBody>
          <a:bodyPr/>
          <a:lstStyle/>
          <a:p>
            <a:r>
              <a:rPr lang="en-US"/>
              <a:t>AUC Patent Details</a:t>
            </a:r>
            <a:endParaRPr lang="en-US"/>
          </a:p>
        </p:txBody>
      </p:sp>
      <p:sp>
        <p:nvSpPr>
          <p:cNvPr id="4" name="Slide Number Placeholder 3"/>
          <p:cNvSpPr>
            <a:spLocks noGrp="1"/>
          </p:cNvSpPr>
          <p:nvPr>
            <p:ph type="sldNum" sz="quarter" idx="12"/>
          </p:nvPr>
        </p:nvSpPr>
        <p:spPr/>
        <p:txBody>
          <a:bodyPr/>
          <a:lstStyle/>
          <a:p>
            <a:fld id="{C014DD1E-5D91-48A3-AD6D-45FBA980D106}" type="slidenum">
              <a:rPr lang="en-US" smtClean="0"/>
            </a:fld>
            <a:endParaRPr lang="en-US"/>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158" y="1498604"/>
            <a:ext cx="3853524"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4759222" y="514924"/>
            <a:ext cx="4512366" cy="5526437"/>
          </a:xfrm>
        </p:spPr>
        <p:txBody>
          <a:bodyPr>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Text Placeholder 3"/>
          <p:cNvSpPr>
            <a:spLocks noGrp="1"/>
          </p:cNvSpPr>
          <p:nvPr>
            <p:ph type="body" sz="half" idx="2"/>
          </p:nvPr>
        </p:nvSpPr>
        <p:spPr>
          <a:xfrm>
            <a:off x="677158" y="2777069"/>
            <a:ext cx="3853524" cy="2584449"/>
          </a:xfrm>
        </p:spPr>
        <p:txBody>
          <a:bodyPr>
            <a:normAutofit/>
          </a:bodyPr>
          <a:lstStyle>
            <a:lvl1pPr marL="0" indent="0">
              <a:buNone/>
              <a:defRPr sz="1400"/>
            </a:lvl1pPr>
            <a:lvl2pPr marL="457200" indent="0">
              <a:buNone/>
              <a:defRPr sz="1400"/>
            </a:lvl2pPr>
            <a:lvl3pPr marL="913765" indent="0">
              <a:buNone/>
              <a:defRPr sz="1200"/>
            </a:lvl3pPr>
            <a:lvl4pPr marL="1370965" indent="0">
              <a:buNone/>
              <a:defRPr sz="1000"/>
            </a:lvl4pPr>
            <a:lvl5pPr marL="1827530" indent="0">
              <a:buNone/>
              <a:defRPr sz="1000"/>
            </a:lvl5pPr>
            <a:lvl6pPr marL="2284730" indent="0">
              <a:buNone/>
              <a:defRPr sz="1000"/>
            </a:lvl6pPr>
            <a:lvl7pPr marL="2741295" indent="0">
              <a:buNone/>
              <a:defRPr sz="1000"/>
            </a:lvl7pPr>
            <a:lvl8pPr marL="3198495" indent="0">
              <a:buNone/>
              <a:defRPr sz="1000"/>
            </a:lvl8pPr>
            <a:lvl9pPr marL="3655695"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0B3C412C-9D05-418D-8F43-AA8ECCE65B2F}" type="datetime1">
              <a:rPr lang="en-US" smtClean="0"/>
            </a:fld>
            <a:endParaRPr lang="en-US"/>
          </a:p>
        </p:txBody>
      </p:sp>
      <p:sp>
        <p:nvSpPr>
          <p:cNvPr id="6" name="Footer Placeholder 5"/>
          <p:cNvSpPr>
            <a:spLocks noGrp="1"/>
          </p:cNvSpPr>
          <p:nvPr>
            <p:ph type="ftr" sz="quarter" idx="11"/>
          </p:nvPr>
        </p:nvSpPr>
        <p:spPr/>
        <p:txBody>
          <a:bodyPr/>
          <a:lstStyle/>
          <a:p>
            <a:r>
              <a:rPr lang="en-US"/>
              <a:t>AUC Patent Details</a:t>
            </a:r>
            <a:endParaRPr lang="en-US"/>
          </a:p>
        </p:txBody>
      </p:sp>
      <p:sp>
        <p:nvSpPr>
          <p:cNvPr id="7" name="Slide Number Placeholder 6"/>
          <p:cNvSpPr>
            <a:spLocks noGrp="1"/>
          </p:cNvSpPr>
          <p:nvPr>
            <p:ph type="sldNum" sz="quarter" idx="12"/>
          </p:nvPr>
        </p:nvSpPr>
        <p:spPr/>
        <p:txBody>
          <a:bodyPr/>
          <a:lstStyle/>
          <a:p>
            <a:fld id="{C014DD1E-5D91-48A3-AD6D-45FBA980D106}" type="slidenum">
              <a:rPr lang="en-US" smtClean="0"/>
            </a:fld>
            <a:endParaRPr lang="en-US"/>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158" y="4800600"/>
            <a:ext cx="8594428"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77158" y="609600"/>
            <a:ext cx="8594429" cy="3845718"/>
          </a:xfrm>
        </p:spPr>
        <p:txBody>
          <a:bodyPr anchor="t">
            <a:normAutofit/>
          </a:bodyPr>
          <a:lstStyle>
            <a:lvl1pPr marL="0" indent="0" algn="ctr">
              <a:buNone/>
              <a:defRPr sz="1600"/>
            </a:lvl1pPr>
            <a:lvl2pPr marL="457200" indent="0">
              <a:buNone/>
              <a:defRPr sz="1600"/>
            </a:lvl2pPr>
            <a:lvl3pPr marL="914400" indent="0">
              <a:buNone/>
              <a:defRPr sz="1600"/>
            </a:lvl3pPr>
            <a:lvl4pPr marL="1370965" indent="0">
              <a:buNone/>
              <a:defRPr sz="1600"/>
            </a:lvl4pPr>
            <a:lvl5pPr marL="1828165" indent="0">
              <a:buNone/>
              <a:defRPr sz="1600"/>
            </a:lvl5pPr>
            <a:lvl6pPr marL="2285365" indent="0">
              <a:buNone/>
              <a:defRPr sz="1600"/>
            </a:lvl6pPr>
            <a:lvl7pPr marL="2742565" indent="0">
              <a:buNone/>
              <a:defRPr sz="1600"/>
            </a:lvl7pPr>
            <a:lvl8pPr marL="3199130" indent="0">
              <a:buNone/>
              <a:defRPr sz="1600"/>
            </a:lvl8pPr>
            <a:lvl9pPr marL="365633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77158" y="5367338"/>
            <a:ext cx="8594428" cy="674024"/>
          </a:xfrm>
        </p:spPr>
        <p:txBody>
          <a:bodyPr>
            <a:normAutofit/>
          </a:bodyPr>
          <a:lstStyle>
            <a:lvl1pPr marL="0" indent="0">
              <a:buNone/>
              <a:defRPr sz="1200"/>
            </a:lvl1pPr>
            <a:lvl2pPr marL="457200" indent="0">
              <a:buNone/>
              <a:defRPr sz="1200"/>
            </a:lvl2pPr>
            <a:lvl3pPr marL="914400" indent="0">
              <a:buNone/>
              <a:defRPr sz="1000"/>
            </a:lvl3pPr>
            <a:lvl4pPr marL="1370965" indent="0">
              <a:buNone/>
              <a:defRPr sz="900"/>
            </a:lvl4pPr>
            <a:lvl5pPr marL="1828165" indent="0">
              <a:buNone/>
              <a:defRPr sz="900"/>
            </a:lvl5pPr>
            <a:lvl6pPr marL="2285365" indent="0">
              <a:buNone/>
              <a:defRPr sz="900"/>
            </a:lvl6pPr>
            <a:lvl7pPr marL="2742565" indent="0">
              <a:buNone/>
              <a:defRPr sz="900"/>
            </a:lvl7pPr>
            <a:lvl8pPr marL="3199130" indent="0">
              <a:buNone/>
              <a:defRPr sz="900"/>
            </a:lvl8pPr>
            <a:lvl9pPr marL="3656330" indent="0">
              <a:buNone/>
              <a:defRPr sz="9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89519ED4-2266-4332-8047-EDC0A5346B5F}" type="datetime1">
              <a:rPr lang="en-US" smtClean="0"/>
            </a:fld>
            <a:endParaRPr lang="en-US"/>
          </a:p>
        </p:txBody>
      </p:sp>
      <p:sp>
        <p:nvSpPr>
          <p:cNvPr id="6" name="Footer Placeholder 5"/>
          <p:cNvSpPr>
            <a:spLocks noGrp="1"/>
          </p:cNvSpPr>
          <p:nvPr>
            <p:ph type="ftr" sz="quarter" idx="11"/>
          </p:nvPr>
        </p:nvSpPr>
        <p:spPr/>
        <p:txBody>
          <a:bodyPr/>
          <a:lstStyle/>
          <a:p>
            <a:r>
              <a:rPr lang="en-US"/>
              <a:t>AUC Patent Details</a:t>
            </a:r>
            <a:endParaRPr lang="en-US"/>
          </a:p>
        </p:txBody>
      </p:sp>
      <p:sp>
        <p:nvSpPr>
          <p:cNvPr id="7" name="Slide Number Placeholder 6"/>
          <p:cNvSpPr>
            <a:spLocks noGrp="1"/>
          </p:cNvSpPr>
          <p:nvPr>
            <p:ph type="sldNum" sz="quarter" idx="12"/>
          </p:nvPr>
        </p:nvSpPr>
        <p:spPr/>
        <p:txBody>
          <a:bodyPr/>
          <a:lstStyle/>
          <a:p>
            <a:fld id="{C014DD1E-5D91-48A3-AD6D-45FBA980D106}" type="slidenum">
              <a:rPr lang="en-US" smtClean="0"/>
            </a:fld>
            <a:endParaRPr lang="en-US"/>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159" y="609600"/>
            <a:ext cx="8594429"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159" y="4470400"/>
            <a:ext cx="8594429"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0965" indent="0">
              <a:buNone/>
              <a:defRPr sz="1400">
                <a:solidFill>
                  <a:schemeClr val="tx1">
                    <a:tint val="75000"/>
                  </a:schemeClr>
                </a:solidFill>
              </a:defRPr>
            </a:lvl4pPr>
            <a:lvl5pPr marL="1828165" indent="0">
              <a:buNone/>
              <a:defRPr sz="1400">
                <a:solidFill>
                  <a:schemeClr val="tx1">
                    <a:tint val="75000"/>
                  </a:schemeClr>
                </a:solidFill>
              </a:defRPr>
            </a:lvl5pPr>
            <a:lvl6pPr marL="2285365" indent="0">
              <a:buNone/>
              <a:defRPr sz="1400">
                <a:solidFill>
                  <a:schemeClr val="tx1">
                    <a:tint val="75000"/>
                  </a:schemeClr>
                </a:solidFill>
              </a:defRPr>
            </a:lvl6pPr>
            <a:lvl7pPr marL="2742565" indent="0">
              <a:buNone/>
              <a:defRPr sz="1400">
                <a:solidFill>
                  <a:schemeClr val="tx1">
                    <a:tint val="75000"/>
                  </a:schemeClr>
                </a:solidFill>
              </a:defRPr>
            </a:lvl7pPr>
            <a:lvl8pPr marL="3199130" indent="0">
              <a:buNone/>
              <a:defRPr sz="1400">
                <a:solidFill>
                  <a:schemeClr val="tx1">
                    <a:tint val="75000"/>
                  </a:schemeClr>
                </a:solidFill>
              </a:defRPr>
            </a:lvl8pPr>
            <a:lvl9pPr marL="3656330" indent="0">
              <a:buNone/>
              <a:defRPr sz="14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79A838C7-BC32-4A7F-A548-8B26845A9889}" type="datetime1">
              <a:rPr lang="en-US" smtClean="0"/>
            </a:fld>
            <a:endParaRPr lang="en-US"/>
          </a:p>
        </p:txBody>
      </p:sp>
      <p:sp>
        <p:nvSpPr>
          <p:cNvPr id="5" name="Footer Placeholder 4"/>
          <p:cNvSpPr>
            <a:spLocks noGrp="1"/>
          </p:cNvSpPr>
          <p:nvPr>
            <p:ph type="ftr" sz="quarter" idx="11"/>
          </p:nvPr>
        </p:nvSpPr>
        <p:spPr/>
        <p:txBody>
          <a:bodyPr/>
          <a:lstStyle/>
          <a:p>
            <a:r>
              <a:rPr lang="en-US"/>
              <a:t>AUC Patent Details</a:t>
            </a:r>
            <a:endParaRPr lang="en-US"/>
          </a:p>
        </p:txBody>
      </p:sp>
      <p:sp>
        <p:nvSpPr>
          <p:cNvPr id="6" name="Slide Number Placeholder 5"/>
          <p:cNvSpPr>
            <a:spLocks noGrp="1"/>
          </p:cNvSpPr>
          <p:nvPr>
            <p:ph type="sldNum" sz="quarter" idx="12"/>
          </p:nvPr>
        </p:nvSpPr>
        <p:spPr/>
        <p:txBody>
          <a:bodyPr/>
          <a:lstStyle/>
          <a:p>
            <a:fld id="{C014DD1E-5D91-48A3-AD6D-45FBA980D106}" type="slidenum">
              <a:rPr lang="en-US" smtClean="0"/>
            </a:fld>
            <a:endParaRPr lang="en-US"/>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092" y="609600"/>
            <a:ext cx="8092026"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365783" y="3632200"/>
            <a:ext cx="7222643"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0965" indent="0">
              <a:buFontTx/>
              <a:buNone/>
              <a:defRPr/>
            </a:lvl4pPr>
            <a:lvl5pPr marL="1828165" indent="0">
              <a:buFontTx/>
              <a:buNone/>
              <a:defRPr/>
            </a:lvl5pPr>
          </a:lstStyle>
          <a:p>
            <a:pPr lvl="0"/>
            <a:r>
              <a:rPr lang="en-GB"/>
              <a:t>Click to edit Master text styles</a:t>
            </a:r>
            <a:endParaRPr lang="en-GB"/>
          </a:p>
        </p:txBody>
      </p:sp>
      <p:sp>
        <p:nvSpPr>
          <p:cNvPr id="3" name="Text Placeholder 2"/>
          <p:cNvSpPr>
            <a:spLocks noGrp="1"/>
          </p:cNvSpPr>
          <p:nvPr>
            <p:ph type="body" idx="1"/>
          </p:nvPr>
        </p:nvSpPr>
        <p:spPr>
          <a:xfrm>
            <a:off x="677159" y="4470400"/>
            <a:ext cx="8594429"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0965" indent="0">
              <a:buNone/>
              <a:defRPr sz="1400">
                <a:solidFill>
                  <a:schemeClr val="tx1">
                    <a:tint val="75000"/>
                  </a:schemeClr>
                </a:solidFill>
              </a:defRPr>
            </a:lvl4pPr>
            <a:lvl5pPr marL="1828165" indent="0">
              <a:buNone/>
              <a:defRPr sz="1400">
                <a:solidFill>
                  <a:schemeClr val="tx1">
                    <a:tint val="75000"/>
                  </a:schemeClr>
                </a:solidFill>
              </a:defRPr>
            </a:lvl5pPr>
            <a:lvl6pPr marL="2285365" indent="0">
              <a:buNone/>
              <a:defRPr sz="1400">
                <a:solidFill>
                  <a:schemeClr val="tx1">
                    <a:tint val="75000"/>
                  </a:schemeClr>
                </a:solidFill>
              </a:defRPr>
            </a:lvl6pPr>
            <a:lvl7pPr marL="2742565" indent="0">
              <a:buNone/>
              <a:defRPr sz="1400">
                <a:solidFill>
                  <a:schemeClr val="tx1">
                    <a:tint val="75000"/>
                  </a:schemeClr>
                </a:solidFill>
              </a:defRPr>
            </a:lvl7pPr>
            <a:lvl8pPr marL="3199130" indent="0">
              <a:buNone/>
              <a:defRPr sz="1400">
                <a:solidFill>
                  <a:schemeClr val="tx1">
                    <a:tint val="75000"/>
                  </a:schemeClr>
                </a:solidFill>
              </a:defRPr>
            </a:lvl8pPr>
            <a:lvl9pPr marL="3656330" indent="0">
              <a:buNone/>
              <a:defRPr sz="14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831F4ACB-59D9-405B-8CB4-C620C3EBE240}" type="datetime1">
              <a:rPr lang="en-US" smtClean="0"/>
            </a:fld>
            <a:endParaRPr lang="en-US"/>
          </a:p>
        </p:txBody>
      </p:sp>
      <p:sp>
        <p:nvSpPr>
          <p:cNvPr id="5" name="Footer Placeholder 4"/>
          <p:cNvSpPr>
            <a:spLocks noGrp="1"/>
          </p:cNvSpPr>
          <p:nvPr>
            <p:ph type="ftr" sz="quarter" idx="11"/>
          </p:nvPr>
        </p:nvSpPr>
        <p:spPr/>
        <p:txBody>
          <a:bodyPr/>
          <a:lstStyle/>
          <a:p>
            <a:r>
              <a:rPr lang="en-US"/>
              <a:t>AUC Patent Details</a:t>
            </a:r>
            <a:endParaRPr lang="en-US"/>
          </a:p>
        </p:txBody>
      </p:sp>
      <p:sp>
        <p:nvSpPr>
          <p:cNvPr id="6" name="Slide Number Placeholder 5"/>
          <p:cNvSpPr>
            <a:spLocks noGrp="1"/>
          </p:cNvSpPr>
          <p:nvPr>
            <p:ph type="sldNum" sz="quarter" idx="12"/>
          </p:nvPr>
        </p:nvSpPr>
        <p:spPr/>
        <p:txBody>
          <a:bodyPr/>
          <a:lstStyle/>
          <a:p>
            <a:fld id="{C014DD1E-5D91-48A3-AD6D-45FBA980D106}" type="slidenum">
              <a:rPr lang="en-US" smtClean="0"/>
            </a:fld>
            <a:endParaRPr lang="en-US"/>
          </a:p>
        </p:txBody>
      </p:sp>
      <p:sp>
        <p:nvSpPr>
          <p:cNvPr id="24" name="TextBox 23"/>
          <p:cNvSpPr txBox="1"/>
          <p:nvPr/>
        </p:nvSpPr>
        <p:spPr>
          <a:xfrm>
            <a:off x="541729" y="790378"/>
            <a:ext cx="609441" cy="584776"/>
          </a:xfrm>
          <a:prstGeom prst="rect">
            <a:avLst/>
          </a:prstGeom>
        </p:spPr>
        <p:txBody>
          <a:bodyPr vert="horz" lIns="91416" tIns="45708" rIns="91416" bIns="45708"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25" name="TextBox 24"/>
          <p:cNvSpPr txBox="1"/>
          <p:nvPr/>
        </p:nvSpPr>
        <p:spPr>
          <a:xfrm>
            <a:off x="8890695" y="2886556"/>
            <a:ext cx="609441" cy="584776"/>
          </a:xfrm>
          <a:prstGeom prst="rect">
            <a:avLst/>
          </a:prstGeom>
        </p:spPr>
        <p:txBody>
          <a:bodyPr vert="horz" lIns="91416" tIns="45708" rIns="91416" bIns="45708"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159" y="1931988"/>
            <a:ext cx="8594429"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159" y="4527448"/>
            <a:ext cx="8594429"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0965" indent="0">
              <a:buNone/>
              <a:defRPr sz="1400">
                <a:solidFill>
                  <a:schemeClr val="tx1">
                    <a:tint val="75000"/>
                  </a:schemeClr>
                </a:solidFill>
              </a:defRPr>
            </a:lvl4pPr>
            <a:lvl5pPr marL="1828165" indent="0">
              <a:buNone/>
              <a:defRPr sz="1400">
                <a:solidFill>
                  <a:schemeClr val="tx1">
                    <a:tint val="75000"/>
                  </a:schemeClr>
                </a:solidFill>
              </a:defRPr>
            </a:lvl5pPr>
            <a:lvl6pPr marL="2285365" indent="0">
              <a:buNone/>
              <a:defRPr sz="1400">
                <a:solidFill>
                  <a:schemeClr val="tx1">
                    <a:tint val="75000"/>
                  </a:schemeClr>
                </a:solidFill>
              </a:defRPr>
            </a:lvl6pPr>
            <a:lvl7pPr marL="2742565" indent="0">
              <a:buNone/>
              <a:defRPr sz="1400">
                <a:solidFill>
                  <a:schemeClr val="tx1">
                    <a:tint val="75000"/>
                  </a:schemeClr>
                </a:solidFill>
              </a:defRPr>
            </a:lvl7pPr>
            <a:lvl8pPr marL="3199130" indent="0">
              <a:buNone/>
              <a:defRPr sz="1400">
                <a:solidFill>
                  <a:schemeClr val="tx1">
                    <a:tint val="75000"/>
                  </a:schemeClr>
                </a:solidFill>
              </a:defRPr>
            </a:lvl8pPr>
            <a:lvl9pPr marL="3656330" indent="0">
              <a:buNone/>
              <a:defRPr sz="14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B85BA855-D2AC-46D3-B3F8-0BA1C2E68AD7}" type="datetime1">
              <a:rPr lang="en-US" smtClean="0"/>
            </a:fld>
            <a:endParaRPr lang="en-US"/>
          </a:p>
        </p:txBody>
      </p:sp>
      <p:sp>
        <p:nvSpPr>
          <p:cNvPr id="5" name="Footer Placeholder 4"/>
          <p:cNvSpPr>
            <a:spLocks noGrp="1"/>
          </p:cNvSpPr>
          <p:nvPr>
            <p:ph type="ftr" sz="quarter" idx="11"/>
          </p:nvPr>
        </p:nvSpPr>
        <p:spPr/>
        <p:txBody>
          <a:bodyPr/>
          <a:lstStyle/>
          <a:p>
            <a:r>
              <a:rPr lang="en-US"/>
              <a:t>AUC Patent Details</a:t>
            </a:r>
            <a:endParaRPr lang="en-US"/>
          </a:p>
        </p:txBody>
      </p:sp>
      <p:sp>
        <p:nvSpPr>
          <p:cNvPr id="6" name="Slide Number Placeholder 5"/>
          <p:cNvSpPr>
            <a:spLocks noGrp="1"/>
          </p:cNvSpPr>
          <p:nvPr>
            <p:ph type="sldNum" sz="quarter" idx="12"/>
          </p:nvPr>
        </p:nvSpPr>
        <p:spPr/>
        <p:txBody>
          <a:bodyPr/>
          <a:lstStyle/>
          <a:p>
            <a:fld id="{C014DD1E-5D91-48A3-AD6D-45FBA980D106}" type="slidenum">
              <a:rPr lang="en-US" smtClean="0"/>
            </a:fld>
            <a:endParaRPr lang="en-US"/>
          </a:p>
        </p:txBody>
      </p:sp>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092" y="609600"/>
            <a:ext cx="8092026"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156" y="4013200"/>
            <a:ext cx="8594430"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0965" indent="0">
              <a:buFontTx/>
              <a:buNone/>
              <a:defRPr/>
            </a:lvl4pPr>
            <a:lvl5pPr marL="1828165" indent="0">
              <a:buFontTx/>
              <a:buNone/>
              <a:defRPr/>
            </a:lvl5pPr>
          </a:lstStyle>
          <a:p>
            <a:pPr lvl="0"/>
            <a:r>
              <a:rPr lang="en-GB"/>
              <a:t>Click to edit Master text styles</a:t>
            </a:r>
            <a:endParaRPr lang="en-GB"/>
          </a:p>
        </p:txBody>
      </p:sp>
      <p:sp>
        <p:nvSpPr>
          <p:cNvPr id="3" name="Text Placeholder 2"/>
          <p:cNvSpPr>
            <a:spLocks noGrp="1"/>
          </p:cNvSpPr>
          <p:nvPr>
            <p:ph type="body" idx="1"/>
          </p:nvPr>
        </p:nvSpPr>
        <p:spPr>
          <a:xfrm>
            <a:off x="677159" y="4527448"/>
            <a:ext cx="8594429"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0965" indent="0">
              <a:buNone/>
              <a:defRPr sz="1400">
                <a:solidFill>
                  <a:schemeClr val="tx1">
                    <a:tint val="75000"/>
                  </a:schemeClr>
                </a:solidFill>
              </a:defRPr>
            </a:lvl4pPr>
            <a:lvl5pPr marL="1828165" indent="0">
              <a:buNone/>
              <a:defRPr sz="1400">
                <a:solidFill>
                  <a:schemeClr val="tx1">
                    <a:tint val="75000"/>
                  </a:schemeClr>
                </a:solidFill>
              </a:defRPr>
            </a:lvl5pPr>
            <a:lvl6pPr marL="2285365" indent="0">
              <a:buNone/>
              <a:defRPr sz="1400">
                <a:solidFill>
                  <a:schemeClr val="tx1">
                    <a:tint val="75000"/>
                  </a:schemeClr>
                </a:solidFill>
              </a:defRPr>
            </a:lvl6pPr>
            <a:lvl7pPr marL="2742565" indent="0">
              <a:buNone/>
              <a:defRPr sz="1400">
                <a:solidFill>
                  <a:schemeClr val="tx1">
                    <a:tint val="75000"/>
                  </a:schemeClr>
                </a:solidFill>
              </a:defRPr>
            </a:lvl7pPr>
            <a:lvl8pPr marL="3199130" indent="0">
              <a:buNone/>
              <a:defRPr sz="1400">
                <a:solidFill>
                  <a:schemeClr val="tx1">
                    <a:tint val="75000"/>
                  </a:schemeClr>
                </a:solidFill>
              </a:defRPr>
            </a:lvl8pPr>
            <a:lvl9pPr marL="3656330" indent="0">
              <a:buNone/>
              <a:defRPr sz="14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F3B29437-FE93-4FD4-ACFB-5DD1A27F4054}" type="datetime1">
              <a:rPr lang="en-US" smtClean="0"/>
            </a:fld>
            <a:endParaRPr lang="en-US"/>
          </a:p>
        </p:txBody>
      </p:sp>
      <p:sp>
        <p:nvSpPr>
          <p:cNvPr id="5" name="Footer Placeholder 4"/>
          <p:cNvSpPr>
            <a:spLocks noGrp="1"/>
          </p:cNvSpPr>
          <p:nvPr>
            <p:ph type="ftr" sz="quarter" idx="11"/>
          </p:nvPr>
        </p:nvSpPr>
        <p:spPr/>
        <p:txBody>
          <a:bodyPr/>
          <a:lstStyle/>
          <a:p>
            <a:r>
              <a:rPr lang="en-US"/>
              <a:t>AUC Patent Details</a:t>
            </a:r>
            <a:endParaRPr lang="en-US"/>
          </a:p>
        </p:txBody>
      </p:sp>
      <p:sp>
        <p:nvSpPr>
          <p:cNvPr id="6" name="Slide Number Placeholder 5"/>
          <p:cNvSpPr>
            <a:spLocks noGrp="1"/>
          </p:cNvSpPr>
          <p:nvPr>
            <p:ph type="sldNum" sz="quarter" idx="12"/>
          </p:nvPr>
        </p:nvSpPr>
        <p:spPr/>
        <p:txBody>
          <a:bodyPr/>
          <a:lstStyle/>
          <a:p>
            <a:fld id="{C014DD1E-5D91-48A3-AD6D-45FBA980D106}" type="slidenum">
              <a:rPr lang="en-US" smtClean="0"/>
            </a:fld>
            <a:endParaRPr lang="en-US"/>
          </a:p>
        </p:txBody>
      </p:sp>
      <p:sp>
        <p:nvSpPr>
          <p:cNvPr id="24" name="TextBox 23"/>
          <p:cNvSpPr txBox="1"/>
          <p:nvPr/>
        </p:nvSpPr>
        <p:spPr>
          <a:xfrm>
            <a:off x="541729" y="790378"/>
            <a:ext cx="609441" cy="584776"/>
          </a:xfrm>
          <a:prstGeom prst="rect">
            <a:avLst/>
          </a:prstGeom>
        </p:spPr>
        <p:txBody>
          <a:bodyPr vert="horz" lIns="91416" tIns="45708" rIns="91416" bIns="45708"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25" name="TextBox 24"/>
          <p:cNvSpPr txBox="1"/>
          <p:nvPr/>
        </p:nvSpPr>
        <p:spPr>
          <a:xfrm>
            <a:off x="8890695" y="2886556"/>
            <a:ext cx="609441" cy="584776"/>
          </a:xfrm>
          <a:prstGeom prst="rect">
            <a:avLst/>
          </a:prstGeom>
        </p:spPr>
        <p:txBody>
          <a:bodyPr vert="horz" lIns="91416" tIns="45708" rIns="91416" bIns="45708"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621" y="609600"/>
            <a:ext cx="8585966"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156" y="4013200"/>
            <a:ext cx="8594430"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0965" indent="0">
              <a:buFontTx/>
              <a:buNone/>
              <a:defRPr/>
            </a:lvl4pPr>
            <a:lvl5pPr marL="1828165" indent="0">
              <a:buFontTx/>
              <a:buNone/>
              <a:defRPr/>
            </a:lvl5pPr>
          </a:lstStyle>
          <a:p>
            <a:pPr lvl="0"/>
            <a:r>
              <a:rPr lang="en-GB"/>
              <a:t>Click to edit Master text styles</a:t>
            </a:r>
            <a:endParaRPr lang="en-GB"/>
          </a:p>
        </p:txBody>
      </p:sp>
      <p:sp>
        <p:nvSpPr>
          <p:cNvPr id="3" name="Text Placeholder 2"/>
          <p:cNvSpPr>
            <a:spLocks noGrp="1"/>
          </p:cNvSpPr>
          <p:nvPr>
            <p:ph type="body" idx="1"/>
          </p:nvPr>
        </p:nvSpPr>
        <p:spPr>
          <a:xfrm>
            <a:off x="677159" y="4527448"/>
            <a:ext cx="8594429"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0965" indent="0">
              <a:buNone/>
              <a:defRPr sz="1400">
                <a:solidFill>
                  <a:schemeClr val="tx1">
                    <a:tint val="75000"/>
                  </a:schemeClr>
                </a:solidFill>
              </a:defRPr>
            </a:lvl4pPr>
            <a:lvl5pPr marL="1828165" indent="0">
              <a:buNone/>
              <a:defRPr sz="1400">
                <a:solidFill>
                  <a:schemeClr val="tx1">
                    <a:tint val="75000"/>
                  </a:schemeClr>
                </a:solidFill>
              </a:defRPr>
            </a:lvl5pPr>
            <a:lvl6pPr marL="2285365" indent="0">
              <a:buNone/>
              <a:defRPr sz="1400">
                <a:solidFill>
                  <a:schemeClr val="tx1">
                    <a:tint val="75000"/>
                  </a:schemeClr>
                </a:solidFill>
              </a:defRPr>
            </a:lvl6pPr>
            <a:lvl7pPr marL="2742565" indent="0">
              <a:buNone/>
              <a:defRPr sz="1400">
                <a:solidFill>
                  <a:schemeClr val="tx1">
                    <a:tint val="75000"/>
                  </a:schemeClr>
                </a:solidFill>
              </a:defRPr>
            </a:lvl7pPr>
            <a:lvl8pPr marL="3199130" indent="0">
              <a:buNone/>
              <a:defRPr sz="1400">
                <a:solidFill>
                  <a:schemeClr val="tx1">
                    <a:tint val="75000"/>
                  </a:schemeClr>
                </a:solidFill>
              </a:defRPr>
            </a:lvl8pPr>
            <a:lvl9pPr marL="3656330" indent="0">
              <a:buNone/>
              <a:defRPr sz="14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0FCA9691-8234-44A9-AAFA-420875DE069D}" type="datetime1">
              <a:rPr lang="en-US" smtClean="0"/>
            </a:fld>
            <a:endParaRPr lang="en-US"/>
          </a:p>
        </p:txBody>
      </p:sp>
      <p:sp>
        <p:nvSpPr>
          <p:cNvPr id="5" name="Footer Placeholder 4"/>
          <p:cNvSpPr>
            <a:spLocks noGrp="1"/>
          </p:cNvSpPr>
          <p:nvPr>
            <p:ph type="ftr" sz="quarter" idx="11"/>
          </p:nvPr>
        </p:nvSpPr>
        <p:spPr/>
        <p:txBody>
          <a:bodyPr/>
          <a:lstStyle/>
          <a:p>
            <a:r>
              <a:rPr lang="en-US"/>
              <a:t>AUC Patent Details</a:t>
            </a:r>
            <a:endParaRPr lang="en-US"/>
          </a:p>
        </p:txBody>
      </p:sp>
      <p:sp>
        <p:nvSpPr>
          <p:cNvPr id="6" name="Slide Number Placeholder 5"/>
          <p:cNvSpPr>
            <a:spLocks noGrp="1"/>
          </p:cNvSpPr>
          <p:nvPr>
            <p:ph type="sldNum" sz="quarter" idx="12"/>
          </p:nvPr>
        </p:nvSpPr>
        <p:spPr/>
        <p:txBody>
          <a:bodyPr/>
          <a:lstStyle/>
          <a:p>
            <a:fld id="{C014DD1E-5D91-48A3-AD6D-45FBA980D106}" type="slidenum">
              <a:rPr lang="en-US" smtClean="0"/>
            </a:fld>
            <a:endParaRPr lang="en-US"/>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Date Placeholder 3"/>
          <p:cNvSpPr>
            <a:spLocks noGrp="1"/>
          </p:cNvSpPr>
          <p:nvPr>
            <p:ph type="dt" sz="half" idx="10"/>
          </p:nvPr>
        </p:nvSpPr>
        <p:spPr/>
        <p:txBody>
          <a:bodyPr/>
          <a:lstStyle/>
          <a:p>
            <a:fld id="{BAFD5C76-0E73-4FB6-ADDC-318EE6F4B3FF}" type="datetime1">
              <a:rPr lang="en-US" smtClean="0"/>
            </a:fld>
            <a:endParaRPr lang="en-US"/>
          </a:p>
        </p:txBody>
      </p:sp>
      <p:sp>
        <p:nvSpPr>
          <p:cNvPr id="5" name="Footer Placeholder 4"/>
          <p:cNvSpPr>
            <a:spLocks noGrp="1"/>
          </p:cNvSpPr>
          <p:nvPr>
            <p:ph type="ftr" sz="quarter" idx="11"/>
          </p:nvPr>
        </p:nvSpPr>
        <p:spPr/>
        <p:txBody>
          <a:bodyPr/>
          <a:lstStyle/>
          <a:p>
            <a:r>
              <a:rPr lang="en-US"/>
              <a:t>AUC Patent Details</a:t>
            </a:r>
            <a:endParaRPr lang="en-US"/>
          </a:p>
        </p:txBody>
      </p:sp>
      <p:sp>
        <p:nvSpPr>
          <p:cNvPr id="6" name="Slide Number Placeholder 5"/>
          <p:cNvSpPr>
            <a:spLocks noGrp="1"/>
          </p:cNvSpPr>
          <p:nvPr>
            <p:ph type="sldNum" sz="quarter" idx="12"/>
          </p:nvPr>
        </p:nvSpPr>
        <p:spPr/>
        <p:txBody>
          <a:bodyPr/>
          <a:lstStyle/>
          <a:p>
            <a:fld id="{C014DD1E-5D91-48A3-AD6D-45FBA980D106}" type="slidenum">
              <a:rPr lang="en-US" smtClean="0"/>
            </a:fld>
            <a:endParaRPr lang="en-US"/>
          </a:p>
        </p:txBody>
      </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5599" y="609600"/>
            <a:ext cx="1304403"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77159" y="609600"/>
            <a:ext cx="7058311" cy="5251450"/>
          </a:xfrm>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Date Placeholder 3"/>
          <p:cNvSpPr>
            <a:spLocks noGrp="1"/>
          </p:cNvSpPr>
          <p:nvPr>
            <p:ph type="dt" sz="half" idx="10"/>
          </p:nvPr>
        </p:nvSpPr>
        <p:spPr/>
        <p:txBody>
          <a:bodyPr/>
          <a:lstStyle/>
          <a:p>
            <a:fld id="{51614DC9-1F95-4A76-B4E8-882718374267}" type="datetime1">
              <a:rPr lang="en-US" smtClean="0"/>
            </a:fld>
            <a:endParaRPr lang="en-US"/>
          </a:p>
        </p:txBody>
      </p:sp>
      <p:sp>
        <p:nvSpPr>
          <p:cNvPr id="5" name="Footer Placeholder 4"/>
          <p:cNvSpPr>
            <a:spLocks noGrp="1"/>
          </p:cNvSpPr>
          <p:nvPr>
            <p:ph type="ftr" sz="quarter" idx="11"/>
          </p:nvPr>
        </p:nvSpPr>
        <p:spPr/>
        <p:txBody>
          <a:bodyPr/>
          <a:lstStyle/>
          <a:p>
            <a:r>
              <a:rPr lang="en-US"/>
              <a:t>AUC Patent Details</a:t>
            </a:r>
            <a:endParaRPr lang="en-US"/>
          </a:p>
        </p:txBody>
      </p:sp>
      <p:sp>
        <p:nvSpPr>
          <p:cNvPr id="6" name="Slide Number Placeholder 5"/>
          <p:cNvSpPr>
            <a:spLocks noGrp="1"/>
          </p:cNvSpPr>
          <p:nvPr>
            <p:ph type="sldNum" sz="quarter" idx="12"/>
          </p:nvPr>
        </p:nvSpPr>
        <p:spPr/>
        <p:txBody>
          <a:bodyPr/>
          <a:lstStyle/>
          <a:p>
            <a:fld id="{C014DD1E-5D91-48A3-AD6D-45FBA980D106}" type="slidenum">
              <a:rPr lang="en-US" smtClean="0"/>
            </a:fld>
            <a:endParaRPr lang="en-US"/>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6"/>
            <a:ext cx="12188825"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158" y="609600"/>
            <a:ext cx="8594429"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77158" y="2160590"/>
            <a:ext cx="8594429" cy="3880773"/>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Date Placeholder 3"/>
          <p:cNvSpPr>
            <a:spLocks noGrp="1"/>
          </p:cNvSpPr>
          <p:nvPr>
            <p:ph type="dt" sz="half" idx="2"/>
          </p:nvPr>
        </p:nvSpPr>
        <p:spPr>
          <a:xfrm>
            <a:off x="7203257" y="6041363"/>
            <a:ext cx="91170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E2DD0C2-A031-454C-A996-4402181F29D9}" type="datetime1">
              <a:rPr lang="en-US" smtClean="0"/>
            </a:fld>
            <a:endParaRPr lang="en-US"/>
          </a:p>
        </p:txBody>
      </p:sp>
      <p:sp>
        <p:nvSpPr>
          <p:cNvPr id="5" name="Footer Placeholder 4"/>
          <p:cNvSpPr>
            <a:spLocks noGrp="1"/>
          </p:cNvSpPr>
          <p:nvPr>
            <p:ph type="ftr" sz="quarter" idx="3"/>
          </p:nvPr>
        </p:nvSpPr>
        <p:spPr>
          <a:xfrm>
            <a:off x="677158" y="6041363"/>
            <a:ext cx="629597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AUC Patent Details</a:t>
            </a:r>
            <a:endParaRPr lang="en-US"/>
          </a:p>
        </p:txBody>
      </p:sp>
      <p:sp>
        <p:nvSpPr>
          <p:cNvPr id="6" name="Slide Number Placeholder 5"/>
          <p:cNvSpPr>
            <a:spLocks noGrp="1"/>
          </p:cNvSpPr>
          <p:nvPr>
            <p:ph type="sldNum" sz="quarter" idx="4"/>
          </p:nvPr>
        </p:nvSpPr>
        <p:spPr>
          <a:xfrm>
            <a:off x="8588426" y="6041363"/>
            <a:ext cx="683161"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C014DD1E-5D91-48A3-AD6D-45FBA980D106}"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ransition spd="med">
    <p:fade/>
  </p:transition>
  <p:hf hdr="0" ftr="0" dt="0"/>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2365"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599565"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6765"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3965"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165"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773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493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0965" algn="l" defTabSz="457200" rtl="0" eaLnBrk="1" latinLnBrk="0" hangingPunct="1">
        <a:defRPr sz="1800" kern="1200">
          <a:solidFill>
            <a:schemeClr val="tx1"/>
          </a:solidFill>
          <a:latin typeface="+mn-lt"/>
          <a:ea typeface="+mn-ea"/>
          <a:cs typeface="+mn-cs"/>
        </a:defRPr>
      </a:lvl4pPr>
      <a:lvl5pPr marL="1828165" algn="l" defTabSz="457200" rtl="0" eaLnBrk="1" latinLnBrk="0" hangingPunct="1">
        <a:defRPr sz="1800" kern="1200">
          <a:solidFill>
            <a:schemeClr val="tx1"/>
          </a:solidFill>
          <a:latin typeface="+mn-lt"/>
          <a:ea typeface="+mn-ea"/>
          <a:cs typeface="+mn-cs"/>
        </a:defRPr>
      </a:lvl5pPr>
      <a:lvl6pPr marL="2285365" algn="l" defTabSz="457200" rtl="0" eaLnBrk="1" latinLnBrk="0" hangingPunct="1">
        <a:defRPr sz="1800" kern="1200">
          <a:solidFill>
            <a:schemeClr val="tx1"/>
          </a:solidFill>
          <a:latin typeface="+mn-lt"/>
          <a:ea typeface="+mn-ea"/>
          <a:cs typeface="+mn-cs"/>
        </a:defRPr>
      </a:lvl6pPr>
      <a:lvl7pPr marL="2742565" algn="l" defTabSz="457200" rtl="0" eaLnBrk="1" latinLnBrk="0" hangingPunct="1">
        <a:defRPr sz="1800" kern="1200">
          <a:solidFill>
            <a:schemeClr val="tx1"/>
          </a:solidFill>
          <a:latin typeface="+mn-lt"/>
          <a:ea typeface="+mn-ea"/>
          <a:cs typeface="+mn-cs"/>
        </a:defRPr>
      </a:lvl7pPr>
      <a:lvl8pPr marL="3199130" algn="l" defTabSz="457200" rtl="0" eaLnBrk="1" latinLnBrk="0" hangingPunct="1">
        <a:defRPr sz="1800" kern="1200">
          <a:solidFill>
            <a:schemeClr val="tx1"/>
          </a:solidFill>
          <a:latin typeface="+mn-lt"/>
          <a:ea typeface="+mn-ea"/>
          <a:cs typeface="+mn-cs"/>
        </a:defRPr>
      </a:lvl8pPr>
      <a:lvl9pPr marL="365633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GIF"/></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GIF"/></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6485" y="320274"/>
            <a:ext cx="9982200" cy="698036"/>
          </a:xfrm>
        </p:spPr>
        <p:txBody>
          <a:bodyPr/>
          <a:lstStyle/>
          <a:p>
            <a:pPr algn="ctr"/>
            <a:r>
              <a:rPr lang="en-US" sz="4000" dirty="0">
                <a:solidFill>
                  <a:srgbClr val="FF0066"/>
                </a:solidFill>
              </a:rPr>
              <a:t>Introduction to CNN</a:t>
            </a:r>
            <a:endParaRPr lang="en-US" sz="4000" dirty="0">
              <a:solidFill>
                <a:srgbClr val="FF0066"/>
              </a:solidFill>
            </a:endParaRPr>
          </a:p>
        </p:txBody>
      </p:sp>
      <p:sp>
        <p:nvSpPr>
          <p:cNvPr id="4" name="Slide Number Placeholder 3"/>
          <p:cNvSpPr>
            <a:spLocks noGrp="1"/>
          </p:cNvSpPr>
          <p:nvPr>
            <p:ph type="sldNum" sz="quarter" idx="12"/>
          </p:nvPr>
        </p:nvSpPr>
        <p:spPr/>
        <p:txBody>
          <a:bodyPr/>
          <a:lstStyle/>
          <a:p>
            <a:fld id="{C014DD1E-5D91-48A3-AD6D-45FBA980D106}" type="slidenum">
              <a:rPr lang="en-US" smtClean="0"/>
            </a:fld>
            <a:endParaRPr lang="en-US"/>
          </a:p>
        </p:txBody>
      </p:sp>
      <p:pic>
        <p:nvPicPr>
          <p:cNvPr id="9" name="Picture 8" descr="1 caaTn6qbHTVuo__Hro5iLA.png"/>
          <p:cNvPicPr>
            <a:picLocks noChangeAspect="1"/>
          </p:cNvPicPr>
          <p:nvPr/>
        </p:nvPicPr>
        <p:blipFill>
          <a:blip r:embed="rId1"/>
          <a:stretch>
            <a:fillRect/>
          </a:stretch>
        </p:blipFill>
        <p:spPr>
          <a:xfrm>
            <a:off x="2284412" y="1223457"/>
            <a:ext cx="6477000" cy="4647394"/>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4183" y="381000"/>
            <a:ext cx="8594429" cy="762000"/>
          </a:xfrm>
        </p:spPr>
        <p:txBody>
          <a:bodyPr/>
          <a:lstStyle/>
          <a:p>
            <a:r>
              <a:rPr lang="en-US" dirty="0"/>
              <a:t>Topics to be covered…</a:t>
            </a:r>
            <a:endParaRPr lang="en-US" dirty="0"/>
          </a:p>
        </p:txBody>
      </p:sp>
      <p:sp>
        <p:nvSpPr>
          <p:cNvPr id="3" name="Content Placeholder 2"/>
          <p:cNvSpPr>
            <a:spLocks noGrp="1"/>
          </p:cNvSpPr>
          <p:nvPr>
            <p:ph idx="1"/>
          </p:nvPr>
        </p:nvSpPr>
        <p:spPr>
          <a:xfrm>
            <a:off x="677158" y="1143000"/>
            <a:ext cx="8594429" cy="5252373"/>
          </a:xfrm>
        </p:spPr>
        <p:txBody>
          <a:bodyPr>
            <a:noAutofit/>
          </a:bodyPr>
          <a:lstStyle/>
          <a:p>
            <a:r>
              <a:rPr lang="en-GB" sz="2000" dirty="0" err="1"/>
              <a:t>Convolutional</a:t>
            </a:r>
            <a:r>
              <a:rPr lang="en-GB" sz="2000" dirty="0"/>
              <a:t> neural network</a:t>
            </a:r>
            <a:endParaRPr lang="en-GB" sz="2000" dirty="0"/>
          </a:p>
          <a:p>
            <a:r>
              <a:rPr lang="en-GB" sz="2000" dirty="0"/>
              <a:t>Convolution layer, </a:t>
            </a:r>
            <a:r>
              <a:rPr lang="en-GB" sz="2000" dirty="0" err="1"/>
              <a:t>ReLU</a:t>
            </a:r>
            <a:r>
              <a:rPr lang="en-GB" sz="2000" dirty="0"/>
              <a:t> Activation Function</a:t>
            </a:r>
            <a:endParaRPr lang="en-GB" sz="2000" dirty="0"/>
          </a:p>
          <a:p>
            <a:r>
              <a:rPr lang="en-GB" sz="2000" dirty="0"/>
              <a:t>Padding, Stride</a:t>
            </a:r>
            <a:endParaRPr lang="en-GB" sz="2000" dirty="0"/>
          </a:p>
          <a:p>
            <a:r>
              <a:rPr lang="en-GB" sz="2000" dirty="0"/>
              <a:t>Pooling layer</a:t>
            </a:r>
            <a:endParaRPr lang="en-GB" sz="2000" dirty="0"/>
          </a:p>
          <a:p>
            <a:r>
              <a:rPr lang="en-GB" sz="2000" dirty="0"/>
              <a:t>Flattening, </a:t>
            </a:r>
            <a:r>
              <a:rPr lang="en-GB" sz="2000" dirty="0" err="1"/>
              <a:t>Subsampling</a:t>
            </a:r>
            <a:endParaRPr lang="en-GB" sz="2000" dirty="0"/>
          </a:p>
          <a:p>
            <a:r>
              <a:rPr lang="en-GB" sz="2000" dirty="0"/>
              <a:t>Loss layer, Dense layer</a:t>
            </a:r>
            <a:endParaRPr lang="en-GB" sz="2000" dirty="0"/>
          </a:p>
          <a:p>
            <a:r>
              <a:rPr lang="en-GB" sz="2000" dirty="0"/>
              <a:t>1x1 convolution, Input channels</a:t>
            </a:r>
            <a:endParaRPr lang="en-GB" sz="2000" dirty="0"/>
          </a:p>
          <a:p>
            <a:r>
              <a:rPr lang="en-GB" sz="2000" dirty="0"/>
              <a:t>Implementation of CNN with </a:t>
            </a:r>
            <a:r>
              <a:rPr lang="en-GB" sz="2000" dirty="0" err="1"/>
              <a:t>TensorFlow</a:t>
            </a:r>
            <a:r>
              <a:rPr lang="en-GB" sz="2000" dirty="0"/>
              <a:t>, </a:t>
            </a:r>
            <a:r>
              <a:rPr lang="en-GB" sz="2000" dirty="0" err="1"/>
              <a:t>Keras</a:t>
            </a:r>
            <a:endParaRPr lang="en-GB" sz="2000" dirty="0"/>
          </a:p>
        </p:txBody>
      </p:sp>
      <p:sp>
        <p:nvSpPr>
          <p:cNvPr id="4" name="Slide Number Placeholder 3"/>
          <p:cNvSpPr>
            <a:spLocks noGrp="1"/>
          </p:cNvSpPr>
          <p:nvPr>
            <p:ph type="sldNum" sz="quarter" idx="12"/>
          </p:nvPr>
        </p:nvSpPr>
        <p:spPr/>
        <p:txBody>
          <a:bodyPr/>
          <a:lstStyle/>
          <a:p>
            <a:fld id="{C014DD1E-5D91-48A3-AD6D-45FBA980D106}" type="slidenum">
              <a:rPr lang="en-US" smtClean="0"/>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457200"/>
            <a:ext cx="10969943" cy="757238"/>
          </a:xfrm>
        </p:spPr>
        <p:txBody>
          <a:bodyPr/>
          <a:lstStyle/>
          <a:p>
            <a:r>
              <a:rPr lang="en-GB" sz="3600" dirty="0"/>
              <a:t>Introduction to Convolution Neural Network</a:t>
            </a:r>
            <a:endParaRPr lang="en-GB" sz="3600" dirty="0"/>
          </a:p>
        </p:txBody>
      </p:sp>
      <p:sp>
        <p:nvSpPr>
          <p:cNvPr id="8196" name="Rectangle 3"/>
          <p:cNvSpPr>
            <a:spLocks noGrp="1" noChangeArrowheads="1"/>
          </p:cNvSpPr>
          <p:nvPr>
            <p:ph idx="1"/>
          </p:nvPr>
        </p:nvSpPr>
        <p:spPr>
          <a:xfrm>
            <a:off x="380901" y="1285874"/>
            <a:ext cx="9218711" cy="5191126"/>
          </a:xfrm>
        </p:spPr>
        <p:txBody>
          <a:bodyPr>
            <a:normAutofit/>
          </a:bodyPr>
          <a:lstStyle/>
          <a:p>
            <a:pPr algn="just"/>
            <a:r>
              <a:rPr lang="en-US" sz="2000" dirty="0" err="1"/>
              <a:t>Convolutional</a:t>
            </a:r>
            <a:r>
              <a:rPr lang="en-US" sz="2000" dirty="0"/>
              <a:t> Neural Networks are very similar to </a:t>
            </a:r>
            <a:r>
              <a:rPr lang="en-US" sz="2000" dirty="0">
                <a:solidFill>
                  <a:srgbClr val="0070C0"/>
                </a:solidFill>
              </a:rPr>
              <a:t>ordinary Neural Networks</a:t>
            </a:r>
            <a:r>
              <a:rPr lang="en-US" sz="2000" dirty="0"/>
              <a:t>. </a:t>
            </a:r>
            <a:endParaRPr lang="en-US" sz="2000" dirty="0"/>
          </a:p>
          <a:p>
            <a:pPr algn="just"/>
            <a:r>
              <a:rPr lang="en-US" sz="2000" dirty="0"/>
              <a:t>They are made up of </a:t>
            </a:r>
            <a:r>
              <a:rPr lang="en-US" sz="2000" dirty="0">
                <a:solidFill>
                  <a:srgbClr val="0070C0"/>
                </a:solidFill>
              </a:rPr>
              <a:t>neurons</a:t>
            </a:r>
            <a:r>
              <a:rPr lang="en-US" sz="2000" dirty="0"/>
              <a:t> that have learnable weights and biases. </a:t>
            </a:r>
            <a:endParaRPr lang="en-US" sz="2000" dirty="0"/>
          </a:p>
          <a:p>
            <a:pPr algn="just"/>
            <a:r>
              <a:rPr lang="en-US" sz="2000" dirty="0" err="1"/>
              <a:t>Convolutional</a:t>
            </a:r>
            <a:r>
              <a:rPr lang="en-US" sz="2000" dirty="0"/>
              <a:t> neural networks, also called </a:t>
            </a:r>
            <a:r>
              <a:rPr lang="en-US" sz="2000" dirty="0" err="1"/>
              <a:t>ConvNets</a:t>
            </a:r>
            <a:r>
              <a:rPr lang="en-US" sz="2000" dirty="0"/>
              <a:t>, were first introduced in the </a:t>
            </a:r>
            <a:r>
              <a:rPr lang="en-US" sz="2000" dirty="0">
                <a:solidFill>
                  <a:srgbClr val="0070C0"/>
                </a:solidFill>
              </a:rPr>
              <a:t>1980s</a:t>
            </a:r>
            <a:r>
              <a:rPr lang="en-US" sz="2000" dirty="0"/>
              <a:t> by </a:t>
            </a:r>
            <a:r>
              <a:rPr lang="en-US" sz="2000" dirty="0" err="1"/>
              <a:t>Yann</a:t>
            </a:r>
            <a:r>
              <a:rPr lang="en-US" sz="2000" dirty="0"/>
              <a:t> </a:t>
            </a:r>
            <a:r>
              <a:rPr lang="en-US" sz="2000" dirty="0" err="1"/>
              <a:t>LeCun</a:t>
            </a:r>
            <a:r>
              <a:rPr lang="en-US" sz="2000" dirty="0"/>
              <a:t>, a postdoctoral computer science researcher.</a:t>
            </a:r>
            <a:endParaRPr lang="en-US" sz="2000" dirty="0"/>
          </a:p>
          <a:p>
            <a:pPr algn="just"/>
            <a:r>
              <a:rPr lang="en-US" sz="2000" dirty="0"/>
              <a:t>The early version of CNNs, called </a:t>
            </a:r>
            <a:r>
              <a:rPr lang="en-US" sz="2000" dirty="0" err="1"/>
              <a:t>LeNet</a:t>
            </a:r>
            <a:r>
              <a:rPr lang="en-US" sz="2000" dirty="0"/>
              <a:t> (after </a:t>
            </a:r>
            <a:r>
              <a:rPr lang="en-US" sz="2000" dirty="0" err="1"/>
              <a:t>LeCun</a:t>
            </a:r>
            <a:r>
              <a:rPr lang="en-US" sz="2000" dirty="0"/>
              <a:t>), could </a:t>
            </a:r>
            <a:r>
              <a:rPr lang="en-US" sz="2000" dirty="0">
                <a:solidFill>
                  <a:srgbClr val="0070C0"/>
                </a:solidFill>
              </a:rPr>
              <a:t>recognize handwritten digits</a:t>
            </a:r>
            <a:r>
              <a:rPr lang="en-US" sz="2000" dirty="0"/>
              <a:t>. CNNs found a niche market in banking and postal services and banking, where they read zip codes on envelopes and digits on checks.</a:t>
            </a:r>
            <a:endParaRPr lang="en-US" sz="2000" dirty="0"/>
          </a:p>
          <a:p>
            <a:pPr algn="just"/>
            <a:r>
              <a:rPr lang="en-US" sz="2000" dirty="0"/>
              <a:t>But despite their ingenuity, </a:t>
            </a:r>
            <a:r>
              <a:rPr lang="en-US" sz="2000" dirty="0" err="1"/>
              <a:t>ConvNets</a:t>
            </a:r>
            <a:r>
              <a:rPr lang="en-US" sz="2000" dirty="0"/>
              <a:t> remained on the sidelines of computer vision and artificial intelligence because they faced a serious problem: They</a:t>
            </a:r>
            <a:r>
              <a:rPr lang="en-US" sz="2000" dirty="0">
                <a:solidFill>
                  <a:srgbClr val="0070C0"/>
                </a:solidFill>
              </a:rPr>
              <a:t> could not scale</a:t>
            </a:r>
            <a:r>
              <a:rPr lang="en-US" sz="2000" dirty="0"/>
              <a:t>.</a:t>
            </a:r>
            <a:endParaRPr lang="en-US" sz="2000" dirty="0"/>
          </a:p>
          <a:p>
            <a:pPr algn="just"/>
            <a:r>
              <a:rPr lang="en-US" sz="2000" dirty="0"/>
              <a:t>In 2012, </a:t>
            </a:r>
            <a:r>
              <a:rPr lang="en-US" sz="2000" dirty="0" err="1"/>
              <a:t>AlexNet</a:t>
            </a:r>
            <a:r>
              <a:rPr lang="en-US" sz="2000" dirty="0"/>
              <a:t> showed that perhaps the time had come to revisit deep learning, the branch of AI that uses multi-layered neural networks.</a:t>
            </a:r>
            <a:endParaRPr lang="en-US" sz="20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457200"/>
            <a:ext cx="10969943" cy="757238"/>
          </a:xfrm>
        </p:spPr>
        <p:txBody>
          <a:bodyPr/>
          <a:lstStyle/>
          <a:p>
            <a:r>
              <a:rPr lang="en-GB" sz="3600" dirty="0"/>
              <a:t>Introduction to Convolution Neural Network</a:t>
            </a:r>
            <a:endParaRPr lang="en-GB" sz="36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pic>
        <p:nvPicPr>
          <p:cNvPr id="1026" name="Picture 2"/>
          <p:cNvPicPr>
            <a:picLocks noChangeAspect="1" noChangeArrowheads="1"/>
          </p:cNvPicPr>
          <p:nvPr/>
        </p:nvPicPr>
        <p:blipFill>
          <a:blip r:embed="rId1"/>
          <a:srcRect/>
          <a:stretch>
            <a:fillRect/>
          </a:stretch>
        </p:blipFill>
        <p:spPr bwMode="auto">
          <a:xfrm>
            <a:off x="531812" y="1676400"/>
            <a:ext cx="8652268" cy="4114800"/>
          </a:xfrm>
          <a:prstGeom prst="rect">
            <a:avLst/>
          </a:prstGeom>
          <a:noFill/>
          <a:ln w="9525">
            <a:noFill/>
            <a:miter lim="800000"/>
            <a:headEnd/>
            <a:tailEnd/>
          </a:ln>
          <a:effectLst/>
        </p:spPr>
      </p:pic>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457200"/>
            <a:ext cx="10969943" cy="757238"/>
          </a:xfrm>
        </p:spPr>
        <p:txBody>
          <a:bodyPr/>
          <a:lstStyle/>
          <a:p>
            <a:r>
              <a:rPr lang="en-GB" sz="3600" dirty="0"/>
              <a:t>Introduction to Convolution Neural Network</a:t>
            </a:r>
            <a:endParaRPr lang="en-GB" sz="36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pic>
        <p:nvPicPr>
          <p:cNvPr id="2050" name="Picture 2"/>
          <p:cNvPicPr>
            <a:picLocks noChangeAspect="1" noChangeArrowheads="1"/>
          </p:cNvPicPr>
          <p:nvPr/>
        </p:nvPicPr>
        <p:blipFill>
          <a:blip r:embed="rId1"/>
          <a:srcRect l="1159" t="20989" r="451" b="6250"/>
          <a:stretch>
            <a:fillRect/>
          </a:stretch>
        </p:blipFill>
        <p:spPr bwMode="auto">
          <a:xfrm>
            <a:off x="303212" y="1323115"/>
            <a:ext cx="9291320" cy="4724400"/>
          </a:xfrm>
          <a:prstGeom prst="rect">
            <a:avLst/>
          </a:prstGeom>
          <a:noFill/>
          <a:ln w="9525">
            <a:noFill/>
            <a:miter lim="800000"/>
            <a:headEnd/>
            <a:tailEnd/>
          </a:ln>
          <a:effectLst/>
        </p:spPr>
      </p:pic>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457200"/>
            <a:ext cx="10969943" cy="757238"/>
          </a:xfrm>
        </p:spPr>
        <p:txBody>
          <a:bodyPr/>
          <a:lstStyle/>
          <a:p>
            <a:r>
              <a:rPr lang="en-GB" sz="3600" dirty="0"/>
              <a:t>Introduction to Convolution Neural Network</a:t>
            </a:r>
            <a:endParaRPr lang="en-GB" sz="3600" dirty="0"/>
          </a:p>
        </p:txBody>
      </p:sp>
      <p:sp>
        <p:nvSpPr>
          <p:cNvPr id="8196" name="Rectangle 3"/>
          <p:cNvSpPr>
            <a:spLocks noGrp="1" noChangeArrowheads="1"/>
          </p:cNvSpPr>
          <p:nvPr>
            <p:ph idx="1"/>
          </p:nvPr>
        </p:nvSpPr>
        <p:spPr>
          <a:xfrm>
            <a:off x="380901" y="1285874"/>
            <a:ext cx="9218711" cy="5191126"/>
          </a:xfrm>
        </p:spPr>
        <p:txBody>
          <a:bodyPr>
            <a:normAutofit/>
          </a:bodyPr>
          <a:lstStyle/>
          <a:p>
            <a:pPr algn="just"/>
            <a:r>
              <a:rPr lang="en-US" sz="2000" dirty="0"/>
              <a:t>Convolution Neural Network has input layer, output layer, many hidden layers and </a:t>
            </a:r>
            <a:r>
              <a:rPr lang="en-US" sz="2000" dirty="0">
                <a:solidFill>
                  <a:srgbClr val="0070C0"/>
                </a:solidFill>
              </a:rPr>
              <a:t>millions of parameters </a:t>
            </a:r>
            <a:r>
              <a:rPr lang="en-US" sz="2000" dirty="0"/>
              <a:t>that have the </a:t>
            </a:r>
            <a:r>
              <a:rPr lang="en-US" sz="2000" dirty="0">
                <a:solidFill>
                  <a:srgbClr val="0070C0"/>
                </a:solidFill>
              </a:rPr>
              <a:t>ability to learn complex objects and patterns</a:t>
            </a:r>
            <a:r>
              <a:rPr lang="en-US" sz="2000" dirty="0"/>
              <a:t>. </a:t>
            </a:r>
            <a:endParaRPr lang="en-US" sz="2000" dirty="0"/>
          </a:p>
          <a:p>
            <a:pPr algn="just"/>
            <a:r>
              <a:rPr lang="en-US" sz="2000" dirty="0" err="1"/>
              <a:t>Convolutional</a:t>
            </a:r>
            <a:r>
              <a:rPr lang="en-US" sz="2000" dirty="0"/>
              <a:t> Neural Networks are a bit different. First of all, the layers are </a:t>
            </a:r>
            <a:r>
              <a:rPr lang="en-US" sz="2000" dirty="0">
                <a:solidFill>
                  <a:srgbClr val="0070C0"/>
                </a:solidFill>
              </a:rPr>
              <a:t>organized in 3 dimensions</a:t>
            </a:r>
            <a:r>
              <a:rPr lang="en-US" sz="2000" dirty="0"/>
              <a:t>: width, height and depth. </a:t>
            </a:r>
            <a:endParaRPr lang="en-US" sz="2000" dirty="0"/>
          </a:p>
          <a:p>
            <a:pPr algn="just"/>
            <a:r>
              <a:rPr lang="en-US" sz="2000" dirty="0"/>
              <a:t>Further, the neurons in </a:t>
            </a:r>
            <a:r>
              <a:rPr lang="en-US" sz="2000" dirty="0">
                <a:solidFill>
                  <a:srgbClr val="FF0066"/>
                </a:solidFill>
              </a:rPr>
              <a:t>one layer do not connect to all the neurons in the next layer </a:t>
            </a:r>
            <a:r>
              <a:rPr lang="en-US" sz="2000" dirty="0"/>
              <a:t>but only to a small region of it. Lastly, the final output will be reduced to a </a:t>
            </a:r>
            <a:r>
              <a:rPr lang="en-US" sz="2000" dirty="0">
                <a:solidFill>
                  <a:srgbClr val="FF0066"/>
                </a:solidFill>
              </a:rPr>
              <a:t>single vector of probability scores</a:t>
            </a:r>
            <a:r>
              <a:rPr lang="en-US" sz="2000" dirty="0"/>
              <a:t>, organized along the depth dimension.</a:t>
            </a:r>
            <a:endParaRPr lang="en-US" sz="2000" dirty="0"/>
          </a:p>
          <a:p>
            <a:pPr algn="just"/>
            <a:r>
              <a:rPr lang="en-US" sz="2000" dirty="0"/>
              <a:t>It sub-samples the given input by </a:t>
            </a:r>
            <a:r>
              <a:rPr lang="en-US" sz="2000" dirty="0">
                <a:solidFill>
                  <a:srgbClr val="0070C0"/>
                </a:solidFill>
              </a:rPr>
              <a:t>convolution and pooling processes </a:t>
            </a:r>
            <a:r>
              <a:rPr lang="en-US" sz="2000" dirty="0"/>
              <a:t>and is subjected to activation function, where all of these are the hidden layers which are partially connected and at last end is the fully connected layer that results in the output layer. </a:t>
            </a:r>
            <a:endParaRPr lang="en-US" sz="2000" dirty="0"/>
          </a:p>
          <a:p>
            <a:pPr algn="just"/>
            <a:r>
              <a:rPr lang="en-US" sz="2000" dirty="0"/>
              <a:t>The output retains the original shape similar to input image dimensions.</a:t>
            </a:r>
            <a:endParaRPr lang="en-US" sz="20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457200"/>
            <a:ext cx="10969943" cy="757238"/>
          </a:xfrm>
        </p:spPr>
        <p:txBody>
          <a:bodyPr/>
          <a:lstStyle/>
          <a:p>
            <a:r>
              <a:rPr lang="en-GB" sz="3600" dirty="0"/>
              <a:t>Limitations of CNN</a:t>
            </a:r>
            <a:endParaRPr lang="en-GB" sz="3600" dirty="0"/>
          </a:p>
        </p:txBody>
      </p:sp>
      <p:sp>
        <p:nvSpPr>
          <p:cNvPr id="8196" name="Rectangle 3"/>
          <p:cNvSpPr>
            <a:spLocks noGrp="1" noChangeArrowheads="1"/>
          </p:cNvSpPr>
          <p:nvPr>
            <p:ph idx="1"/>
          </p:nvPr>
        </p:nvSpPr>
        <p:spPr>
          <a:xfrm>
            <a:off x="380901" y="1285874"/>
            <a:ext cx="9218711" cy="5191126"/>
          </a:xfrm>
        </p:spPr>
        <p:txBody>
          <a:bodyPr>
            <a:normAutofit/>
          </a:bodyPr>
          <a:lstStyle/>
          <a:p>
            <a:pPr algn="just"/>
            <a:r>
              <a:rPr lang="en-US" sz="2000" dirty="0"/>
              <a:t>Understanding the </a:t>
            </a:r>
            <a:r>
              <a:rPr lang="en-US" sz="2000" dirty="0">
                <a:solidFill>
                  <a:srgbClr val="0070C0"/>
                </a:solidFill>
              </a:rPr>
              <a:t>meaning of the contents of images</a:t>
            </a:r>
            <a:r>
              <a:rPr lang="en-US" sz="2000" dirty="0"/>
              <a:t>, they perform poorly. </a:t>
            </a:r>
            <a:endParaRPr lang="en-US" sz="20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pic>
        <p:nvPicPr>
          <p:cNvPr id="7" name="Picture 6" descr="img_365.jpg"/>
          <p:cNvPicPr>
            <a:picLocks noChangeAspect="1"/>
          </p:cNvPicPr>
          <p:nvPr/>
        </p:nvPicPr>
        <p:blipFill>
          <a:blip r:embed="rId1"/>
          <a:stretch>
            <a:fillRect/>
          </a:stretch>
        </p:blipFill>
        <p:spPr>
          <a:xfrm>
            <a:off x="1827212" y="1821875"/>
            <a:ext cx="6400800" cy="4864608"/>
          </a:xfrm>
          <a:prstGeom prst="rect">
            <a:avLst/>
          </a:prstGeom>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457200"/>
            <a:ext cx="10969943" cy="757238"/>
          </a:xfrm>
        </p:spPr>
        <p:txBody>
          <a:bodyPr/>
          <a:lstStyle/>
          <a:p>
            <a:r>
              <a:rPr lang="en-GB" sz="3600" dirty="0"/>
              <a:t>Limitations of CNN</a:t>
            </a:r>
            <a:endParaRPr lang="en-GB" sz="3600" dirty="0"/>
          </a:p>
        </p:txBody>
      </p:sp>
      <p:sp>
        <p:nvSpPr>
          <p:cNvPr id="8196" name="Rectangle 3"/>
          <p:cNvSpPr>
            <a:spLocks noGrp="1" noChangeArrowheads="1"/>
          </p:cNvSpPr>
          <p:nvPr>
            <p:ph idx="1"/>
          </p:nvPr>
        </p:nvSpPr>
        <p:spPr>
          <a:xfrm>
            <a:off x="380901" y="1285874"/>
            <a:ext cx="9218711" cy="5191126"/>
          </a:xfrm>
        </p:spPr>
        <p:txBody>
          <a:bodyPr>
            <a:normAutofit/>
          </a:bodyPr>
          <a:lstStyle/>
          <a:p>
            <a:pPr algn="just"/>
            <a:r>
              <a:rPr lang="en-US" sz="2000" dirty="0"/>
              <a:t>But despite the vast repositories of images and videos they’re trained on, they still struggle to </a:t>
            </a:r>
            <a:r>
              <a:rPr lang="en-US" sz="2000" dirty="0">
                <a:solidFill>
                  <a:srgbClr val="0070C0"/>
                </a:solidFill>
              </a:rPr>
              <a:t>detect and block inappropriate content</a:t>
            </a:r>
            <a:r>
              <a:rPr lang="en-US" sz="2000" dirty="0"/>
              <a:t>. </a:t>
            </a:r>
            <a:endParaRPr lang="en-US" sz="2000" dirty="0"/>
          </a:p>
          <a:p>
            <a:pPr algn="just"/>
            <a:r>
              <a:rPr lang="en-US" sz="2000" dirty="0"/>
              <a:t>In one case, </a:t>
            </a:r>
            <a:r>
              <a:rPr lang="en-US" sz="2000" dirty="0" err="1"/>
              <a:t>Facebook’s</a:t>
            </a:r>
            <a:r>
              <a:rPr lang="en-US" sz="2000" dirty="0"/>
              <a:t> content-moderation AI banned the photo of a 30,000-year-old statue as nudity.</a:t>
            </a:r>
            <a:endParaRPr lang="en-US" sz="2000" dirty="0"/>
          </a:p>
          <a:p>
            <a:pPr algn="just"/>
            <a:r>
              <a:rPr lang="en-US" sz="2000" dirty="0"/>
              <a:t>Several studies have shown that CNNs trained on </a:t>
            </a:r>
            <a:r>
              <a:rPr lang="en-US" sz="2000" dirty="0" err="1"/>
              <a:t>ImageNet</a:t>
            </a:r>
            <a:r>
              <a:rPr lang="en-US" sz="2000" dirty="0"/>
              <a:t> and other popular datasets </a:t>
            </a:r>
            <a:r>
              <a:rPr lang="en-US" sz="2000" dirty="0">
                <a:solidFill>
                  <a:srgbClr val="FF0066"/>
                </a:solidFill>
              </a:rPr>
              <a:t>fail to detect objects when they see them under different lighting conditions and from new angles</a:t>
            </a:r>
            <a:r>
              <a:rPr lang="en-US" sz="2000" dirty="0"/>
              <a:t>.</a:t>
            </a:r>
            <a:endParaRPr lang="en-US" sz="2000" dirty="0"/>
          </a:p>
          <a:p>
            <a:pPr algn="just"/>
            <a:r>
              <a:rPr lang="en-US" sz="2000" dirty="0"/>
              <a:t>A recent study by researchers at the MIT-IBM Watson AI Lab highlights these shortcomings. It also introduces </a:t>
            </a:r>
            <a:r>
              <a:rPr lang="en-US" sz="2000" dirty="0" err="1">
                <a:solidFill>
                  <a:srgbClr val="0070C0"/>
                </a:solidFill>
              </a:rPr>
              <a:t>ObjectNet</a:t>
            </a:r>
            <a:r>
              <a:rPr lang="en-US" sz="2000" dirty="0"/>
              <a:t>, a dataset that better represents the different nuances of how objects are seen in real life. </a:t>
            </a:r>
            <a:endParaRPr lang="en-US" sz="2000" dirty="0"/>
          </a:p>
          <a:p>
            <a:pPr algn="just"/>
            <a:r>
              <a:rPr lang="en-US" sz="2000" dirty="0"/>
              <a:t>CNNs </a:t>
            </a:r>
            <a:r>
              <a:rPr lang="en-US" sz="2000" dirty="0">
                <a:solidFill>
                  <a:srgbClr val="FF0066"/>
                </a:solidFill>
              </a:rPr>
              <a:t>don’t develop the mental models </a:t>
            </a:r>
            <a:r>
              <a:rPr lang="en-US" sz="2000" dirty="0"/>
              <a:t>that humans have about different objects and their ability to imagine those objects in previously unseen contexts.</a:t>
            </a:r>
            <a:endParaRPr lang="en-US" sz="20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457200"/>
            <a:ext cx="10969943" cy="609600"/>
          </a:xfrm>
        </p:spPr>
        <p:txBody>
          <a:bodyPr>
            <a:normAutofit fontScale="90000"/>
          </a:bodyPr>
          <a:lstStyle/>
          <a:p>
            <a:r>
              <a:rPr lang="en-GB" sz="3600" dirty="0"/>
              <a:t>Limitations of CNN</a:t>
            </a:r>
            <a:endParaRPr lang="en-GB" sz="36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pic>
        <p:nvPicPr>
          <p:cNvPr id="3074" name="Picture 2"/>
          <p:cNvPicPr>
            <a:picLocks noChangeAspect="1" noChangeArrowheads="1"/>
          </p:cNvPicPr>
          <p:nvPr/>
        </p:nvPicPr>
        <p:blipFill>
          <a:blip r:embed="rId1"/>
          <a:srcRect l="26928" t="9375" r="26806" b="6250"/>
          <a:stretch>
            <a:fillRect/>
          </a:stretch>
        </p:blipFill>
        <p:spPr bwMode="auto">
          <a:xfrm>
            <a:off x="2097372" y="1073725"/>
            <a:ext cx="6019800" cy="5715000"/>
          </a:xfrm>
          <a:prstGeom prst="rect">
            <a:avLst/>
          </a:prstGeom>
          <a:noFill/>
          <a:ln w="9525">
            <a:noFill/>
            <a:miter lim="800000"/>
            <a:headEnd/>
            <a:tailEnd/>
          </a:ln>
          <a:effectLst/>
        </p:spPr>
      </p:pic>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457200"/>
            <a:ext cx="10969943" cy="757238"/>
          </a:xfrm>
        </p:spPr>
        <p:txBody>
          <a:bodyPr/>
          <a:lstStyle/>
          <a:p>
            <a:r>
              <a:rPr lang="en-GB" sz="3600" dirty="0"/>
              <a:t>Limitations of CNN</a:t>
            </a:r>
            <a:endParaRPr lang="en-GB" sz="3600" dirty="0"/>
          </a:p>
        </p:txBody>
      </p:sp>
      <p:sp>
        <p:nvSpPr>
          <p:cNvPr id="8196" name="Rectangle 3"/>
          <p:cNvSpPr>
            <a:spLocks noGrp="1" noChangeArrowheads="1"/>
          </p:cNvSpPr>
          <p:nvPr>
            <p:ph idx="1"/>
          </p:nvPr>
        </p:nvSpPr>
        <p:spPr>
          <a:xfrm>
            <a:off x="380901" y="1285874"/>
            <a:ext cx="9218711" cy="5191126"/>
          </a:xfrm>
        </p:spPr>
        <p:txBody>
          <a:bodyPr>
            <a:normAutofit/>
          </a:bodyPr>
          <a:lstStyle/>
          <a:p>
            <a:pPr algn="just"/>
            <a:r>
              <a:rPr lang="en-US" sz="2000" dirty="0"/>
              <a:t>Another problem with </a:t>
            </a:r>
            <a:r>
              <a:rPr lang="en-US" sz="2000" dirty="0" err="1"/>
              <a:t>convolutional</a:t>
            </a:r>
            <a:r>
              <a:rPr lang="en-US" sz="2000" dirty="0"/>
              <a:t> neural networks is their </a:t>
            </a:r>
            <a:r>
              <a:rPr lang="en-US" sz="2000" dirty="0">
                <a:solidFill>
                  <a:srgbClr val="FF0066"/>
                </a:solidFill>
              </a:rPr>
              <a:t>inability to understand the relations between different objects</a:t>
            </a:r>
            <a:r>
              <a:rPr lang="en-US" sz="2000" dirty="0"/>
              <a:t>. Consider the following image, which is known as a “</a:t>
            </a:r>
            <a:r>
              <a:rPr lang="en-US" sz="2000" dirty="0" err="1"/>
              <a:t>Bongard</a:t>
            </a:r>
            <a:r>
              <a:rPr lang="en-US" sz="2000" dirty="0"/>
              <a:t> problem”.</a:t>
            </a:r>
            <a:endParaRPr lang="en-US" sz="20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pic>
        <p:nvPicPr>
          <p:cNvPr id="4098" name="Picture 2"/>
          <p:cNvPicPr>
            <a:picLocks noChangeAspect="1" noChangeArrowheads="1"/>
          </p:cNvPicPr>
          <p:nvPr/>
        </p:nvPicPr>
        <p:blipFill>
          <a:blip r:embed="rId1"/>
          <a:srcRect/>
          <a:stretch>
            <a:fillRect/>
          </a:stretch>
        </p:blipFill>
        <p:spPr bwMode="auto">
          <a:xfrm>
            <a:off x="1730227" y="2408955"/>
            <a:ext cx="6629400" cy="4324350"/>
          </a:xfrm>
          <a:prstGeom prst="rect">
            <a:avLst/>
          </a:prstGeom>
          <a:noFill/>
          <a:ln w="9525">
            <a:noFill/>
            <a:miter lim="800000"/>
            <a:headEnd/>
            <a:tailEnd/>
          </a:ln>
          <a:effectLst/>
        </p:spPr>
      </p:pic>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457200"/>
            <a:ext cx="10969943" cy="757238"/>
          </a:xfrm>
        </p:spPr>
        <p:txBody>
          <a:bodyPr/>
          <a:lstStyle/>
          <a:p>
            <a:r>
              <a:rPr lang="en-GB" sz="3600" dirty="0"/>
              <a:t>Limitations of CNN</a:t>
            </a:r>
            <a:endParaRPr lang="en-GB" sz="3600" dirty="0"/>
          </a:p>
        </p:txBody>
      </p:sp>
      <p:sp>
        <p:nvSpPr>
          <p:cNvPr id="8196" name="Rectangle 3"/>
          <p:cNvSpPr>
            <a:spLocks noGrp="1" noChangeArrowheads="1"/>
          </p:cNvSpPr>
          <p:nvPr>
            <p:ph idx="1"/>
          </p:nvPr>
        </p:nvSpPr>
        <p:spPr>
          <a:xfrm>
            <a:off x="380901" y="1285874"/>
            <a:ext cx="9218711" cy="5191126"/>
          </a:xfrm>
        </p:spPr>
        <p:txBody>
          <a:bodyPr>
            <a:normAutofit/>
          </a:bodyPr>
          <a:lstStyle/>
          <a:p>
            <a:pPr algn="just"/>
            <a:r>
              <a:rPr lang="en-US" sz="2000" dirty="0">
                <a:solidFill>
                  <a:srgbClr val="FF0066"/>
                </a:solidFill>
              </a:rPr>
              <a:t>Adversarial attacks </a:t>
            </a:r>
            <a:r>
              <a:rPr lang="en-US" sz="2000" dirty="0"/>
              <a:t>have become a major source of concern as deep learning and especially CNNs have become an integral component of many critical applications such as self-driving cars.</a:t>
            </a:r>
            <a:endParaRPr lang="en-US" sz="2000" dirty="0"/>
          </a:p>
          <a:p>
            <a:pPr algn="just"/>
            <a:endParaRPr lang="en-US" sz="20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pic>
        <p:nvPicPr>
          <p:cNvPr id="4099" name="Picture 3"/>
          <p:cNvPicPr>
            <a:picLocks noChangeAspect="1" noChangeArrowheads="1"/>
          </p:cNvPicPr>
          <p:nvPr/>
        </p:nvPicPr>
        <p:blipFill>
          <a:blip r:embed="rId1"/>
          <a:srcRect/>
          <a:stretch>
            <a:fillRect/>
          </a:stretch>
        </p:blipFill>
        <p:spPr bwMode="auto">
          <a:xfrm>
            <a:off x="1141412" y="2590800"/>
            <a:ext cx="7924800" cy="3085662"/>
          </a:xfrm>
          <a:prstGeom prst="rect">
            <a:avLst/>
          </a:prstGeom>
          <a:noFill/>
          <a:ln w="9525">
            <a:noFill/>
            <a:miter lim="800000"/>
            <a:headEnd/>
            <a:tailEnd/>
          </a:ln>
          <a:effectLst/>
        </p:spPr>
      </p:pic>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457200"/>
            <a:ext cx="10969943" cy="757238"/>
          </a:xfrm>
        </p:spPr>
        <p:txBody>
          <a:bodyPr/>
          <a:lstStyle/>
          <a:p>
            <a:r>
              <a:rPr lang="en-GB" sz="3600" dirty="0"/>
              <a:t>Convolution Layer</a:t>
            </a:r>
            <a:endParaRPr lang="en-GB" sz="3600" dirty="0"/>
          </a:p>
        </p:txBody>
      </p:sp>
      <p:sp>
        <p:nvSpPr>
          <p:cNvPr id="8196" name="Rectangle 3"/>
          <p:cNvSpPr>
            <a:spLocks noGrp="1" noChangeArrowheads="1"/>
          </p:cNvSpPr>
          <p:nvPr>
            <p:ph idx="1"/>
          </p:nvPr>
        </p:nvSpPr>
        <p:spPr>
          <a:xfrm>
            <a:off x="380901" y="1285874"/>
            <a:ext cx="9218711" cy="5191126"/>
          </a:xfrm>
        </p:spPr>
        <p:txBody>
          <a:bodyPr>
            <a:normAutofit/>
          </a:bodyPr>
          <a:lstStyle/>
          <a:p>
            <a:pPr algn="just"/>
            <a:r>
              <a:rPr lang="en-US" sz="2000" dirty="0"/>
              <a:t>Convolution is one of the main building blocks of a CNN. The term convolution refers to the </a:t>
            </a:r>
            <a:r>
              <a:rPr lang="en-US" sz="2000" dirty="0">
                <a:solidFill>
                  <a:srgbClr val="0070C0"/>
                </a:solidFill>
              </a:rPr>
              <a:t>mathematical combination of two functions to produce a third function</a:t>
            </a:r>
            <a:r>
              <a:rPr lang="en-US" sz="2000" dirty="0"/>
              <a:t>. It merges two sets of information.</a:t>
            </a:r>
            <a:endParaRPr lang="en-US" sz="2000" dirty="0"/>
          </a:p>
          <a:p>
            <a:pPr algn="just"/>
            <a:endParaRPr lang="en-US" sz="2000" dirty="0"/>
          </a:p>
          <a:p>
            <a:pPr algn="just"/>
            <a:r>
              <a:rPr lang="en-US" sz="2000" dirty="0"/>
              <a:t>In the case of a CNN, the convolution is performed on the input data with the use of a </a:t>
            </a:r>
            <a:r>
              <a:rPr lang="en-US" sz="2000" dirty="0">
                <a:solidFill>
                  <a:srgbClr val="0070C0"/>
                </a:solidFill>
              </a:rPr>
              <a:t>filter or kernel </a:t>
            </a:r>
            <a:r>
              <a:rPr lang="en-US" sz="2000" dirty="0"/>
              <a:t>(these terms are used interchangeably)</a:t>
            </a:r>
            <a:r>
              <a:rPr lang="en-US" sz="2000" b="1" dirty="0"/>
              <a:t> </a:t>
            </a:r>
            <a:r>
              <a:rPr lang="en-US" sz="2000" dirty="0"/>
              <a:t>to then produce a </a:t>
            </a:r>
            <a:r>
              <a:rPr lang="en-US" sz="2000" dirty="0">
                <a:solidFill>
                  <a:srgbClr val="0070C0"/>
                </a:solidFill>
              </a:rPr>
              <a:t>feature map</a:t>
            </a:r>
            <a:r>
              <a:rPr lang="en-US" sz="2000" dirty="0"/>
              <a:t>.</a:t>
            </a:r>
            <a:endParaRPr lang="en-US" sz="2000" dirty="0"/>
          </a:p>
          <a:p>
            <a:pPr algn="just"/>
            <a:endParaRPr lang="en-US" sz="2000" dirty="0"/>
          </a:p>
          <a:p>
            <a:pPr algn="just"/>
            <a:r>
              <a:rPr lang="en-US" sz="2000" dirty="0"/>
              <a:t>We execute a convolution by </a:t>
            </a:r>
            <a:r>
              <a:rPr lang="en-US" sz="2000" dirty="0">
                <a:solidFill>
                  <a:srgbClr val="0070C0"/>
                </a:solidFill>
              </a:rPr>
              <a:t>sliding the filter over the input</a:t>
            </a:r>
            <a:r>
              <a:rPr lang="en-US" sz="2000" dirty="0"/>
              <a:t>. At every location, a matrix multiplication is performed and sums the result onto the feature map.</a:t>
            </a:r>
            <a:endParaRPr lang="en-US" sz="20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457200"/>
            <a:ext cx="10969943" cy="757238"/>
          </a:xfrm>
        </p:spPr>
        <p:txBody>
          <a:bodyPr/>
          <a:lstStyle/>
          <a:p>
            <a:r>
              <a:rPr lang="en-GB" sz="3600" dirty="0"/>
              <a:t>Convolution Layer</a:t>
            </a:r>
            <a:endParaRPr lang="en-GB" sz="3600" dirty="0"/>
          </a:p>
        </p:txBody>
      </p:sp>
      <p:pic>
        <p:nvPicPr>
          <p:cNvPr id="8" name="Content Placeholder 7" descr="Htskzls1pGp98-X2mHmVy9tCj0cYXkiCrQ4t.gif"/>
          <p:cNvPicPr>
            <a:picLocks noGrp="1" noChangeAspect="1"/>
          </p:cNvPicPr>
          <p:nvPr>
            <p:ph idx="1"/>
          </p:nvPr>
        </p:nvPicPr>
        <p:blipFill>
          <a:blip r:embed="rId1"/>
          <a:stretch>
            <a:fillRect/>
          </a:stretch>
        </p:blipFill>
        <p:spPr>
          <a:xfrm>
            <a:off x="1411587" y="2840190"/>
            <a:ext cx="6802404" cy="3962400"/>
          </a:xfrm>
        </p:spPr>
      </p:pic>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9" name="Rectangle 3"/>
          <p:cNvSpPr txBox="1">
            <a:spLocks noChangeArrowheads="1"/>
          </p:cNvSpPr>
          <p:nvPr/>
        </p:nvSpPr>
        <p:spPr>
          <a:xfrm>
            <a:off x="380901" y="1285874"/>
            <a:ext cx="9218711" cy="5191126"/>
          </a:xfrm>
          <a:prstGeom prst="rect">
            <a:avLst/>
          </a:prstGeom>
        </p:spPr>
        <p:txBody>
          <a:bodyPr vert="horz" lIns="91440" tIns="45720" rIns="91440" bIns="45720" rtlCol="0">
            <a:normAutofit/>
          </a:bodyPr>
          <a:lstStyle/>
          <a:p>
            <a:pPr marL="342900" marR="0" lvl="0" indent="-342900" algn="just" defTabSz="457200" rtl="0" eaLnBrk="1" fontAlgn="auto" latinLnBrk="0" hangingPunct="1">
              <a:lnSpc>
                <a:spcPct val="100000"/>
              </a:lnSpc>
              <a:spcBef>
                <a:spcPts val="1000"/>
              </a:spcBef>
              <a:spcAft>
                <a:spcPts val="0"/>
              </a:spcAft>
              <a:buClr>
                <a:schemeClr val="accent1"/>
              </a:buClr>
              <a:buSzPct val="80000"/>
              <a:buFont typeface="Wingdings 3" charset="2"/>
              <a:buChar char=""/>
              <a:defRPr/>
            </a:pPr>
            <a:r>
              <a:rPr kumimoji="0" lang="en-US" sz="2000" b="0" i="0" u="none" strike="noStrike" kern="1200" cap="none" spc="0" normalizeH="0" baseline="0" noProof="0" dirty="0">
                <a:ln>
                  <a:noFill/>
                </a:ln>
                <a:solidFill>
                  <a:schemeClr val="tx1">
                    <a:lumMod val="75000"/>
                    <a:lumOff val="25000"/>
                  </a:schemeClr>
                </a:solidFill>
                <a:effectLst/>
                <a:uLnTx/>
                <a:uFillTx/>
                <a:latin typeface="+mn-lt"/>
                <a:ea typeface="+mn-ea"/>
                <a:cs typeface="+mn-cs"/>
              </a:rPr>
              <a:t>In the animation below, you can see the convolution operation. You can see the </a:t>
            </a:r>
            <a:r>
              <a:rPr kumimoji="0" lang="en-US" sz="2000" b="1" i="0" u="none" strike="noStrike" kern="1200" cap="none" spc="0" normalizeH="0" baseline="0" noProof="0" dirty="0">
                <a:ln>
                  <a:noFill/>
                </a:ln>
                <a:solidFill>
                  <a:srgbClr val="0070C0"/>
                </a:solidFill>
                <a:effectLst/>
                <a:uLnTx/>
                <a:uFillTx/>
                <a:latin typeface="+mn-lt"/>
                <a:ea typeface="+mn-ea"/>
                <a:cs typeface="+mn-cs"/>
              </a:rPr>
              <a:t>filter</a:t>
            </a:r>
            <a:r>
              <a:rPr kumimoji="0" lang="en-US" sz="2000" b="0" i="0" u="none" strike="noStrike" kern="1200" cap="none" spc="0" normalizeH="0" baseline="0" noProof="0" dirty="0">
                <a:ln>
                  <a:noFill/>
                </a:ln>
                <a:solidFill>
                  <a:srgbClr val="0070C0"/>
                </a:solidFill>
                <a:effectLst/>
                <a:uLnTx/>
                <a:uFillTx/>
                <a:latin typeface="+mn-lt"/>
                <a:ea typeface="+mn-ea"/>
                <a:cs typeface="+mn-cs"/>
              </a:rPr>
              <a:t> (the green square) is sliding over our </a:t>
            </a:r>
            <a:r>
              <a:rPr kumimoji="0" lang="en-US" sz="2000" b="1" i="0" u="none" strike="noStrike" kern="1200" cap="none" spc="0" normalizeH="0" baseline="0" noProof="0" dirty="0">
                <a:ln>
                  <a:noFill/>
                </a:ln>
                <a:solidFill>
                  <a:srgbClr val="0070C0"/>
                </a:solidFill>
                <a:effectLst/>
                <a:uLnTx/>
                <a:uFillTx/>
                <a:latin typeface="+mn-lt"/>
                <a:ea typeface="+mn-ea"/>
                <a:cs typeface="+mn-cs"/>
              </a:rPr>
              <a:t>input</a:t>
            </a:r>
            <a:r>
              <a:rPr kumimoji="0" lang="en-US" sz="2000" b="0" i="0" u="none" strike="noStrike" kern="1200" cap="none" spc="0" normalizeH="0" baseline="0" noProof="0" dirty="0">
                <a:ln>
                  <a:noFill/>
                </a:ln>
                <a:solidFill>
                  <a:srgbClr val="0070C0"/>
                </a:solidFill>
                <a:effectLst/>
                <a:uLnTx/>
                <a:uFillTx/>
                <a:latin typeface="+mn-lt"/>
                <a:ea typeface="+mn-ea"/>
                <a:cs typeface="+mn-cs"/>
              </a:rPr>
              <a:t> </a:t>
            </a:r>
            <a:r>
              <a:rPr kumimoji="0" lang="en-US" sz="2000" b="0" i="0" u="none" strike="noStrike" kern="1200" cap="none" spc="0" normalizeH="0" baseline="0" noProof="0" dirty="0">
                <a:ln>
                  <a:noFill/>
                </a:ln>
                <a:solidFill>
                  <a:schemeClr val="tx1">
                    <a:lumMod val="75000"/>
                    <a:lumOff val="25000"/>
                  </a:schemeClr>
                </a:solidFill>
                <a:effectLst/>
                <a:uLnTx/>
                <a:uFillTx/>
                <a:latin typeface="+mn-lt"/>
                <a:ea typeface="+mn-ea"/>
                <a:cs typeface="+mn-cs"/>
              </a:rPr>
              <a:t>(the blue square) and the </a:t>
            </a:r>
            <a:r>
              <a:rPr kumimoji="0" lang="en-US" sz="2000" b="0" i="0" u="none" strike="noStrike" kern="1200" cap="none" spc="0" normalizeH="0" baseline="0" noProof="0" dirty="0">
                <a:ln>
                  <a:noFill/>
                </a:ln>
                <a:solidFill>
                  <a:srgbClr val="0070C0"/>
                </a:solidFill>
                <a:effectLst/>
                <a:uLnTx/>
                <a:uFillTx/>
                <a:latin typeface="+mn-lt"/>
                <a:ea typeface="+mn-ea"/>
                <a:cs typeface="+mn-cs"/>
              </a:rPr>
              <a:t>sum of the convolution goes into the </a:t>
            </a:r>
            <a:r>
              <a:rPr kumimoji="0" lang="en-US" sz="2000" b="1" i="0" u="none" strike="noStrike" kern="1200" cap="none" spc="0" normalizeH="0" baseline="0" noProof="0" dirty="0">
                <a:ln>
                  <a:noFill/>
                </a:ln>
                <a:solidFill>
                  <a:srgbClr val="0070C0"/>
                </a:solidFill>
                <a:effectLst/>
                <a:uLnTx/>
                <a:uFillTx/>
                <a:latin typeface="+mn-lt"/>
                <a:ea typeface="+mn-ea"/>
                <a:cs typeface="+mn-cs"/>
              </a:rPr>
              <a:t>feature map</a:t>
            </a:r>
            <a:r>
              <a:rPr kumimoji="0" lang="en-US" sz="2000" b="0" i="0" u="none" strike="noStrike" kern="1200" cap="none" spc="0" normalizeH="0" baseline="0" noProof="0" dirty="0">
                <a:ln>
                  <a:noFill/>
                </a:ln>
                <a:solidFill>
                  <a:srgbClr val="0070C0"/>
                </a:solidFill>
                <a:effectLst/>
                <a:uLnTx/>
                <a:uFillTx/>
                <a:latin typeface="+mn-lt"/>
                <a:ea typeface="+mn-ea"/>
                <a:cs typeface="+mn-cs"/>
              </a:rPr>
              <a:t> </a:t>
            </a:r>
            <a:r>
              <a:rPr kumimoji="0" lang="en-US" sz="2000" b="0" i="0" u="none" strike="noStrike" kern="1200" cap="none" spc="0" normalizeH="0" baseline="0" noProof="0" dirty="0">
                <a:ln>
                  <a:noFill/>
                </a:ln>
                <a:solidFill>
                  <a:schemeClr val="tx1">
                    <a:lumMod val="75000"/>
                    <a:lumOff val="25000"/>
                  </a:schemeClr>
                </a:solidFill>
                <a:effectLst/>
                <a:uLnTx/>
                <a:uFillTx/>
                <a:latin typeface="+mn-lt"/>
                <a:ea typeface="+mn-ea"/>
                <a:cs typeface="+mn-cs"/>
              </a:rPr>
              <a:t>(the red square).</a:t>
            </a:r>
            <a:endParaRPr kumimoji="0" lang="en-US" sz="20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just" defTabSz="457200" rtl="0" eaLnBrk="1" fontAlgn="auto" latinLnBrk="0" hangingPunct="1">
              <a:lnSpc>
                <a:spcPct val="100000"/>
              </a:lnSpc>
              <a:spcBef>
                <a:spcPts val="1000"/>
              </a:spcBef>
              <a:spcAft>
                <a:spcPts val="0"/>
              </a:spcAft>
              <a:buClr>
                <a:schemeClr val="accent1"/>
              </a:buClr>
              <a:buSzPct val="80000"/>
              <a:buFont typeface="Wingdings 3" charset="2"/>
              <a:buChar char=""/>
              <a:defRPr/>
            </a:pPr>
            <a:r>
              <a:rPr kumimoji="0" lang="en-US" sz="2000" b="0" i="0" u="none" strike="noStrike" kern="1200" cap="none" spc="0" normalizeH="0" baseline="0" noProof="0" dirty="0">
                <a:ln>
                  <a:noFill/>
                </a:ln>
                <a:solidFill>
                  <a:schemeClr val="tx1">
                    <a:lumMod val="75000"/>
                    <a:lumOff val="25000"/>
                  </a:schemeClr>
                </a:solidFill>
                <a:effectLst/>
                <a:uLnTx/>
                <a:uFillTx/>
                <a:latin typeface="+mn-lt"/>
                <a:ea typeface="+mn-ea"/>
                <a:cs typeface="+mn-cs"/>
              </a:rPr>
              <a:t>The area of our filter is also called the receptive field, named after the neuron cells! The size of this filter is 3x3.</a:t>
            </a:r>
            <a:endParaRPr kumimoji="0" lang="en-US" sz="20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just" defTabSz="457200" rtl="0" eaLnBrk="1" fontAlgn="auto" latinLnBrk="0" hangingPunct="1">
              <a:lnSpc>
                <a:spcPct val="100000"/>
              </a:lnSpc>
              <a:spcBef>
                <a:spcPts val="1000"/>
              </a:spcBef>
              <a:spcAft>
                <a:spcPts val="0"/>
              </a:spcAft>
              <a:buClr>
                <a:schemeClr val="accent1"/>
              </a:buClr>
              <a:buSzPct val="80000"/>
              <a:buFont typeface="Wingdings 3" charset="2"/>
              <a:buChar char=""/>
              <a:defRPr/>
            </a:pPr>
            <a:endParaRPr kumimoji="0" lang="en-US" sz="20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457200"/>
            <a:ext cx="10969943" cy="757238"/>
          </a:xfrm>
        </p:spPr>
        <p:txBody>
          <a:bodyPr/>
          <a:lstStyle/>
          <a:p>
            <a:r>
              <a:rPr lang="en-GB" sz="3600" dirty="0"/>
              <a:t>Convolution Layer</a:t>
            </a:r>
            <a:endParaRPr lang="en-GB" sz="3600" dirty="0"/>
          </a:p>
        </p:txBody>
      </p:sp>
      <p:pic>
        <p:nvPicPr>
          <p:cNvPr id="11" name="Content Placeholder 10" descr="Gjxh-aApWTzIRI1UNmGnNLrk8OKsQaf2tlDu.png"/>
          <p:cNvPicPr>
            <a:picLocks noGrp="1" noChangeAspect="1"/>
          </p:cNvPicPr>
          <p:nvPr>
            <p:ph idx="1"/>
          </p:nvPr>
        </p:nvPicPr>
        <p:blipFill>
          <a:blip r:embed="rId1"/>
          <a:stretch>
            <a:fillRect/>
          </a:stretch>
        </p:blipFill>
        <p:spPr>
          <a:xfrm>
            <a:off x="1744087" y="2401598"/>
            <a:ext cx="6400800" cy="4361607"/>
          </a:xfrm>
        </p:spPr>
      </p:pic>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9" name="Rectangle 3"/>
          <p:cNvSpPr txBox="1">
            <a:spLocks noChangeArrowheads="1"/>
          </p:cNvSpPr>
          <p:nvPr/>
        </p:nvSpPr>
        <p:spPr>
          <a:xfrm>
            <a:off x="380901" y="1285874"/>
            <a:ext cx="9218711" cy="5191126"/>
          </a:xfrm>
          <a:prstGeom prst="rect">
            <a:avLst/>
          </a:prstGeom>
        </p:spPr>
        <p:txBody>
          <a:bodyPr vert="horz" lIns="91440" tIns="45720" rIns="91440" bIns="45720" rtlCol="0">
            <a:normAutofit/>
          </a:bodyPr>
          <a:lstStyle/>
          <a:p>
            <a:pPr marL="342900" lvl="0" indent="-342900" algn="just" defTabSz="457200">
              <a:spcBef>
                <a:spcPts val="1000"/>
              </a:spcBef>
              <a:buClr>
                <a:schemeClr val="accent1"/>
              </a:buClr>
              <a:buSzPct val="80000"/>
              <a:buFont typeface="Wingdings 3" charset="2"/>
              <a:buChar char=""/>
            </a:pPr>
            <a:r>
              <a:rPr lang="en-US" sz="2000" dirty="0"/>
              <a:t>In reality </a:t>
            </a:r>
            <a:r>
              <a:rPr lang="en-US" sz="2000" dirty="0">
                <a:solidFill>
                  <a:srgbClr val="FF0066"/>
                </a:solidFill>
              </a:rPr>
              <a:t>convolutions are performed in 3D</a:t>
            </a:r>
            <a:r>
              <a:rPr lang="en-US" sz="2000" dirty="0"/>
              <a:t>. Each image is namely represented as a 3D matrix with a dimension for width, height, and depth. Depth is a dimension because of the </a:t>
            </a:r>
            <a:r>
              <a:rPr lang="en-US" sz="2000" dirty="0">
                <a:solidFill>
                  <a:srgbClr val="0070C0"/>
                </a:solidFill>
              </a:rPr>
              <a:t>colors channels used in an image (RGB)</a:t>
            </a:r>
            <a:r>
              <a:rPr lang="en-US" sz="2000" dirty="0"/>
              <a:t>.</a:t>
            </a:r>
            <a:endParaRPr kumimoji="0" lang="en-US" sz="20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457200"/>
            <a:ext cx="10969943" cy="757238"/>
          </a:xfrm>
        </p:spPr>
        <p:txBody>
          <a:bodyPr/>
          <a:lstStyle/>
          <a:p>
            <a:r>
              <a:rPr lang="en-GB" sz="3600" dirty="0"/>
              <a:t>Convolution Layer</a:t>
            </a:r>
            <a:endParaRPr lang="en-GB" sz="36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9" name="Rectangle 3"/>
          <p:cNvSpPr txBox="1">
            <a:spLocks noChangeArrowheads="1"/>
          </p:cNvSpPr>
          <p:nvPr/>
        </p:nvSpPr>
        <p:spPr>
          <a:xfrm>
            <a:off x="283916" y="1285874"/>
            <a:ext cx="9218711" cy="5191126"/>
          </a:xfrm>
          <a:prstGeom prst="rect">
            <a:avLst/>
          </a:prstGeom>
        </p:spPr>
        <p:txBody>
          <a:bodyPr vert="horz" lIns="91440" tIns="45720" rIns="91440" bIns="45720" rtlCol="0">
            <a:normAutofit/>
          </a:bodyPr>
          <a:lstStyle/>
          <a:p>
            <a:pPr marL="342900" indent="-342900" algn="just" defTabSz="457200">
              <a:spcBef>
                <a:spcPts val="1000"/>
              </a:spcBef>
              <a:buClr>
                <a:schemeClr val="accent1"/>
              </a:buClr>
              <a:buSzPct val="80000"/>
              <a:buFont typeface="Wingdings 3" charset="2"/>
              <a:buChar char=""/>
            </a:pPr>
            <a:r>
              <a:rPr lang="en-US" sz="2000" dirty="0"/>
              <a:t>We perform </a:t>
            </a:r>
            <a:r>
              <a:rPr lang="en-US" sz="2000" dirty="0">
                <a:solidFill>
                  <a:srgbClr val="0070C0"/>
                </a:solidFill>
              </a:rPr>
              <a:t>numerous convolutions on our input</a:t>
            </a:r>
            <a:r>
              <a:rPr lang="en-US" sz="2000" dirty="0"/>
              <a:t>, where each operation uses a different filter. This results in different feature maps. </a:t>
            </a:r>
            <a:endParaRPr lang="en-US" sz="2000" dirty="0"/>
          </a:p>
          <a:p>
            <a:pPr marL="342900" indent="-342900" algn="just" defTabSz="457200">
              <a:spcBef>
                <a:spcPts val="1000"/>
              </a:spcBef>
              <a:buClr>
                <a:schemeClr val="accent1"/>
              </a:buClr>
              <a:buSzPct val="80000"/>
              <a:buFont typeface="Wingdings 3" charset="2"/>
              <a:buChar char=""/>
            </a:pPr>
            <a:r>
              <a:rPr lang="en-US" sz="2000" dirty="0"/>
              <a:t>In the end, we take all of these feature maps and put them together as the </a:t>
            </a:r>
            <a:r>
              <a:rPr lang="en-US" sz="2000" dirty="0">
                <a:solidFill>
                  <a:srgbClr val="0070C0"/>
                </a:solidFill>
              </a:rPr>
              <a:t>final output of the convolution layer</a:t>
            </a:r>
            <a:r>
              <a:rPr lang="en-US" sz="2000" dirty="0"/>
              <a:t>.</a:t>
            </a:r>
            <a:endParaRPr lang="en-US" sz="2000" dirty="0"/>
          </a:p>
          <a:p>
            <a:pPr marL="342900" indent="-342900" algn="just" defTabSz="457200">
              <a:spcBef>
                <a:spcPts val="1000"/>
              </a:spcBef>
              <a:buClr>
                <a:schemeClr val="accent1"/>
              </a:buClr>
              <a:buSzPct val="80000"/>
              <a:buFont typeface="Wingdings 3" charset="2"/>
              <a:buChar char=""/>
            </a:pPr>
            <a:r>
              <a:rPr lang="en-US" sz="2000" dirty="0"/>
              <a:t>Just like any other Neural Network, we use an activation function to make our output non-linear. In the case of a </a:t>
            </a:r>
            <a:r>
              <a:rPr lang="en-US" sz="2000" dirty="0" err="1"/>
              <a:t>Convolutional</a:t>
            </a:r>
            <a:r>
              <a:rPr lang="en-US" sz="2000" dirty="0"/>
              <a:t> Neural Network, the output of the convolution will be passed through the activation function. This could be the </a:t>
            </a:r>
            <a:r>
              <a:rPr lang="en-US" sz="2000" dirty="0" err="1">
                <a:solidFill>
                  <a:srgbClr val="0070C0"/>
                </a:solidFill>
              </a:rPr>
              <a:t>ReLU</a:t>
            </a:r>
            <a:r>
              <a:rPr lang="en-US" sz="2000" dirty="0">
                <a:solidFill>
                  <a:srgbClr val="0070C0"/>
                </a:solidFill>
              </a:rPr>
              <a:t> activation function, y = max(0, x)</a:t>
            </a:r>
            <a:r>
              <a:rPr lang="en-US" sz="2000" dirty="0"/>
              <a:t>.</a:t>
            </a:r>
            <a:endParaRPr lang="en-US" sz="2000" dirty="0"/>
          </a:p>
          <a:p>
            <a:pPr marL="342900" indent="-342900" algn="just" defTabSz="457200">
              <a:spcBef>
                <a:spcPts val="1000"/>
              </a:spcBef>
              <a:buClr>
                <a:schemeClr val="accent1"/>
              </a:buClr>
              <a:buSzPct val="80000"/>
              <a:buFont typeface="Wingdings 3" charset="2"/>
              <a:buChar char=""/>
            </a:pPr>
            <a:r>
              <a:rPr lang="en-US" sz="2000" b="1" i="1" dirty="0">
                <a:solidFill>
                  <a:srgbClr val="0070C0"/>
                </a:solidFill>
              </a:rPr>
              <a:t>For example:</a:t>
            </a:r>
            <a:r>
              <a:rPr lang="en-US" sz="2000" dirty="0">
                <a:solidFill>
                  <a:srgbClr val="0070C0"/>
                </a:solidFill>
              </a:rPr>
              <a:t> </a:t>
            </a:r>
            <a:endParaRPr lang="en-US" sz="2000" dirty="0">
              <a:solidFill>
                <a:srgbClr val="0070C0"/>
              </a:solidFill>
            </a:endParaRPr>
          </a:p>
          <a:p>
            <a:pPr marL="342900" indent="-342900" algn="just" defTabSz="457200">
              <a:spcBef>
                <a:spcPts val="1000"/>
              </a:spcBef>
              <a:buClr>
                <a:schemeClr val="accent1"/>
              </a:buClr>
              <a:buSzPct val="80000"/>
              <a:buFont typeface="Wingdings 3" charset="2"/>
              <a:buChar char=""/>
            </a:pPr>
            <a:r>
              <a:rPr lang="en-US" sz="2000" dirty="0"/>
              <a:t>In a given matrix(M), </a:t>
            </a:r>
            <a:r>
              <a:rPr lang="en-US" sz="2000" b="1" dirty="0"/>
              <a:t>M</a:t>
            </a:r>
            <a:r>
              <a:rPr lang="en-US" sz="2000" dirty="0"/>
              <a:t>=</a:t>
            </a:r>
            <a:r>
              <a:rPr lang="en-US" sz="2000" b="1" dirty="0"/>
              <a:t> [ [</a:t>
            </a:r>
            <a:r>
              <a:rPr lang="en-US" sz="2000" dirty="0"/>
              <a:t> -3, 19, 5</a:t>
            </a:r>
            <a:r>
              <a:rPr lang="en-US" sz="2000" b="1" dirty="0"/>
              <a:t> ]</a:t>
            </a:r>
            <a:r>
              <a:rPr lang="en-US" sz="2000" dirty="0"/>
              <a:t>, </a:t>
            </a:r>
            <a:r>
              <a:rPr lang="en-US" sz="2000" b="1" dirty="0"/>
              <a:t>[ </a:t>
            </a:r>
            <a:r>
              <a:rPr lang="en-US" sz="2000" dirty="0"/>
              <a:t>7, -6, 12</a:t>
            </a:r>
            <a:r>
              <a:rPr lang="en-US" sz="2000" b="1" dirty="0"/>
              <a:t> ]</a:t>
            </a:r>
            <a:r>
              <a:rPr lang="en-US" sz="2000" dirty="0"/>
              <a:t>, </a:t>
            </a:r>
            <a:r>
              <a:rPr lang="en-US" sz="2000" b="1" dirty="0"/>
              <a:t>[ </a:t>
            </a:r>
            <a:r>
              <a:rPr lang="en-US" sz="2000" dirty="0"/>
              <a:t>4, -8, 17</a:t>
            </a:r>
            <a:r>
              <a:rPr lang="en-US" sz="2000" b="1" dirty="0"/>
              <a:t> ] ]</a:t>
            </a:r>
            <a:br>
              <a:rPr lang="en-US" sz="2000" dirty="0"/>
            </a:br>
            <a:r>
              <a:rPr lang="en-US" sz="2000" dirty="0" err="1"/>
              <a:t>ReLU</a:t>
            </a:r>
            <a:r>
              <a:rPr lang="en-US" sz="2000" dirty="0"/>
              <a:t> converts it as: </a:t>
            </a:r>
            <a:r>
              <a:rPr lang="en-US" sz="2000" b="1" dirty="0"/>
              <a:t>[ [</a:t>
            </a:r>
            <a:r>
              <a:rPr lang="en-US" sz="2000" dirty="0"/>
              <a:t> 0, 19, 5</a:t>
            </a:r>
            <a:r>
              <a:rPr lang="en-US" sz="2000" b="1" dirty="0"/>
              <a:t> ]</a:t>
            </a:r>
            <a:r>
              <a:rPr lang="en-US" sz="2000" dirty="0"/>
              <a:t>, </a:t>
            </a:r>
            <a:r>
              <a:rPr lang="en-US" sz="2000" b="1" dirty="0"/>
              <a:t>[ </a:t>
            </a:r>
            <a:r>
              <a:rPr lang="en-US" sz="2000" dirty="0"/>
              <a:t>7, 0, 12</a:t>
            </a:r>
            <a:r>
              <a:rPr lang="en-US" sz="2000" b="1" dirty="0"/>
              <a:t> ]</a:t>
            </a:r>
            <a:r>
              <a:rPr lang="en-US" sz="2000" dirty="0"/>
              <a:t>, </a:t>
            </a:r>
            <a:r>
              <a:rPr lang="en-US" sz="2000" b="1" dirty="0"/>
              <a:t>[ </a:t>
            </a:r>
            <a:r>
              <a:rPr lang="en-US" sz="2000" dirty="0"/>
              <a:t>4, 0, 17</a:t>
            </a:r>
            <a:r>
              <a:rPr lang="en-US" sz="2000" b="1" dirty="0"/>
              <a:t> ] ]</a:t>
            </a:r>
            <a:endParaRPr lang="en-US" sz="2000" b="1" dirty="0"/>
          </a:p>
          <a:p>
            <a:pPr marL="342900" indent="-342900" algn="just" defTabSz="457200">
              <a:spcBef>
                <a:spcPts val="1000"/>
              </a:spcBef>
              <a:buClr>
                <a:schemeClr val="accent1"/>
              </a:buClr>
              <a:buSzPct val="80000"/>
              <a:buFont typeface="Wingdings 3" charset="2"/>
              <a:buChar char=""/>
            </a:pPr>
            <a:r>
              <a:rPr lang="en-US" sz="2000" dirty="0" err="1"/>
              <a:t>ReLU</a:t>
            </a:r>
            <a:r>
              <a:rPr lang="en-US" sz="2000" dirty="0"/>
              <a:t> is used more often as it works fast, allows the </a:t>
            </a:r>
            <a:r>
              <a:rPr lang="en-US" sz="2000" dirty="0">
                <a:solidFill>
                  <a:srgbClr val="0070C0"/>
                </a:solidFill>
              </a:rPr>
              <a:t>network to converge very quickly and is computationally efficient</a:t>
            </a:r>
            <a:r>
              <a:rPr lang="en-US" sz="2000" dirty="0"/>
              <a:t>.</a:t>
            </a:r>
            <a:endParaRPr lang="en-US" sz="2000" dirty="0"/>
          </a:p>
          <a:p>
            <a:pPr marL="342900" indent="-342900" algn="just" defTabSz="457200">
              <a:spcBef>
                <a:spcPts val="1000"/>
              </a:spcBef>
              <a:buClr>
                <a:schemeClr val="accent1"/>
              </a:buClr>
              <a:buSzPct val="80000"/>
              <a:buFont typeface="Wingdings 3" charset="2"/>
              <a:buChar char=""/>
            </a:pPr>
            <a:endParaRPr kumimoji="0" lang="en-US" sz="20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457200"/>
            <a:ext cx="10969943" cy="757238"/>
          </a:xfrm>
        </p:spPr>
        <p:txBody>
          <a:bodyPr/>
          <a:lstStyle/>
          <a:p>
            <a:r>
              <a:rPr lang="en-GB" sz="3600" dirty="0"/>
              <a:t>Stride</a:t>
            </a:r>
            <a:endParaRPr lang="en-GB" sz="36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9" name="Rectangle 3"/>
          <p:cNvSpPr txBox="1">
            <a:spLocks noChangeArrowheads="1"/>
          </p:cNvSpPr>
          <p:nvPr/>
        </p:nvSpPr>
        <p:spPr>
          <a:xfrm>
            <a:off x="380901" y="1133469"/>
            <a:ext cx="9218711" cy="5191126"/>
          </a:xfrm>
          <a:prstGeom prst="rect">
            <a:avLst/>
          </a:prstGeom>
        </p:spPr>
        <p:txBody>
          <a:bodyPr vert="horz" lIns="91440" tIns="45720" rIns="91440" bIns="45720" rtlCol="0">
            <a:normAutofit/>
          </a:bodyPr>
          <a:lstStyle/>
          <a:p>
            <a:pPr marL="342900" indent="-342900" algn="just" defTabSz="457200">
              <a:spcBef>
                <a:spcPts val="1000"/>
              </a:spcBef>
              <a:buClr>
                <a:schemeClr val="accent1"/>
              </a:buClr>
              <a:buSzPct val="80000"/>
              <a:buFont typeface="Wingdings 3" charset="2"/>
              <a:buChar char=""/>
            </a:pPr>
            <a:r>
              <a:rPr lang="en-US" sz="2000" dirty="0"/>
              <a:t>Stride is the </a:t>
            </a:r>
            <a:r>
              <a:rPr lang="en-US" sz="2000" dirty="0">
                <a:solidFill>
                  <a:srgbClr val="0070C0"/>
                </a:solidFill>
              </a:rPr>
              <a:t>size of the step the convolution filter moves each time</a:t>
            </a:r>
            <a:r>
              <a:rPr lang="en-US" sz="2000" dirty="0"/>
              <a:t>. A stride size is usually 1, meaning the filter slides pixel by pixel. </a:t>
            </a:r>
            <a:endParaRPr lang="en-US" sz="2000" dirty="0"/>
          </a:p>
          <a:p>
            <a:pPr marL="342900" indent="-342900" algn="just" defTabSz="457200">
              <a:spcBef>
                <a:spcPts val="1000"/>
              </a:spcBef>
              <a:buClr>
                <a:schemeClr val="accent1"/>
              </a:buClr>
              <a:buSzPct val="80000"/>
              <a:buFont typeface="Wingdings 3" charset="2"/>
              <a:buChar char=""/>
            </a:pPr>
            <a:r>
              <a:rPr lang="en-US" sz="2000" dirty="0"/>
              <a:t>By increasing the stride size, your filter is sliding over the input with a larger interval and thus has less overlap between the cells.</a:t>
            </a:r>
            <a:endParaRPr lang="en-US" sz="2000" dirty="0"/>
          </a:p>
          <a:p>
            <a:pPr marL="342900" indent="-342900" algn="just" defTabSz="457200">
              <a:spcBef>
                <a:spcPts val="1000"/>
              </a:spcBef>
              <a:buClr>
                <a:schemeClr val="accent1"/>
              </a:buClr>
              <a:buSzPct val="80000"/>
              <a:buFont typeface="Wingdings 3" charset="2"/>
              <a:buChar char=""/>
            </a:pPr>
            <a:r>
              <a:rPr lang="en-US" sz="2000" dirty="0">
                <a:solidFill>
                  <a:srgbClr val="0070C0"/>
                </a:solidFill>
              </a:rPr>
              <a:t>More the value of stride, smaller will be the resulting output </a:t>
            </a:r>
            <a:r>
              <a:rPr lang="en-US" sz="2000" dirty="0"/>
              <a:t>and vice versa.</a:t>
            </a:r>
            <a:endParaRPr lang="en-US" sz="2000" dirty="0"/>
          </a:p>
        </p:txBody>
      </p:sp>
      <p:pic>
        <p:nvPicPr>
          <p:cNvPr id="8" name="Picture 7" descr="d0ufdQE7LHA43cdSrVefw2I9DFceYMixqoZJ.gif"/>
          <p:cNvPicPr>
            <a:picLocks noChangeAspect="1"/>
          </p:cNvPicPr>
          <p:nvPr/>
        </p:nvPicPr>
        <p:blipFill>
          <a:blip r:embed="rId1"/>
          <a:stretch>
            <a:fillRect/>
          </a:stretch>
        </p:blipFill>
        <p:spPr>
          <a:xfrm>
            <a:off x="2894012" y="3124200"/>
            <a:ext cx="3762375" cy="3660205"/>
          </a:xfrm>
          <a:prstGeom prst="rect">
            <a:avLst/>
          </a:prstGeom>
        </p:spPr>
      </p:pic>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457200"/>
            <a:ext cx="10969943" cy="757238"/>
          </a:xfrm>
        </p:spPr>
        <p:txBody>
          <a:bodyPr/>
          <a:lstStyle/>
          <a:p>
            <a:r>
              <a:rPr lang="en-GB" sz="3600" dirty="0"/>
              <a:t>Padding</a:t>
            </a:r>
            <a:endParaRPr lang="en-GB" sz="36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9" name="Rectangle 3"/>
          <p:cNvSpPr txBox="1">
            <a:spLocks noChangeArrowheads="1"/>
          </p:cNvSpPr>
          <p:nvPr/>
        </p:nvSpPr>
        <p:spPr>
          <a:xfrm>
            <a:off x="380901" y="1133469"/>
            <a:ext cx="9218711" cy="5191126"/>
          </a:xfrm>
          <a:prstGeom prst="rect">
            <a:avLst/>
          </a:prstGeom>
        </p:spPr>
        <p:txBody>
          <a:bodyPr vert="horz" lIns="91440" tIns="45720" rIns="91440" bIns="45720" rtlCol="0">
            <a:normAutofit/>
          </a:bodyPr>
          <a:lstStyle/>
          <a:p>
            <a:pPr marL="342900" indent="-342900" algn="just" defTabSz="457200">
              <a:spcBef>
                <a:spcPts val="1000"/>
              </a:spcBef>
              <a:buClr>
                <a:schemeClr val="accent1"/>
              </a:buClr>
              <a:buSzPct val="80000"/>
              <a:buFont typeface="Wingdings 3" charset="2"/>
              <a:buChar char=""/>
            </a:pPr>
            <a:r>
              <a:rPr lang="en-US" sz="2000" dirty="0"/>
              <a:t>Because the size of the </a:t>
            </a:r>
            <a:r>
              <a:rPr lang="en-US" sz="2000" dirty="0">
                <a:solidFill>
                  <a:srgbClr val="0070C0"/>
                </a:solidFill>
              </a:rPr>
              <a:t>feature map is always smaller than the input</a:t>
            </a:r>
            <a:r>
              <a:rPr lang="en-US" sz="2000" dirty="0"/>
              <a:t>, we have to do something to prevent our feature map from shrinking. This is where we use padding.</a:t>
            </a:r>
            <a:endParaRPr lang="en-US" sz="2000" dirty="0"/>
          </a:p>
          <a:p>
            <a:pPr marL="342900" indent="-342900" algn="just" defTabSz="457200">
              <a:spcBef>
                <a:spcPts val="1000"/>
              </a:spcBef>
              <a:buClr>
                <a:schemeClr val="accent1"/>
              </a:buClr>
              <a:buSzPct val="80000"/>
              <a:buFont typeface="Wingdings 3" charset="2"/>
              <a:buChar char=""/>
            </a:pPr>
            <a:r>
              <a:rPr lang="en-US" sz="2000" dirty="0"/>
              <a:t>A layer of </a:t>
            </a:r>
            <a:r>
              <a:rPr lang="en-US" sz="2000" dirty="0">
                <a:solidFill>
                  <a:srgbClr val="0070C0"/>
                </a:solidFill>
              </a:rPr>
              <a:t>zero-value pixels is added </a:t>
            </a:r>
            <a:r>
              <a:rPr lang="en-US" sz="2000" dirty="0"/>
              <a:t>to surround the input with zeros, so that our feature map will not shrink. Padding also improves performance and makes sure that the </a:t>
            </a:r>
            <a:r>
              <a:rPr lang="en-US" sz="2000" dirty="0">
                <a:solidFill>
                  <a:srgbClr val="0070C0"/>
                </a:solidFill>
              </a:rPr>
              <a:t>kernel and stride size will fit in the input</a:t>
            </a:r>
            <a:r>
              <a:rPr lang="en-US" sz="2000" dirty="0"/>
              <a:t>.</a:t>
            </a:r>
            <a:endParaRPr lang="en-US" sz="2000" dirty="0"/>
          </a:p>
        </p:txBody>
      </p:sp>
      <p:pic>
        <p:nvPicPr>
          <p:cNvPr id="1026" name="Picture 2"/>
          <p:cNvPicPr>
            <a:picLocks noChangeAspect="1" noChangeArrowheads="1"/>
          </p:cNvPicPr>
          <p:nvPr/>
        </p:nvPicPr>
        <p:blipFill>
          <a:blip r:embed="rId1"/>
          <a:srcRect/>
          <a:stretch>
            <a:fillRect/>
          </a:stretch>
        </p:blipFill>
        <p:spPr bwMode="auto">
          <a:xfrm>
            <a:off x="1518695" y="3262745"/>
            <a:ext cx="6182852" cy="3352800"/>
          </a:xfrm>
          <a:prstGeom prst="rect">
            <a:avLst/>
          </a:prstGeom>
          <a:noFill/>
          <a:ln w="9525">
            <a:noFill/>
            <a:miter lim="800000"/>
            <a:headEnd/>
            <a:tailEnd/>
          </a:ln>
          <a:effectLst/>
        </p:spPr>
      </p:pic>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457200"/>
            <a:ext cx="10969943" cy="757238"/>
          </a:xfrm>
        </p:spPr>
        <p:txBody>
          <a:bodyPr/>
          <a:lstStyle/>
          <a:p>
            <a:r>
              <a:rPr lang="en-GB" sz="3600" dirty="0"/>
              <a:t>Pooling</a:t>
            </a:r>
            <a:endParaRPr lang="en-GB" sz="36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9" name="Rectangle 3"/>
          <p:cNvSpPr txBox="1">
            <a:spLocks noChangeArrowheads="1"/>
          </p:cNvSpPr>
          <p:nvPr/>
        </p:nvSpPr>
        <p:spPr>
          <a:xfrm>
            <a:off x="380901" y="1267690"/>
            <a:ext cx="9218711" cy="5191126"/>
          </a:xfrm>
          <a:prstGeom prst="rect">
            <a:avLst/>
          </a:prstGeom>
        </p:spPr>
        <p:txBody>
          <a:bodyPr vert="horz" lIns="91440" tIns="45720" rIns="91440" bIns="45720" rtlCol="0">
            <a:normAutofit/>
          </a:bodyPr>
          <a:lstStyle/>
          <a:p>
            <a:pPr marL="342900" indent="-342900" algn="just" defTabSz="457200">
              <a:spcBef>
                <a:spcPts val="1000"/>
              </a:spcBef>
              <a:buClr>
                <a:schemeClr val="accent1"/>
              </a:buClr>
              <a:buSzPct val="80000"/>
              <a:buFont typeface="Wingdings 3" charset="2"/>
              <a:buChar char=""/>
            </a:pPr>
            <a:r>
              <a:rPr lang="en-US" sz="2000" dirty="0"/>
              <a:t>After a convolution layer, it is common to add a pooling layer in between CNN layers. The function of pooling is to </a:t>
            </a:r>
            <a:r>
              <a:rPr lang="en-US" sz="2000" dirty="0">
                <a:solidFill>
                  <a:srgbClr val="FF0066"/>
                </a:solidFill>
              </a:rPr>
              <a:t>continuously reduce the dimensionality</a:t>
            </a:r>
            <a:r>
              <a:rPr lang="en-US" sz="2000" dirty="0"/>
              <a:t> to reduce the number of parameters and computation in the network. This shortens the training time and controls </a:t>
            </a:r>
            <a:r>
              <a:rPr lang="en-US" sz="2000" dirty="0" err="1"/>
              <a:t>overfitting</a:t>
            </a:r>
            <a:r>
              <a:rPr lang="en-US" sz="2000" dirty="0"/>
              <a:t>.</a:t>
            </a:r>
            <a:endParaRPr lang="en-US" sz="2000" dirty="0"/>
          </a:p>
          <a:p>
            <a:pPr marL="342900" indent="-342900" algn="just" defTabSz="457200">
              <a:spcBef>
                <a:spcPts val="1000"/>
              </a:spcBef>
              <a:buClr>
                <a:schemeClr val="accent1"/>
              </a:buClr>
              <a:buSzPct val="80000"/>
              <a:buFont typeface="Wingdings 3" charset="2"/>
              <a:buChar char=""/>
            </a:pPr>
            <a:r>
              <a:rPr lang="en-US" sz="2000" dirty="0"/>
              <a:t>There can be many number of convolution, </a:t>
            </a:r>
            <a:r>
              <a:rPr lang="en-US" sz="2000" dirty="0" err="1"/>
              <a:t>ReLU</a:t>
            </a:r>
            <a:r>
              <a:rPr lang="en-US" sz="2000" dirty="0"/>
              <a:t> and pooling layers. Initial layers of convolution </a:t>
            </a:r>
            <a:r>
              <a:rPr lang="en-US" sz="2000" dirty="0">
                <a:solidFill>
                  <a:srgbClr val="FF0066"/>
                </a:solidFill>
              </a:rPr>
              <a:t>learns generic information </a:t>
            </a:r>
            <a:r>
              <a:rPr lang="en-US" sz="2000" dirty="0"/>
              <a:t>and </a:t>
            </a:r>
            <a:r>
              <a:rPr lang="en-US" sz="2000" dirty="0">
                <a:solidFill>
                  <a:srgbClr val="FF0066"/>
                </a:solidFill>
              </a:rPr>
              <a:t>last layers learn more specific/complex features</a:t>
            </a:r>
            <a:r>
              <a:rPr lang="en-US" sz="2000" dirty="0"/>
              <a:t>.</a:t>
            </a:r>
            <a:endParaRPr lang="en-US" sz="2000" dirty="0"/>
          </a:p>
          <a:p>
            <a:pPr marL="342900" indent="-342900" algn="just" defTabSz="457200">
              <a:spcBef>
                <a:spcPts val="1000"/>
              </a:spcBef>
              <a:buClr>
                <a:schemeClr val="accent1"/>
              </a:buClr>
              <a:buSzPct val="80000"/>
              <a:buFont typeface="Wingdings 3" charset="2"/>
              <a:buChar char=""/>
            </a:pPr>
            <a:r>
              <a:rPr lang="en-US" sz="2000" dirty="0"/>
              <a:t>Pooling can be done in following ways :</a:t>
            </a:r>
            <a:endParaRPr lang="en-US" sz="2000" dirty="0"/>
          </a:p>
          <a:p>
            <a:pPr marL="800100" lvl="1" indent="-342900" algn="just" defTabSz="457200">
              <a:spcBef>
                <a:spcPts val="1000"/>
              </a:spcBef>
              <a:buClr>
                <a:schemeClr val="accent1"/>
              </a:buClr>
              <a:buSzPct val="80000"/>
              <a:buFont typeface="Wingdings" panose="05000000000000000000" pitchFamily="2" charset="2"/>
              <a:buChar char="§"/>
            </a:pPr>
            <a:r>
              <a:rPr lang="en-US" sz="2000" dirty="0">
                <a:solidFill>
                  <a:srgbClr val="0070C0"/>
                </a:solidFill>
              </a:rPr>
              <a:t>Max-pooling :</a:t>
            </a:r>
            <a:r>
              <a:rPr lang="en-US" sz="2000" dirty="0"/>
              <a:t> It selects maximum element from the feature map. The resulting max-pooled layer holds important features of feature map. It is the most common approach as it gives better results.</a:t>
            </a:r>
            <a:endParaRPr lang="en-US" sz="2000" dirty="0"/>
          </a:p>
          <a:p>
            <a:pPr marL="800100" lvl="1" indent="-342900" algn="just" defTabSz="457200">
              <a:spcBef>
                <a:spcPts val="1000"/>
              </a:spcBef>
              <a:buClr>
                <a:schemeClr val="accent1"/>
              </a:buClr>
              <a:buSzPct val="80000"/>
              <a:buFont typeface="Wingdings" panose="05000000000000000000" pitchFamily="2" charset="2"/>
              <a:buChar char="§"/>
            </a:pPr>
            <a:r>
              <a:rPr lang="en-US" sz="2000" dirty="0">
                <a:solidFill>
                  <a:srgbClr val="0070C0"/>
                </a:solidFill>
              </a:rPr>
              <a:t>Average pooling : </a:t>
            </a:r>
            <a:r>
              <a:rPr lang="en-US" sz="2000" dirty="0"/>
              <a:t>It involves average calculation for each patch of the feature map. </a:t>
            </a:r>
            <a:endParaRPr lang="en-US" sz="2000" dirty="0"/>
          </a:p>
          <a:p>
            <a:pPr marL="342900" indent="-342900" algn="just" defTabSz="457200">
              <a:spcBef>
                <a:spcPts val="1000"/>
              </a:spcBef>
              <a:buClr>
                <a:schemeClr val="accent1"/>
              </a:buClr>
              <a:buSzPct val="80000"/>
              <a:buFont typeface="Wingdings 3" charset="2"/>
              <a:buChar char=""/>
            </a:pPr>
            <a:endParaRPr lang="en-US" sz="20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457200"/>
            <a:ext cx="10969943" cy="757238"/>
          </a:xfrm>
        </p:spPr>
        <p:txBody>
          <a:bodyPr/>
          <a:lstStyle/>
          <a:p>
            <a:r>
              <a:rPr lang="en-GB" sz="3600" dirty="0"/>
              <a:t>Pooling</a:t>
            </a:r>
            <a:endParaRPr lang="en-GB" sz="36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pic>
        <p:nvPicPr>
          <p:cNvPr id="2050" name="Picture 2"/>
          <p:cNvPicPr>
            <a:picLocks noChangeAspect="1" noChangeArrowheads="1"/>
          </p:cNvPicPr>
          <p:nvPr/>
        </p:nvPicPr>
        <p:blipFill>
          <a:blip r:embed="rId1"/>
          <a:srcRect/>
          <a:stretch>
            <a:fillRect/>
          </a:stretch>
        </p:blipFill>
        <p:spPr bwMode="auto">
          <a:xfrm>
            <a:off x="684212" y="1371600"/>
            <a:ext cx="8636000" cy="3886200"/>
          </a:xfrm>
          <a:prstGeom prst="rect">
            <a:avLst/>
          </a:prstGeom>
          <a:noFill/>
          <a:ln w="9525">
            <a:noFill/>
            <a:miter lim="800000"/>
            <a:headEnd/>
            <a:tailEnd/>
          </a:ln>
          <a:effectLst/>
        </p:spPr>
      </p:pic>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457200"/>
            <a:ext cx="10969943" cy="757238"/>
          </a:xfrm>
        </p:spPr>
        <p:txBody>
          <a:bodyPr/>
          <a:lstStyle/>
          <a:p>
            <a:r>
              <a:rPr lang="en-GB" sz="3600" dirty="0"/>
              <a:t>Example</a:t>
            </a:r>
            <a:endParaRPr lang="en-GB" sz="36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pic>
        <p:nvPicPr>
          <p:cNvPr id="7" name="Picture 6" descr="gb08-2i83P5wPzs3SL-vosNb6Iur5kb5ZH43.gif"/>
          <p:cNvPicPr>
            <a:picLocks noChangeAspect="1"/>
          </p:cNvPicPr>
          <p:nvPr/>
        </p:nvPicPr>
        <p:blipFill>
          <a:blip r:embed="rId1"/>
          <a:stretch>
            <a:fillRect/>
          </a:stretch>
        </p:blipFill>
        <p:spPr>
          <a:xfrm>
            <a:off x="684212" y="1184560"/>
            <a:ext cx="7620000" cy="5673440"/>
          </a:xfrm>
          <a:prstGeom prst="rect">
            <a:avLst/>
          </a:prstGeom>
        </p:spPr>
      </p:pic>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457200"/>
            <a:ext cx="10969943" cy="757238"/>
          </a:xfrm>
        </p:spPr>
        <p:txBody>
          <a:bodyPr/>
          <a:lstStyle/>
          <a:p>
            <a:r>
              <a:rPr lang="en-GB" sz="3600" dirty="0"/>
              <a:t>Classification</a:t>
            </a:r>
            <a:endParaRPr lang="en-GB" sz="36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9" name="Rectangle 3"/>
          <p:cNvSpPr txBox="1">
            <a:spLocks noChangeArrowheads="1"/>
          </p:cNvSpPr>
          <p:nvPr/>
        </p:nvSpPr>
        <p:spPr>
          <a:xfrm>
            <a:off x="380901" y="1267690"/>
            <a:ext cx="9218711" cy="5191126"/>
          </a:xfrm>
          <a:prstGeom prst="rect">
            <a:avLst/>
          </a:prstGeom>
        </p:spPr>
        <p:txBody>
          <a:bodyPr vert="horz" lIns="91440" tIns="45720" rIns="91440" bIns="45720" rtlCol="0">
            <a:normAutofit/>
          </a:bodyPr>
          <a:lstStyle/>
          <a:p>
            <a:pPr marL="342900" indent="-342900" algn="just" defTabSz="457200">
              <a:spcBef>
                <a:spcPts val="1000"/>
              </a:spcBef>
              <a:buClr>
                <a:schemeClr val="accent1"/>
              </a:buClr>
              <a:buSzPct val="80000"/>
              <a:buFont typeface="Wingdings 3" charset="2"/>
              <a:buChar char=""/>
            </a:pPr>
            <a:r>
              <a:rPr lang="en-US" sz="2000" dirty="0"/>
              <a:t>After the convolution and pooling layers, our classification part consists of a few </a:t>
            </a:r>
            <a:r>
              <a:rPr lang="en-US" sz="2000" dirty="0">
                <a:solidFill>
                  <a:srgbClr val="0070C0"/>
                </a:solidFill>
              </a:rPr>
              <a:t>fully connected layers</a:t>
            </a:r>
            <a:r>
              <a:rPr lang="en-US" sz="2000" dirty="0"/>
              <a:t>. However, these fully connected layers can </a:t>
            </a:r>
            <a:r>
              <a:rPr lang="en-US" sz="2000" dirty="0">
                <a:solidFill>
                  <a:srgbClr val="FF0066"/>
                </a:solidFill>
              </a:rPr>
              <a:t>only accept 1 Dimensional data</a:t>
            </a:r>
            <a:r>
              <a:rPr lang="en-US" sz="2000" dirty="0"/>
              <a:t>. To convert our 3D data to 1D, we use the function flatten in Python. This essentially arranges our 3D volume into a 1D vector.</a:t>
            </a:r>
            <a:endParaRPr lang="en-US" sz="2000" dirty="0"/>
          </a:p>
          <a:p>
            <a:pPr marL="342900" indent="-342900" algn="just" defTabSz="457200">
              <a:spcBef>
                <a:spcPts val="1000"/>
              </a:spcBef>
              <a:buClr>
                <a:schemeClr val="accent1"/>
              </a:buClr>
              <a:buSzPct val="80000"/>
              <a:buFont typeface="Wingdings 3" charset="2"/>
              <a:buChar char=""/>
            </a:pPr>
            <a:r>
              <a:rPr lang="en-US" sz="2000" dirty="0"/>
              <a:t>The last layers of a </a:t>
            </a:r>
            <a:r>
              <a:rPr lang="en-US" sz="2000" dirty="0" err="1"/>
              <a:t>Convolutional</a:t>
            </a:r>
            <a:r>
              <a:rPr lang="en-US" sz="2000" dirty="0"/>
              <a:t> NN are fully connected layers. Neurons in a fully connected layer have full connections to all the activations in the previous layer. </a:t>
            </a:r>
            <a:r>
              <a:rPr lang="en-US" sz="2000" dirty="0">
                <a:solidFill>
                  <a:srgbClr val="0070C0"/>
                </a:solidFill>
              </a:rPr>
              <a:t>This part is in principle the same as a regular Neural Network</a:t>
            </a:r>
            <a:r>
              <a:rPr lang="en-US" sz="2000" dirty="0"/>
              <a:t>.</a:t>
            </a:r>
            <a:endParaRPr lang="en-US" sz="2000" dirty="0"/>
          </a:p>
          <a:p>
            <a:pPr marL="342900" indent="-342900" algn="just" defTabSz="457200">
              <a:spcBef>
                <a:spcPts val="1000"/>
              </a:spcBef>
              <a:buClr>
                <a:schemeClr val="accent1"/>
              </a:buClr>
              <a:buSzPct val="80000"/>
              <a:buFont typeface="Wingdings 3" charset="2"/>
              <a:buChar char=""/>
            </a:pPr>
            <a:r>
              <a:rPr lang="en-US" sz="2000" dirty="0"/>
              <a:t>Since all the parameters are occupied into fully-connected layer, it causes </a:t>
            </a:r>
            <a:r>
              <a:rPr lang="en-US" sz="2000" dirty="0" err="1"/>
              <a:t>overfitting</a:t>
            </a:r>
            <a:r>
              <a:rPr lang="en-US" sz="2000" dirty="0"/>
              <a:t>. </a:t>
            </a:r>
            <a:r>
              <a:rPr lang="en-US" sz="2000" dirty="0">
                <a:solidFill>
                  <a:srgbClr val="0070C0"/>
                </a:solidFill>
              </a:rPr>
              <a:t>Dropout is one of the techniques that reduces </a:t>
            </a:r>
            <a:r>
              <a:rPr lang="en-US" sz="2000" dirty="0" err="1">
                <a:solidFill>
                  <a:srgbClr val="0070C0"/>
                </a:solidFill>
              </a:rPr>
              <a:t>overfitting</a:t>
            </a:r>
            <a:r>
              <a:rPr lang="en-US" sz="2000" dirty="0"/>
              <a:t>.</a:t>
            </a:r>
            <a:endParaRPr lang="en-US" sz="2000" dirty="0"/>
          </a:p>
          <a:p>
            <a:pPr marL="342900" indent="-342900" algn="just" defTabSz="457200">
              <a:spcBef>
                <a:spcPts val="1000"/>
              </a:spcBef>
              <a:buClr>
                <a:schemeClr val="accent1"/>
              </a:buClr>
              <a:buSzPct val="80000"/>
              <a:buFont typeface="Wingdings 3" charset="2"/>
              <a:buChar char=""/>
            </a:pPr>
            <a:r>
              <a:rPr lang="en-US" sz="2000" dirty="0"/>
              <a:t>Dropout is an approach used for </a:t>
            </a:r>
            <a:r>
              <a:rPr lang="en-US" sz="2000" i="1" dirty="0"/>
              <a:t>regularization</a:t>
            </a:r>
            <a:r>
              <a:rPr lang="en-US" sz="2000" dirty="0"/>
              <a:t> in neural networks. It is a technique </a:t>
            </a:r>
            <a:r>
              <a:rPr lang="en-US" sz="2000" dirty="0">
                <a:solidFill>
                  <a:srgbClr val="0070C0"/>
                </a:solidFill>
              </a:rPr>
              <a:t>where randomly chosen nodes are ignored in network during training phase at each stage</a:t>
            </a:r>
            <a:r>
              <a:rPr lang="en-US" sz="2000" dirty="0"/>
              <a:t>.</a:t>
            </a:r>
            <a:endParaRPr lang="en-US" sz="20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457200"/>
            <a:ext cx="10969943" cy="757238"/>
          </a:xfrm>
        </p:spPr>
        <p:txBody>
          <a:bodyPr/>
          <a:lstStyle/>
          <a:p>
            <a:r>
              <a:rPr lang="en-GB" sz="3600" dirty="0"/>
              <a:t>Classification</a:t>
            </a:r>
            <a:endParaRPr lang="en-GB" sz="36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9" name="Rectangle 3"/>
          <p:cNvSpPr txBox="1">
            <a:spLocks noChangeArrowheads="1"/>
          </p:cNvSpPr>
          <p:nvPr/>
        </p:nvSpPr>
        <p:spPr>
          <a:xfrm>
            <a:off x="380901" y="1267690"/>
            <a:ext cx="9218711" cy="5191126"/>
          </a:xfrm>
          <a:prstGeom prst="rect">
            <a:avLst/>
          </a:prstGeom>
        </p:spPr>
        <p:txBody>
          <a:bodyPr vert="horz" lIns="91440" tIns="45720" rIns="91440" bIns="45720" rtlCol="0">
            <a:normAutofit/>
          </a:bodyPr>
          <a:lstStyle/>
          <a:p>
            <a:pPr marL="342900" indent="-342900" algn="just" defTabSz="457200">
              <a:spcBef>
                <a:spcPts val="1000"/>
              </a:spcBef>
              <a:buClr>
                <a:schemeClr val="accent1"/>
              </a:buClr>
              <a:buSzPct val="80000"/>
              <a:buFont typeface="Wingdings 3" charset="2"/>
              <a:buChar char=""/>
            </a:pPr>
            <a:r>
              <a:rPr lang="en-US" sz="2000" dirty="0">
                <a:solidFill>
                  <a:srgbClr val="FF0066"/>
                </a:solidFill>
              </a:rPr>
              <a:t>Soft-max is an activation layer normally applied to the last layer of network that acts as a classifier. </a:t>
            </a:r>
            <a:r>
              <a:rPr lang="en-US" sz="2000" dirty="0"/>
              <a:t>Classification of given input into distinct classes takes place at this layer. The soft max function is used to map the non-normalized output of a network to a </a:t>
            </a:r>
            <a:r>
              <a:rPr lang="en-US" sz="2000" dirty="0">
                <a:solidFill>
                  <a:srgbClr val="0070C0"/>
                </a:solidFill>
              </a:rPr>
              <a:t>probability distribution</a:t>
            </a:r>
            <a:r>
              <a:rPr lang="en-US" sz="2000" dirty="0"/>
              <a:t>. </a:t>
            </a:r>
            <a:endParaRPr lang="en-US" sz="2000" dirty="0"/>
          </a:p>
          <a:p>
            <a:pPr marL="342900" indent="-342900" algn="just" defTabSz="457200">
              <a:spcBef>
                <a:spcPts val="1000"/>
              </a:spcBef>
              <a:buClr>
                <a:schemeClr val="accent1"/>
              </a:buClr>
              <a:buSzPct val="80000"/>
              <a:buFont typeface="Wingdings 3" charset="2"/>
              <a:buChar char=""/>
            </a:pPr>
            <a:endParaRPr lang="en-US" sz="2000" dirty="0"/>
          </a:p>
          <a:p>
            <a:pPr marL="342900" indent="-342900" algn="just" defTabSz="457200">
              <a:spcBef>
                <a:spcPts val="1000"/>
              </a:spcBef>
              <a:buClr>
                <a:schemeClr val="accent1"/>
              </a:buClr>
              <a:buSzPct val="80000"/>
              <a:buFont typeface="Wingdings 3" charset="2"/>
              <a:buChar char=""/>
            </a:pPr>
            <a:r>
              <a:rPr lang="en-US" sz="2000" dirty="0"/>
              <a:t>The output from last layer of fully connected layer is directed to soft max layer, which converts it into probabilities. </a:t>
            </a:r>
            <a:endParaRPr lang="en-US" sz="2000" dirty="0"/>
          </a:p>
          <a:p>
            <a:pPr marL="342900" indent="-342900" algn="just" defTabSz="457200">
              <a:spcBef>
                <a:spcPts val="1000"/>
              </a:spcBef>
              <a:buClr>
                <a:schemeClr val="accent1"/>
              </a:buClr>
              <a:buSzPct val="80000"/>
              <a:buFont typeface="Wingdings 3" charset="2"/>
              <a:buChar char=""/>
            </a:pPr>
            <a:endParaRPr lang="en-US" sz="2000" dirty="0"/>
          </a:p>
          <a:p>
            <a:pPr marL="342900" indent="-342900" algn="just" defTabSz="457200">
              <a:spcBef>
                <a:spcPts val="1000"/>
              </a:spcBef>
              <a:buClr>
                <a:schemeClr val="accent1"/>
              </a:buClr>
              <a:buSzPct val="80000"/>
              <a:buFont typeface="Wingdings 3" charset="2"/>
              <a:buChar char=""/>
            </a:pPr>
            <a:r>
              <a:rPr lang="en-US" sz="2000" dirty="0"/>
              <a:t>Here </a:t>
            </a:r>
            <a:r>
              <a:rPr lang="en-US" sz="2000" dirty="0">
                <a:solidFill>
                  <a:srgbClr val="0070C0"/>
                </a:solidFill>
              </a:rPr>
              <a:t>soft-max assigns decimal probabilities to each class in a multi-class problem, these probabilities sum equals 1.0</a:t>
            </a:r>
            <a:r>
              <a:rPr lang="en-US" sz="2000" dirty="0"/>
              <a:t>. </a:t>
            </a:r>
            <a:endParaRPr lang="en-US" sz="2000" dirty="0"/>
          </a:p>
          <a:p>
            <a:pPr marL="342900" indent="-342900" algn="just" defTabSz="457200">
              <a:spcBef>
                <a:spcPts val="1000"/>
              </a:spcBef>
              <a:buClr>
                <a:schemeClr val="accent1"/>
              </a:buClr>
              <a:buSzPct val="80000"/>
              <a:buFont typeface="Wingdings 3" charset="2"/>
              <a:buChar char=""/>
            </a:pPr>
            <a:endParaRPr lang="en-US" sz="2000" dirty="0"/>
          </a:p>
          <a:p>
            <a:pPr marL="342900" indent="-342900" algn="just" defTabSz="457200">
              <a:spcBef>
                <a:spcPts val="1000"/>
              </a:spcBef>
              <a:buClr>
                <a:schemeClr val="accent1"/>
              </a:buClr>
              <a:buSzPct val="80000"/>
              <a:buFont typeface="Wingdings 3" charset="2"/>
              <a:buChar char=""/>
            </a:pPr>
            <a:r>
              <a:rPr lang="en-US" sz="2000" dirty="0"/>
              <a:t>This allows the output to be interpreted directly as a probability.</a:t>
            </a:r>
            <a:endParaRPr lang="en-US" sz="20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457200"/>
            <a:ext cx="10969943" cy="757238"/>
          </a:xfrm>
        </p:spPr>
        <p:txBody>
          <a:bodyPr/>
          <a:lstStyle/>
          <a:p>
            <a:r>
              <a:rPr lang="en-GB" sz="3600" dirty="0" err="1"/>
              <a:t>Hyperparameters</a:t>
            </a:r>
            <a:r>
              <a:rPr lang="en-GB" sz="3600" dirty="0"/>
              <a:t> in CNN</a:t>
            </a:r>
            <a:endParaRPr lang="en-GB" sz="36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9" name="Rectangle 3"/>
          <p:cNvSpPr txBox="1">
            <a:spLocks noChangeArrowheads="1"/>
          </p:cNvSpPr>
          <p:nvPr/>
        </p:nvSpPr>
        <p:spPr>
          <a:xfrm>
            <a:off x="380901" y="1267690"/>
            <a:ext cx="9218711" cy="5191126"/>
          </a:xfrm>
          <a:prstGeom prst="rect">
            <a:avLst/>
          </a:prstGeom>
        </p:spPr>
        <p:txBody>
          <a:bodyPr vert="horz" lIns="91440" tIns="45720" rIns="91440" bIns="45720" rtlCol="0">
            <a:normAutofit/>
          </a:bodyPr>
          <a:lstStyle/>
          <a:p>
            <a:pPr marL="342900" indent="-342900" algn="just" defTabSz="457200">
              <a:spcBef>
                <a:spcPts val="1000"/>
              </a:spcBef>
              <a:buClr>
                <a:schemeClr val="accent1"/>
              </a:buClr>
              <a:buSzPct val="80000"/>
              <a:buFont typeface="Wingdings 3" charset="2"/>
              <a:buChar char=""/>
            </a:pPr>
            <a:r>
              <a:rPr lang="en-US" sz="2000" dirty="0"/>
              <a:t>Thus when using a CNN, the </a:t>
            </a:r>
            <a:r>
              <a:rPr lang="en-US" sz="2000" dirty="0">
                <a:solidFill>
                  <a:srgbClr val="0070C0"/>
                </a:solidFill>
              </a:rPr>
              <a:t>four important </a:t>
            </a:r>
            <a:r>
              <a:rPr lang="en-US" sz="2000" dirty="0" err="1">
                <a:solidFill>
                  <a:srgbClr val="0070C0"/>
                </a:solidFill>
              </a:rPr>
              <a:t>hyperparameters</a:t>
            </a:r>
            <a:r>
              <a:rPr lang="en-US" sz="2000" dirty="0">
                <a:solidFill>
                  <a:srgbClr val="0070C0"/>
                </a:solidFill>
              </a:rPr>
              <a:t> </a:t>
            </a:r>
            <a:r>
              <a:rPr lang="en-US" sz="2000" dirty="0"/>
              <a:t>we have to decide on are:</a:t>
            </a:r>
            <a:endParaRPr lang="en-US" sz="2000" dirty="0"/>
          </a:p>
          <a:p>
            <a:pPr marL="800100" lvl="1" indent="-342900" algn="just" defTabSz="457200">
              <a:spcBef>
                <a:spcPts val="1000"/>
              </a:spcBef>
              <a:buClr>
                <a:schemeClr val="accent1"/>
              </a:buClr>
              <a:buSzPct val="80000"/>
              <a:buFont typeface="Wingdings" panose="05000000000000000000" pitchFamily="2" charset="2"/>
              <a:buChar char="§"/>
            </a:pPr>
            <a:r>
              <a:rPr lang="en-US" sz="2000" dirty="0">
                <a:solidFill>
                  <a:srgbClr val="FF0066"/>
                </a:solidFill>
              </a:rPr>
              <a:t>Kernel size</a:t>
            </a:r>
            <a:endParaRPr lang="en-US" sz="2000" dirty="0">
              <a:solidFill>
                <a:srgbClr val="FF0066"/>
              </a:solidFill>
            </a:endParaRPr>
          </a:p>
          <a:p>
            <a:pPr marL="800100" lvl="1" indent="-342900" algn="just" defTabSz="457200">
              <a:spcBef>
                <a:spcPts val="1000"/>
              </a:spcBef>
              <a:buClr>
                <a:schemeClr val="accent1"/>
              </a:buClr>
              <a:buSzPct val="80000"/>
              <a:buFont typeface="Wingdings" panose="05000000000000000000" pitchFamily="2" charset="2"/>
              <a:buChar char="§"/>
            </a:pPr>
            <a:r>
              <a:rPr lang="en-US" sz="2000" dirty="0">
                <a:solidFill>
                  <a:srgbClr val="FF0066"/>
                </a:solidFill>
              </a:rPr>
              <a:t>Filter count (that is, how many filters do we want to use)</a:t>
            </a:r>
            <a:endParaRPr lang="en-US" sz="2000" dirty="0">
              <a:solidFill>
                <a:srgbClr val="FF0066"/>
              </a:solidFill>
            </a:endParaRPr>
          </a:p>
          <a:p>
            <a:pPr marL="800100" lvl="1" indent="-342900" algn="just" defTabSz="457200">
              <a:spcBef>
                <a:spcPts val="1000"/>
              </a:spcBef>
              <a:buClr>
                <a:schemeClr val="accent1"/>
              </a:buClr>
              <a:buSzPct val="80000"/>
              <a:buFont typeface="Wingdings" panose="05000000000000000000" pitchFamily="2" charset="2"/>
              <a:buChar char="§"/>
            </a:pPr>
            <a:r>
              <a:rPr lang="en-US" sz="2000" dirty="0">
                <a:solidFill>
                  <a:srgbClr val="FF0066"/>
                </a:solidFill>
              </a:rPr>
              <a:t>Stride (how big are the steps of the filter)</a:t>
            </a:r>
            <a:endParaRPr lang="en-US" sz="2000" dirty="0">
              <a:solidFill>
                <a:srgbClr val="FF0066"/>
              </a:solidFill>
            </a:endParaRPr>
          </a:p>
          <a:p>
            <a:pPr marL="800100" lvl="1" indent="-342900" algn="just" defTabSz="457200">
              <a:spcBef>
                <a:spcPts val="1000"/>
              </a:spcBef>
              <a:buClr>
                <a:schemeClr val="accent1"/>
              </a:buClr>
              <a:buSzPct val="80000"/>
              <a:buFont typeface="Wingdings" panose="05000000000000000000" pitchFamily="2" charset="2"/>
              <a:buChar char="§"/>
            </a:pPr>
            <a:r>
              <a:rPr lang="en-US" sz="2000" dirty="0">
                <a:solidFill>
                  <a:srgbClr val="FF0066"/>
                </a:solidFill>
              </a:rPr>
              <a:t>Padding</a:t>
            </a:r>
            <a:endParaRPr lang="en-US" sz="2000" dirty="0">
              <a:solidFill>
                <a:srgbClr val="FF0066"/>
              </a:solidFill>
            </a:endParaRPr>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457200"/>
            <a:ext cx="10969943" cy="757238"/>
          </a:xfrm>
        </p:spPr>
        <p:txBody>
          <a:bodyPr/>
          <a:lstStyle/>
          <a:p>
            <a:r>
              <a:rPr lang="en-GB" sz="3600" dirty="0"/>
              <a:t>Loss Layer</a:t>
            </a:r>
            <a:endParaRPr lang="en-GB" sz="36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9" name="Rectangle 3"/>
          <p:cNvSpPr txBox="1">
            <a:spLocks noChangeArrowheads="1"/>
          </p:cNvSpPr>
          <p:nvPr/>
        </p:nvSpPr>
        <p:spPr>
          <a:xfrm>
            <a:off x="380901" y="1267690"/>
            <a:ext cx="9218711" cy="5191126"/>
          </a:xfrm>
          <a:prstGeom prst="rect">
            <a:avLst/>
          </a:prstGeom>
        </p:spPr>
        <p:txBody>
          <a:bodyPr vert="horz" lIns="91440" tIns="45720" rIns="91440" bIns="45720" rtlCol="0">
            <a:normAutofit/>
          </a:bodyPr>
          <a:lstStyle/>
          <a:p>
            <a:pPr marL="342900" indent="-342900" algn="just" defTabSz="457200">
              <a:spcBef>
                <a:spcPts val="1000"/>
              </a:spcBef>
              <a:buClr>
                <a:schemeClr val="accent1"/>
              </a:buClr>
              <a:buSzPct val="80000"/>
              <a:buFont typeface="Wingdings 3" charset="2"/>
              <a:buChar char=""/>
            </a:pPr>
            <a:r>
              <a:rPr lang="en-US" sz="2000" dirty="0"/>
              <a:t>In the context of an optimization algorithm, the function used to evaluate a candidate solution (i.e., a set of weights) is referred to as the </a:t>
            </a:r>
            <a:r>
              <a:rPr lang="en-US" sz="2000" dirty="0">
                <a:solidFill>
                  <a:srgbClr val="0070C0"/>
                </a:solidFill>
              </a:rPr>
              <a:t>objective function</a:t>
            </a:r>
            <a:r>
              <a:rPr lang="en-US" sz="2000" dirty="0"/>
              <a:t>.</a:t>
            </a:r>
            <a:endParaRPr lang="en-US" sz="2000" dirty="0"/>
          </a:p>
          <a:p>
            <a:pPr marL="342900" indent="-342900" algn="just" defTabSz="457200">
              <a:spcBef>
                <a:spcPts val="1000"/>
              </a:spcBef>
              <a:buClr>
                <a:schemeClr val="accent1"/>
              </a:buClr>
              <a:buSzPct val="80000"/>
              <a:buFont typeface="Wingdings 3" charset="2"/>
              <a:buChar char=""/>
            </a:pPr>
            <a:r>
              <a:rPr lang="en-US" sz="2000" dirty="0"/>
              <a:t>Typically, with neural networks, we seek to </a:t>
            </a:r>
            <a:r>
              <a:rPr lang="en-US" sz="2000" dirty="0">
                <a:solidFill>
                  <a:srgbClr val="0070C0"/>
                </a:solidFill>
              </a:rPr>
              <a:t>minimize the error</a:t>
            </a:r>
            <a:r>
              <a:rPr lang="en-US" sz="2000" dirty="0"/>
              <a:t>. As such, the objective function is often referred to as a cost function or a loss function and the value calculated by the loss function is referred to as simply “loss.”</a:t>
            </a:r>
            <a:endParaRPr lang="en-US" sz="2000" dirty="0"/>
          </a:p>
          <a:p>
            <a:pPr marL="342900" indent="-342900" algn="just" defTabSz="457200">
              <a:spcBef>
                <a:spcPts val="1000"/>
              </a:spcBef>
              <a:buClr>
                <a:schemeClr val="accent1"/>
              </a:buClr>
              <a:buSzPct val="80000"/>
              <a:buFont typeface="Wingdings 3" charset="2"/>
              <a:buChar char=""/>
            </a:pPr>
            <a:r>
              <a:rPr lang="en-US" sz="2000" dirty="0"/>
              <a:t>The cost or loss function has an important job in that it must faithfully distill all </a:t>
            </a:r>
            <a:r>
              <a:rPr lang="en-US" sz="2000" dirty="0">
                <a:solidFill>
                  <a:srgbClr val="0070C0"/>
                </a:solidFill>
              </a:rPr>
              <a:t>aspects of the model down into a single number</a:t>
            </a:r>
            <a:r>
              <a:rPr lang="en-US" sz="2000" dirty="0"/>
              <a:t> in such a way that improvements in that number are a sign of a better model.</a:t>
            </a:r>
            <a:endParaRPr lang="en-US" sz="2000" dirty="0"/>
          </a:p>
          <a:p>
            <a:pPr marL="342900" indent="-342900" algn="just" defTabSz="457200">
              <a:spcBef>
                <a:spcPts val="1000"/>
              </a:spcBef>
              <a:buClr>
                <a:schemeClr val="accent1"/>
              </a:buClr>
              <a:buSzPct val="80000"/>
              <a:buFont typeface="Wingdings 3" charset="2"/>
              <a:buChar char=""/>
            </a:pPr>
            <a:r>
              <a:rPr lang="en-US" sz="2000" dirty="0"/>
              <a:t>The cost function reduces all the various good and bad aspects of a possibly complex system down to a single number, a scalar value, which allows candidate solutions to be ranked and compared.</a:t>
            </a:r>
            <a:endParaRPr lang="en-US" sz="2000" dirty="0"/>
          </a:p>
          <a:p>
            <a:pPr marL="342900" indent="-342900" algn="just" defTabSz="457200">
              <a:spcBef>
                <a:spcPts val="1000"/>
              </a:spcBef>
              <a:buClr>
                <a:schemeClr val="accent1"/>
              </a:buClr>
              <a:buSzPct val="80000"/>
              <a:buFont typeface="Wingdings 3" charset="2"/>
              <a:buChar char=""/>
            </a:pPr>
            <a:r>
              <a:rPr lang="en-US" sz="2000" dirty="0"/>
              <a:t>It is important, therefore, that the function faithfully represent our design goals. If we choose a </a:t>
            </a:r>
            <a:r>
              <a:rPr lang="en-US" sz="2000" dirty="0">
                <a:solidFill>
                  <a:srgbClr val="FF0066"/>
                </a:solidFill>
              </a:rPr>
              <a:t>poor error function and obtain unsatisfactory results</a:t>
            </a:r>
            <a:r>
              <a:rPr lang="en-US" sz="2000" dirty="0"/>
              <a:t>, the fault is ours for badly specifying the goal of the search.</a:t>
            </a:r>
            <a:endParaRPr lang="en-US" sz="2000" dirty="0"/>
          </a:p>
          <a:p>
            <a:pPr marL="342900" indent="-342900" algn="just" defTabSz="457200">
              <a:spcBef>
                <a:spcPts val="1000"/>
              </a:spcBef>
              <a:buClr>
                <a:schemeClr val="accent1"/>
              </a:buClr>
              <a:buSzPct val="80000"/>
              <a:buFont typeface="Wingdings 3" charset="2"/>
              <a:buChar char=""/>
            </a:pPr>
            <a:endParaRPr lang="en-US" sz="20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457200"/>
            <a:ext cx="10969943" cy="757238"/>
          </a:xfrm>
        </p:spPr>
        <p:txBody>
          <a:bodyPr/>
          <a:lstStyle/>
          <a:p>
            <a:r>
              <a:rPr lang="en-GB" sz="3600" dirty="0"/>
              <a:t>Loss Layer</a:t>
            </a:r>
            <a:endParaRPr lang="en-GB" sz="36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pic>
        <p:nvPicPr>
          <p:cNvPr id="10" name="Picture 9" descr="custom_output_layer_flow.png"/>
          <p:cNvPicPr/>
          <p:nvPr/>
        </p:nvPicPr>
        <p:blipFill>
          <a:blip r:embed="rId1"/>
          <a:stretch>
            <a:fillRect/>
          </a:stretch>
        </p:blipFill>
        <p:spPr>
          <a:xfrm>
            <a:off x="760412" y="1752600"/>
            <a:ext cx="8001000" cy="3657600"/>
          </a:xfrm>
          <a:prstGeom prst="rect">
            <a:avLst/>
          </a:prstGeom>
        </p:spPr>
      </p:pic>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277085"/>
            <a:ext cx="10969943" cy="757238"/>
          </a:xfrm>
        </p:spPr>
        <p:txBody>
          <a:bodyPr/>
          <a:lstStyle/>
          <a:p>
            <a:r>
              <a:rPr lang="en-GB" sz="3600" dirty="0"/>
              <a:t>Dense Layer</a:t>
            </a:r>
            <a:endParaRPr lang="en-GB" sz="36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9" name="Rectangle 3"/>
          <p:cNvSpPr txBox="1">
            <a:spLocks noChangeArrowheads="1"/>
          </p:cNvSpPr>
          <p:nvPr/>
        </p:nvSpPr>
        <p:spPr>
          <a:xfrm>
            <a:off x="380901" y="907460"/>
            <a:ext cx="9218711" cy="5191126"/>
          </a:xfrm>
          <a:prstGeom prst="rect">
            <a:avLst/>
          </a:prstGeom>
        </p:spPr>
        <p:txBody>
          <a:bodyPr vert="horz" lIns="91440" tIns="45720" rIns="91440" bIns="45720" rtlCol="0">
            <a:normAutofit/>
          </a:bodyPr>
          <a:lstStyle/>
          <a:p>
            <a:pPr marL="342900" indent="-342900" algn="just" defTabSz="457200">
              <a:spcBef>
                <a:spcPts val="1000"/>
              </a:spcBef>
              <a:buClr>
                <a:schemeClr val="accent1"/>
              </a:buClr>
              <a:buSzPct val="80000"/>
              <a:buFont typeface="Wingdings 3" charset="2"/>
              <a:buChar char=""/>
            </a:pPr>
            <a:r>
              <a:rPr lang="en-US" sz="2000" dirty="0"/>
              <a:t>Dense layer is the regular deeply connected neural network layer. It is most common and frequently used layer. Dense layer does the below operation on the input and return the output.</a:t>
            </a:r>
            <a:endParaRPr lang="en-US" sz="2000" dirty="0"/>
          </a:p>
          <a:p>
            <a:pPr marL="342900" indent="-342900" algn="just" defTabSz="457200">
              <a:spcBef>
                <a:spcPts val="1000"/>
              </a:spcBef>
              <a:buClr>
                <a:schemeClr val="accent1"/>
              </a:buClr>
              <a:buSzPct val="80000"/>
              <a:buFont typeface="Wingdings 3" charset="2"/>
              <a:buChar char=""/>
            </a:pPr>
            <a:r>
              <a:rPr lang="en-US" sz="2000" dirty="0">
                <a:solidFill>
                  <a:srgbClr val="0070C0"/>
                </a:solidFill>
              </a:rPr>
              <a:t>output = activation(dot(input, kernel) + bias)</a:t>
            </a:r>
            <a:endParaRPr lang="en-US" sz="2000" dirty="0">
              <a:solidFill>
                <a:srgbClr val="0070C0"/>
              </a:solidFill>
            </a:endParaRPr>
          </a:p>
          <a:p>
            <a:pPr marL="342900" indent="-342900" algn="just" defTabSz="457200">
              <a:spcBef>
                <a:spcPts val="1000"/>
              </a:spcBef>
              <a:buClr>
                <a:schemeClr val="accent1"/>
              </a:buClr>
              <a:buSzPct val="80000"/>
              <a:buFont typeface="Wingdings 3" charset="2"/>
              <a:buChar char=""/>
            </a:pPr>
            <a:r>
              <a:rPr lang="en-US" sz="2000" dirty="0"/>
              <a:t>where,</a:t>
            </a:r>
            <a:endParaRPr lang="en-US" sz="2000" dirty="0"/>
          </a:p>
          <a:p>
            <a:pPr marL="800100" lvl="1" indent="-342900" algn="just" defTabSz="457200">
              <a:spcBef>
                <a:spcPts val="1000"/>
              </a:spcBef>
              <a:buClr>
                <a:schemeClr val="accent1"/>
              </a:buClr>
              <a:buSzPct val="80000"/>
              <a:buFont typeface="Wingdings 3" charset="2"/>
              <a:buChar char=""/>
            </a:pPr>
            <a:r>
              <a:rPr lang="en-US" sz="1600" dirty="0"/>
              <a:t>Input represents the input data</a:t>
            </a:r>
            <a:endParaRPr lang="en-US" sz="1600" dirty="0"/>
          </a:p>
          <a:p>
            <a:pPr marL="800100" lvl="1" indent="-342900" algn="just" defTabSz="457200">
              <a:spcBef>
                <a:spcPts val="1000"/>
              </a:spcBef>
              <a:buClr>
                <a:schemeClr val="accent1"/>
              </a:buClr>
              <a:buSzPct val="80000"/>
              <a:buFont typeface="Wingdings 3" charset="2"/>
              <a:buChar char=""/>
            </a:pPr>
            <a:r>
              <a:rPr lang="en-US" sz="1600" dirty="0"/>
              <a:t>Kernel represents the weight data</a:t>
            </a:r>
            <a:endParaRPr lang="en-US" sz="1600" dirty="0"/>
          </a:p>
          <a:p>
            <a:pPr marL="800100" lvl="1" indent="-342900" algn="just" defTabSz="457200">
              <a:spcBef>
                <a:spcPts val="1000"/>
              </a:spcBef>
              <a:buClr>
                <a:schemeClr val="accent1"/>
              </a:buClr>
              <a:buSzPct val="80000"/>
              <a:buFont typeface="Wingdings 3" charset="2"/>
              <a:buChar char=""/>
            </a:pPr>
            <a:r>
              <a:rPr lang="en-US" sz="1600" dirty="0"/>
              <a:t>Dot represents dot product of all input and its corresponding weights</a:t>
            </a:r>
            <a:endParaRPr lang="en-US" sz="1600" dirty="0"/>
          </a:p>
          <a:p>
            <a:pPr marL="800100" lvl="1" indent="-342900" algn="just" defTabSz="457200">
              <a:spcBef>
                <a:spcPts val="1000"/>
              </a:spcBef>
              <a:buClr>
                <a:schemeClr val="accent1"/>
              </a:buClr>
              <a:buSzPct val="80000"/>
              <a:buFont typeface="Wingdings 3" charset="2"/>
              <a:buChar char=""/>
            </a:pPr>
            <a:r>
              <a:rPr lang="en-US" sz="1600" dirty="0"/>
              <a:t>Bias represents a biased value used in machine learning to optimize the model</a:t>
            </a:r>
            <a:endParaRPr lang="en-US" sz="1600" dirty="0"/>
          </a:p>
          <a:p>
            <a:pPr marL="800100" lvl="1" indent="-342900" algn="just" defTabSz="457200">
              <a:spcBef>
                <a:spcPts val="1000"/>
              </a:spcBef>
              <a:buClr>
                <a:schemeClr val="accent1"/>
              </a:buClr>
              <a:buSzPct val="80000"/>
              <a:buFont typeface="Wingdings 3" charset="2"/>
              <a:buChar char=""/>
            </a:pPr>
            <a:r>
              <a:rPr lang="en-US" sz="1600" dirty="0"/>
              <a:t>Activation represents the activation function.</a:t>
            </a:r>
            <a:endParaRPr lang="en-US" sz="1600" dirty="0"/>
          </a:p>
        </p:txBody>
      </p:sp>
      <p:pic>
        <p:nvPicPr>
          <p:cNvPr id="7" name="Picture 6" descr="A-CNN-architecture-that-adds-convolution-layers-and-pooling-layers-before-dense-layers.png"/>
          <p:cNvPicPr/>
          <p:nvPr/>
        </p:nvPicPr>
        <p:blipFill>
          <a:blip r:embed="rId1"/>
          <a:stretch>
            <a:fillRect/>
          </a:stretch>
        </p:blipFill>
        <p:spPr>
          <a:xfrm>
            <a:off x="2450657" y="4731330"/>
            <a:ext cx="4572000" cy="1974716"/>
          </a:xfrm>
          <a:prstGeom prst="rect">
            <a:avLst/>
          </a:prstGeom>
        </p:spPr>
      </p:pic>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457200"/>
            <a:ext cx="10969943" cy="757238"/>
          </a:xfrm>
        </p:spPr>
        <p:txBody>
          <a:bodyPr/>
          <a:lstStyle/>
          <a:p>
            <a:r>
              <a:rPr lang="en-GB" sz="3600" dirty="0"/>
              <a:t>1x1 Convolution</a:t>
            </a:r>
            <a:endParaRPr lang="en-GB" sz="36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9" name="Rectangle 3"/>
          <p:cNvSpPr txBox="1">
            <a:spLocks noChangeArrowheads="1"/>
          </p:cNvSpPr>
          <p:nvPr/>
        </p:nvSpPr>
        <p:spPr>
          <a:xfrm>
            <a:off x="380901" y="1267690"/>
            <a:ext cx="9218711" cy="5191126"/>
          </a:xfrm>
          <a:prstGeom prst="rect">
            <a:avLst/>
          </a:prstGeom>
        </p:spPr>
        <p:txBody>
          <a:bodyPr vert="horz" lIns="91440" tIns="45720" rIns="91440" bIns="45720" rtlCol="0">
            <a:normAutofit/>
          </a:bodyPr>
          <a:lstStyle/>
          <a:p>
            <a:pPr marL="342900" indent="-342900" algn="just" defTabSz="457200">
              <a:spcBef>
                <a:spcPts val="1000"/>
              </a:spcBef>
              <a:buClr>
                <a:schemeClr val="accent1"/>
              </a:buClr>
              <a:buSzPct val="80000"/>
              <a:buFont typeface="Wingdings 3" charset="2"/>
              <a:buChar char=""/>
            </a:pPr>
            <a:r>
              <a:rPr lang="en-US" sz="2000" dirty="0"/>
              <a:t>Convolutions layers are lighter than fully connected ones. But they still connect every input channels with every output channels for every position in the kernel windows.</a:t>
            </a:r>
            <a:endParaRPr lang="en-US" sz="2000" dirty="0"/>
          </a:p>
          <a:p>
            <a:pPr marL="342900" indent="-342900" algn="just" defTabSz="457200">
              <a:spcBef>
                <a:spcPts val="1000"/>
              </a:spcBef>
              <a:buClr>
                <a:schemeClr val="accent1"/>
              </a:buClr>
              <a:buSzPct val="80000"/>
              <a:buFont typeface="Wingdings 3" charset="2"/>
              <a:buChar char=""/>
            </a:pPr>
            <a:r>
              <a:rPr lang="en-US" sz="2000" dirty="0"/>
              <a:t>A 1x1 convolution kernel acts as an embedding solution. </a:t>
            </a:r>
            <a:r>
              <a:rPr lang="en-US" sz="2000" dirty="0">
                <a:solidFill>
                  <a:srgbClr val="0070C0"/>
                </a:solidFill>
              </a:rPr>
              <a:t>It reduces the size of the input vector</a:t>
            </a:r>
            <a:r>
              <a:rPr lang="en-US" sz="2000" dirty="0"/>
              <a:t>, the number of channels. It makes it more meaningful. The 1x1 </a:t>
            </a:r>
            <a:r>
              <a:rPr lang="en-US" sz="2000" dirty="0" err="1"/>
              <a:t>convolutional</a:t>
            </a:r>
            <a:r>
              <a:rPr lang="en-US" sz="2000" dirty="0"/>
              <a:t> layer is also called a </a:t>
            </a:r>
            <a:r>
              <a:rPr lang="en-US" sz="2000" dirty="0">
                <a:solidFill>
                  <a:srgbClr val="0070C0"/>
                </a:solidFill>
              </a:rPr>
              <a:t>Point wise Convolution</a:t>
            </a:r>
            <a:r>
              <a:rPr lang="en-US" sz="2000" dirty="0"/>
              <a:t>.</a:t>
            </a:r>
            <a:endParaRPr lang="en-US" sz="2000" dirty="0"/>
          </a:p>
          <a:p>
            <a:pPr marL="342900" indent="-342900" algn="just" defTabSz="457200">
              <a:spcBef>
                <a:spcPts val="1000"/>
              </a:spcBef>
              <a:buClr>
                <a:schemeClr val="accent1"/>
              </a:buClr>
              <a:buSzPct val="80000"/>
              <a:buFont typeface="Wingdings 3" charset="2"/>
              <a:buChar char=""/>
            </a:pPr>
            <a:r>
              <a:rPr lang="en-US" sz="2000" dirty="0"/>
              <a:t>In 1X1 Convolution simply means the filter is of size 1X1 (Yes — that means a single number as opposed to matrix like, say 3X3 filter). </a:t>
            </a:r>
            <a:r>
              <a:rPr lang="en-US" sz="2000" dirty="0">
                <a:solidFill>
                  <a:srgbClr val="0070C0"/>
                </a:solidFill>
              </a:rPr>
              <a:t>This 1X1 filter will convolve over the ENTIRE input image pixel by pixel</a:t>
            </a:r>
            <a:r>
              <a:rPr lang="en-US" sz="2000" dirty="0"/>
              <a:t>.</a:t>
            </a:r>
            <a:endParaRPr lang="en-US" sz="2000" dirty="0"/>
          </a:p>
          <a:p>
            <a:pPr marL="342900" indent="-342900" algn="just" defTabSz="457200">
              <a:spcBef>
                <a:spcPts val="1000"/>
              </a:spcBef>
              <a:buClr>
                <a:schemeClr val="accent1"/>
              </a:buClr>
              <a:buSzPct val="80000"/>
              <a:buFont typeface="Wingdings 3" charset="2"/>
              <a:buChar char=""/>
            </a:pPr>
            <a:r>
              <a:rPr lang="en-US" sz="2000" dirty="0"/>
              <a:t>Staying with our example input of 64X64X</a:t>
            </a:r>
            <a:r>
              <a:rPr lang="en-US" sz="2000" dirty="0">
                <a:solidFill>
                  <a:srgbClr val="FF0066"/>
                </a:solidFill>
              </a:rPr>
              <a:t>3</a:t>
            </a:r>
            <a:r>
              <a:rPr lang="en-US" sz="2000" dirty="0"/>
              <a:t>, if we choose a 1X1 filter (which would be 1X1X3), then the output will have the same Height and Weight as input but only one channel — 64X64X</a:t>
            </a:r>
            <a:r>
              <a:rPr lang="en-US" sz="2000" dirty="0">
                <a:solidFill>
                  <a:srgbClr val="FF0066"/>
                </a:solidFill>
              </a:rPr>
              <a:t>1</a:t>
            </a:r>
            <a:r>
              <a:rPr lang="en-US" sz="2000" dirty="0"/>
              <a:t>.</a:t>
            </a:r>
            <a:endParaRPr lang="en-US" sz="2000" dirty="0"/>
          </a:p>
          <a:p>
            <a:pPr marL="342900" indent="-342900" algn="just" defTabSz="457200">
              <a:spcBef>
                <a:spcPts val="1000"/>
              </a:spcBef>
              <a:buClr>
                <a:schemeClr val="accent1"/>
              </a:buClr>
              <a:buSzPct val="80000"/>
              <a:buFont typeface="Wingdings 3" charset="2"/>
              <a:buChar char=""/>
            </a:pPr>
            <a:endParaRPr lang="en-US" sz="20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304795"/>
            <a:ext cx="10969943" cy="757238"/>
          </a:xfrm>
        </p:spPr>
        <p:txBody>
          <a:bodyPr/>
          <a:lstStyle/>
          <a:p>
            <a:r>
              <a:rPr lang="en-GB" sz="3600" dirty="0"/>
              <a:t>1x1 Convolution</a:t>
            </a:r>
            <a:endParaRPr lang="en-GB" sz="36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9" name="Rectangle 3"/>
          <p:cNvSpPr txBox="1">
            <a:spLocks noChangeArrowheads="1"/>
          </p:cNvSpPr>
          <p:nvPr/>
        </p:nvSpPr>
        <p:spPr>
          <a:xfrm>
            <a:off x="380901" y="1004445"/>
            <a:ext cx="9218711" cy="5191126"/>
          </a:xfrm>
          <a:prstGeom prst="rect">
            <a:avLst/>
          </a:prstGeom>
        </p:spPr>
        <p:txBody>
          <a:bodyPr vert="horz" lIns="91440" tIns="45720" rIns="91440" bIns="45720" rtlCol="0">
            <a:normAutofit/>
          </a:bodyPr>
          <a:lstStyle/>
          <a:p>
            <a:pPr marL="342900" indent="-342900" algn="just" defTabSz="457200">
              <a:spcBef>
                <a:spcPts val="1000"/>
              </a:spcBef>
              <a:buClr>
                <a:schemeClr val="accent1"/>
              </a:buClr>
              <a:buSzPct val="80000"/>
              <a:buFont typeface="Wingdings 3" charset="2"/>
              <a:buChar char=""/>
            </a:pPr>
            <a:r>
              <a:rPr lang="en-US" sz="2000" dirty="0"/>
              <a:t>1X1 Convolution is effectively used for:</a:t>
            </a:r>
            <a:endParaRPr lang="en-US" sz="2000" dirty="0"/>
          </a:p>
          <a:p>
            <a:pPr marL="800100" lvl="1" indent="-342900" algn="just" defTabSz="457200">
              <a:spcBef>
                <a:spcPts val="1000"/>
              </a:spcBef>
              <a:buClr>
                <a:schemeClr val="accent1"/>
              </a:buClr>
              <a:buSzPct val="80000"/>
              <a:buFont typeface="Wingdings" panose="05000000000000000000" pitchFamily="2" charset="2"/>
              <a:buChar char="§"/>
            </a:pPr>
            <a:r>
              <a:rPr lang="en-US" sz="1600" dirty="0"/>
              <a:t>Dimensionality Reduction/Augmentation</a:t>
            </a:r>
            <a:endParaRPr lang="en-US" sz="1600" dirty="0"/>
          </a:p>
          <a:p>
            <a:pPr marL="800100" lvl="1" indent="-342900" algn="just" defTabSz="457200">
              <a:spcBef>
                <a:spcPts val="1000"/>
              </a:spcBef>
              <a:buClr>
                <a:schemeClr val="accent1"/>
              </a:buClr>
              <a:buSzPct val="80000"/>
              <a:buFont typeface="Wingdings" panose="05000000000000000000" pitchFamily="2" charset="2"/>
              <a:buChar char="§"/>
            </a:pPr>
            <a:r>
              <a:rPr lang="en-US" sz="1600" dirty="0"/>
              <a:t>Reduce computational load by reducing parameter map</a:t>
            </a:r>
            <a:endParaRPr lang="en-US" sz="1600" dirty="0"/>
          </a:p>
          <a:p>
            <a:pPr marL="800100" lvl="1" indent="-342900" algn="just" defTabSz="457200">
              <a:spcBef>
                <a:spcPts val="1000"/>
              </a:spcBef>
              <a:buClr>
                <a:schemeClr val="accent1"/>
              </a:buClr>
              <a:buSzPct val="80000"/>
              <a:buFont typeface="Wingdings" panose="05000000000000000000" pitchFamily="2" charset="2"/>
              <a:buChar char="§"/>
            </a:pPr>
            <a:r>
              <a:rPr lang="en-US" sz="1600" dirty="0"/>
              <a:t>Add additional non-linearity to the network</a:t>
            </a:r>
            <a:endParaRPr lang="en-US" sz="1600" dirty="0"/>
          </a:p>
          <a:p>
            <a:pPr marL="800100" lvl="1" indent="-342900" algn="just" defTabSz="457200">
              <a:spcBef>
                <a:spcPts val="1000"/>
              </a:spcBef>
              <a:buClr>
                <a:schemeClr val="accent1"/>
              </a:buClr>
              <a:buSzPct val="80000"/>
              <a:buFont typeface="Wingdings" panose="05000000000000000000" pitchFamily="2" charset="2"/>
              <a:buChar char="§"/>
            </a:pPr>
            <a:r>
              <a:rPr lang="en-US" sz="1600" dirty="0"/>
              <a:t>Create deeper network through “Bottle-Neck” layer</a:t>
            </a:r>
            <a:endParaRPr lang="en-US" sz="1600" dirty="0"/>
          </a:p>
          <a:p>
            <a:pPr marL="800100" lvl="1" indent="-342900" algn="just" defTabSz="457200">
              <a:spcBef>
                <a:spcPts val="1000"/>
              </a:spcBef>
              <a:buClr>
                <a:schemeClr val="accent1"/>
              </a:buClr>
              <a:buSzPct val="80000"/>
              <a:buFont typeface="Wingdings" panose="05000000000000000000" pitchFamily="2" charset="2"/>
              <a:buChar char="§"/>
            </a:pPr>
            <a:r>
              <a:rPr lang="en-US" sz="1600" dirty="0"/>
              <a:t>Create smaller CNN network which retains higher degree of accuracy</a:t>
            </a:r>
            <a:endParaRPr lang="en-US" sz="1600" dirty="0"/>
          </a:p>
        </p:txBody>
      </p:sp>
      <p:pic>
        <p:nvPicPr>
          <p:cNvPr id="7" name="Picture 6" descr="con1.png"/>
          <p:cNvPicPr/>
          <p:nvPr/>
        </p:nvPicPr>
        <p:blipFill>
          <a:blip r:embed="rId1"/>
          <a:stretch>
            <a:fillRect/>
          </a:stretch>
        </p:blipFill>
        <p:spPr>
          <a:xfrm>
            <a:off x="1868772" y="3380505"/>
            <a:ext cx="5791200" cy="3124200"/>
          </a:xfrm>
          <a:prstGeom prst="rect">
            <a:avLst/>
          </a:prstGeom>
        </p:spPr>
      </p:pic>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304800"/>
            <a:ext cx="10969943" cy="757238"/>
          </a:xfrm>
        </p:spPr>
        <p:txBody>
          <a:bodyPr/>
          <a:lstStyle/>
          <a:p>
            <a:r>
              <a:rPr lang="en-GB" sz="3600" dirty="0"/>
              <a:t>Implementation of CNN with </a:t>
            </a:r>
            <a:r>
              <a:rPr lang="en-GB" sz="3600" dirty="0" err="1"/>
              <a:t>TensorFlow</a:t>
            </a:r>
            <a:endParaRPr lang="en-GB" sz="36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9" name="Rectangle 3"/>
          <p:cNvSpPr txBox="1">
            <a:spLocks noChangeArrowheads="1"/>
          </p:cNvSpPr>
          <p:nvPr/>
        </p:nvSpPr>
        <p:spPr>
          <a:xfrm>
            <a:off x="303212" y="1143000"/>
            <a:ext cx="9218711" cy="5191126"/>
          </a:xfrm>
          <a:prstGeom prst="rect">
            <a:avLst/>
          </a:prstGeom>
        </p:spPr>
        <p:txBody>
          <a:bodyPr vert="horz" lIns="91440" tIns="45720" rIns="91440" bIns="45720" rtlCol="0">
            <a:normAutofit/>
          </a:bodyPr>
          <a:lstStyle/>
          <a:p>
            <a:pPr marL="342900" indent="-342900" defTabSz="457200">
              <a:spcBef>
                <a:spcPts val="1000"/>
              </a:spcBef>
              <a:buClr>
                <a:schemeClr val="accent1"/>
              </a:buClr>
              <a:buSzPct val="80000"/>
              <a:buFont typeface="Wingdings 3" charset="2"/>
              <a:buChar char=""/>
            </a:pPr>
            <a:r>
              <a:rPr lang="en-US" b="1" dirty="0">
                <a:solidFill>
                  <a:srgbClr val="0070C0"/>
                </a:solidFill>
              </a:rPr>
              <a:t>Step 1: Import </a:t>
            </a:r>
            <a:r>
              <a:rPr lang="en-US" b="1" dirty="0" err="1">
                <a:solidFill>
                  <a:srgbClr val="0070C0"/>
                </a:solidFill>
              </a:rPr>
              <a:t>TensorFlow</a:t>
            </a:r>
            <a:endParaRPr lang="en-US" b="1" dirty="0">
              <a:solidFill>
                <a:srgbClr val="0070C0"/>
              </a:solidFill>
            </a:endParaRPr>
          </a:p>
          <a:p>
            <a:pPr marL="800100" lvl="1" indent="-342900" defTabSz="457200">
              <a:spcBef>
                <a:spcPts val="1000"/>
              </a:spcBef>
              <a:buClr>
                <a:schemeClr val="accent1"/>
              </a:buClr>
              <a:buSzPct val="80000"/>
              <a:buFont typeface="Wingdings" panose="05000000000000000000" pitchFamily="2" charset="2"/>
              <a:buChar char="§"/>
            </a:pPr>
            <a:r>
              <a:rPr lang="en-US" dirty="0"/>
              <a:t>import </a:t>
            </a:r>
            <a:r>
              <a:rPr lang="en-US" dirty="0" err="1"/>
              <a:t>tensorflow</a:t>
            </a:r>
            <a:r>
              <a:rPr lang="en-US" dirty="0"/>
              <a:t> as </a:t>
            </a:r>
            <a:r>
              <a:rPr lang="en-US" dirty="0" err="1"/>
              <a:t>tf</a:t>
            </a:r>
            <a:br>
              <a:rPr lang="en-US" dirty="0"/>
            </a:br>
            <a:r>
              <a:rPr lang="en-US" dirty="0"/>
              <a:t>from </a:t>
            </a:r>
            <a:r>
              <a:rPr lang="en-US" dirty="0" err="1"/>
              <a:t>tensorflow.keras</a:t>
            </a:r>
            <a:r>
              <a:rPr lang="en-US" dirty="0"/>
              <a:t> import datasets, layers, models</a:t>
            </a:r>
            <a:br>
              <a:rPr lang="en-US" dirty="0"/>
            </a:br>
            <a:r>
              <a:rPr lang="en-US" dirty="0"/>
              <a:t>import </a:t>
            </a:r>
            <a:r>
              <a:rPr lang="en-US" dirty="0" err="1"/>
              <a:t>matplotlib.pyplot</a:t>
            </a:r>
            <a:r>
              <a:rPr lang="en-US" dirty="0"/>
              <a:t> as </a:t>
            </a:r>
            <a:r>
              <a:rPr lang="en-US" dirty="0" err="1"/>
              <a:t>plt</a:t>
            </a:r>
            <a:r>
              <a:rPr lang="en-US" dirty="0"/>
              <a:t>  </a:t>
            </a:r>
            <a:endParaRPr lang="en-US" dirty="0"/>
          </a:p>
          <a:p>
            <a:pPr marL="342900" indent="-342900" defTabSz="457200">
              <a:spcBef>
                <a:spcPts val="1000"/>
              </a:spcBef>
              <a:buClr>
                <a:schemeClr val="accent1"/>
              </a:buClr>
              <a:buSzPct val="80000"/>
              <a:buFont typeface="Wingdings 3" charset="2"/>
              <a:buChar char=""/>
            </a:pPr>
            <a:r>
              <a:rPr lang="en-US" b="1" dirty="0">
                <a:solidFill>
                  <a:srgbClr val="0070C0"/>
                </a:solidFill>
              </a:rPr>
              <a:t>Step 2: Download and prepare the CIFAR10 dataset</a:t>
            </a:r>
            <a:endParaRPr lang="en-US" b="1" dirty="0">
              <a:solidFill>
                <a:srgbClr val="0070C0"/>
              </a:solidFill>
            </a:endParaRPr>
          </a:p>
          <a:p>
            <a:pPr marL="800100" lvl="1" indent="-342900" algn="just" defTabSz="457200">
              <a:spcBef>
                <a:spcPts val="1000"/>
              </a:spcBef>
              <a:buClr>
                <a:schemeClr val="accent1"/>
              </a:buClr>
              <a:buSzPct val="80000"/>
              <a:buFont typeface="Wingdings" panose="05000000000000000000" pitchFamily="2" charset="2"/>
              <a:buChar char="§"/>
            </a:pPr>
            <a:r>
              <a:rPr lang="en-US" dirty="0"/>
              <a:t>The CIFAR10 dataset contains 60,000 color images in 10 classes, with 6,000 images in each class. The dataset is divided into 50,000 training images and 10,000 testing images. The classes are mutually exclusive and there is no overlap between them.</a:t>
            </a:r>
            <a:endParaRPr lang="en-US" dirty="0"/>
          </a:p>
          <a:p>
            <a:pPr marL="800100" lvl="1" indent="-342900" defTabSz="457200">
              <a:spcBef>
                <a:spcPts val="1000"/>
              </a:spcBef>
              <a:buClr>
                <a:schemeClr val="accent1"/>
              </a:buClr>
              <a:buSzPct val="80000"/>
              <a:buFont typeface="Wingdings" panose="05000000000000000000" pitchFamily="2" charset="2"/>
              <a:buChar char="§"/>
            </a:pPr>
            <a:r>
              <a:rPr lang="en-US" dirty="0"/>
              <a:t> (</a:t>
            </a:r>
            <a:r>
              <a:rPr lang="en-US" dirty="0" err="1"/>
              <a:t>train_images</a:t>
            </a:r>
            <a:r>
              <a:rPr lang="en-US" dirty="0"/>
              <a:t>, </a:t>
            </a:r>
            <a:r>
              <a:rPr lang="en-US" dirty="0" err="1"/>
              <a:t>train_labels</a:t>
            </a:r>
            <a:r>
              <a:rPr lang="en-US" dirty="0"/>
              <a:t>), (</a:t>
            </a:r>
            <a:r>
              <a:rPr lang="en-US" dirty="0" err="1"/>
              <a:t>test_images</a:t>
            </a:r>
            <a:r>
              <a:rPr lang="en-US" dirty="0"/>
              <a:t>, </a:t>
            </a:r>
            <a:r>
              <a:rPr lang="en-US" dirty="0" err="1"/>
              <a:t>test_labels</a:t>
            </a:r>
            <a:r>
              <a:rPr lang="en-US" dirty="0"/>
              <a:t>) = datasets.cifar10.load_data()</a:t>
            </a:r>
            <a:br>
              <a:rPr lang="en-US" dirty="0"/>
            </a:br>
            <a:br>
              <a:rPr lang="en-US" dirty="0"/>
            </a:br>
            <a:r>
              <a:rPr lang="en-US" dirty="0"/>
              <a:t># Normalize pixel values to be between 0 and 1</a:t>
            </a:r>
            <a:br>
              <a:rPr lang="en-US" dirty="0"/>
            </a:br>
            <a:r>
              <a:rPr lang="en-US" dirty="0" err="1"/>
              <a:t>train_images</a:t>
            </a:r>
            <a:r>
              <a:rPr lang="en-US" dirty="0"/>
              <a:t>, </a:t>
            </a:r>
            <a:r>
              <a:rPr lang="en-US" dirty="0" err="1"/>
              <a:t>test_images</a:t>
            </a:r>
            <a:r>
              <a:rPr lang="en-US" dirty="0"/>
              <a:t> = </a:t>
            </a:r>
            <a:r>
              <a:rPr lang="en-US" dirty="0" err="1"/>
              <a:t>train_images</a:t>
            </a:r>
            <a:r>
              <a:rPr lang="en-US" dirty="0"/>
              <a:t> / 255.0, </a:t>
            </a:r>
            <a:r>
              <a:rPr lang="en-US" dirty="0" err="1"/>
              <a:t>test_images</a:t>
            </a:r>
            <a:r>
              <a:rPr lang="en-US" dirty="0"/>
              <a:t> / 255.0</a:t>
            </a:r>
            <a:endParaRPr lang="en-US"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304800"/>
            <a:ext cx="10969943" cy="757238"/>
          </a:xfrm>
        </p:spPr>
        <p:txBody>
          <a:bodyPr/>
          <a:lstStyle/>
          <a:p>
            <a:r>
              <a:rPr lang="en-GB" sz="3600" dirty="0"/>
              <a:t>Implementation of CNN with </a:t>
            </a:r>
            <a:r>
              <a:rPr lang="en-GB" sz="3600" dirty="0" err="1"/>
              <a:t>TensorFlow</a:t>
            </a:r>
            <a:endParaRPr lang="en-GB" sz="36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9" name="Rectangle 3"/>
          <p:cNvSpPr txBox="1">
            <a:spLocks noChangeArrowheads="1"/>
          </p:cNvSpPr>
          <p:nvPr/>
        </p:nvSpPr>
        <p:spPr>
          <a:xfrm>
            <a:off x="303212" y="990595"/>
            <a:ext cx="9218711" cy="5191126"/>
          </a:xfrm>
          <a:prstGeom prst="rect">
            <a:avLst/>
          </a:prstGeom>
        </p:spPr>
        <p:txBody>
          <a:bodyPr vert="horz" lIns="91440" tIns="45720" rIns="91440" bIns="45720" rtlCol="0">
            <a:noAutofit/>
          </a:bodyPr>
          <a:lstStyle/>
          <a:p>
            <a:pPr marL="342900" indent="-342900" defTabSz="457200">
              <a:spcBef>
                <a:spcPts val="1000"/>
              </a:spcBef>
              <a:buClr>
                <a:schemeClr val="accent1"/>
              </a:buClr>
              <a:buSzPct val="80000"/>
              <a:buFont typeface="Wingdings 3" charset="2"/>
              <a:buChar char=""/>
            </a:pPr>
            <a:r>
              <a:rPr lang="en-US" sz="1600" b="1" dirty="0">
                <a:solidFill>
                  <a:srgbClr val="0070C0"/>
                </a:solidFill>
              </a:rPr>
              <a:t>Step 3: Verify the data</a:t>
            </a:r>
            <a:endParaRPr lang="en-US" sz="1600" b="1" dirty="0">
              <a:solidFill>
                <a:srgbClr val="0070C0"/>
              </a:solidFill>
            </a:endParaRPr>
          </a:p>
          <a:p>
            <a:pPr marL="800100" lvl="1" indent="-342900" defTabSz="457200">
              <a:spcBef>
                <a:spcPts val="1000"/>
              </a:spcBef>
              <a:buClr>
                <a:schemeClr val="accent1"/>
              </a:buClr>
              <a:buSzPct val="80000"/>
              <a:buFont typeface="Wingdings" panose="05000000000000000000" pitchFamily="2" charset="2"/>
              <a:buChar char="§"/>
            </a:pPr>
            <a:r>
              <a:rPr lang="en-US" sz="1600" dirty="0" err="1"/>
              <a:t>class_names</a:t>
            </a:r>
            <a:r>
              <a:rPr lang="en-US" sz="1600" dirty="0"/>
              <a:t> = ['airplane', 'automobile', 'bird', 'cat', 'deer',</a:t>
            </a:r>
            <a:br>
              <a:rPr lang="en-US" sz="1600" dirty="0"/>
            </a:br>
            <a:r>
              <a:rPr lang="en-US" sz="1600" dirty="0"/>
              <a:t>               'dog', 'frog', 'horse', 'ship', 'truck']</a:t>
            </a:r>
            <a:br>
              <a:rPr lang="en-US" sz="1600" dirty="0"/>
            </a:br>
            <a:br>
              <a:rPr lang="en-US" sz="1600" dirty="0"/>
            </a:br>
            <a:r>
              <a:rPr lang="en-US" sz="1600" dirty="0" err="1"/>
              <a:t>plt.figure</a:t>
            </a:r>
            <a:r>
              <a:rPr lang="en-US" sz="1600" dirty="0"/>
              <a:t>(</a:t>
            </a:r>
            <a:r>
              <a:rPr lang="en-US" sz="1600" dirty="0" err="1"/>
              <a:t>figsize</a:t>
            </a:r>
            <a:r>
              <a:rPr lang="en-US" sz="1600" dirty="0"/>
              <a:t>=(10,10))</a:t>
            </a:r>
            <a:br>
              <a:rPr lang="en-US" sz="1600" dirty="0"/>
            </a:br>
            <a:r>
              <a:rPr lang="en-US" sz="1600" dirty="0"/>
              <a:t>for </a:t>
            </a:r>
            <a:r>
              <a:rPr lang="en-US" sz="1600" dirty="0" err="1"/>
              <a:t>i</a:t>
            </a:r>
            <a:r>
              <a:rPr lang="en-US" sz="1600" dirty="0"/>
              <a:t> in range(25):</a:t>
            </a:r>
            <a:br>
              <a:rPr lang="en-US" sz="1600" dirty="0"/>
            </a:br>
            <a:r>
              <a:rPr lang="en-US" sz="1600" dirty="0"/>
              <a:t>    </a:t>
            </a:r>
            <a:r>
              <a:rPr lang="en-US" sz="1600" dirty="0" err="1"/>
              <a:t>plt.subplot</a:t>
            </a:r>
            <a:r>
              <a:rPr lang="en-US" sz="1600" dirty="0"/>
              <a:t>(5,5,i+1)</a:t>
            </a:r>
            <a:br>
              <a:rPr lang="en-US" sz="1600" dirty="0"/>
            </a:br>
            <a:r>
              <a:rPr lang="en-US" sz="1600" dirty="0"/>
              <a:t>    </a:t>
            </a:r>
            <a:r>
              <a:rPr lang="en-US" sz="1600" dirty="0" err="1"/>
              <a:t>plt.xticks</a:t>
            </a:r>
            <a:r>
              <a:rPr lang="en-US" sz="1600" dirty="0"/>
              <a:t>([])</a:t>
            </a:r>
            <a:br>
              <a:rPr lang="en-US" sz="1600" dirty="0"/>
            </a:br>
            <a:r>
              <a:rPr lang="en-US" sz="1600" dirty="0"/>
              <a:t>    </a:t>
            </a:r>
            <a:r>
              <a:rPr lang="en-US" sz="1600" dirty="0" err="1"/>
              <a:t>plt.yticks</a:t>
            </a:r>
            <a:r>
              <a:rPr lang="en-US" sz="1600" dirty="0"/>
              <a:t>([])</a:t>
            </a:r>
            <a:br>
              <a:rPr lang="en-US" sz="1600" dirty="0"/>
            </a:br>
            <a:r>
              <a:rPr lang="en-US" sz="1600" dirty="0"/>
              <a:t>    </a:t>
            </a:r>
            <a:r>
              <a:rPr lang="en-US" sz="1600" dirty="0" err="1"/>
              <a:t>plt.grid</a:t>
            </a:r>
            <a:r>
              <a:rPr lang="en-US" sz="1600" dirty="0"/>
              <a:t>(False)</a:t>
            </a:r>
            <a:br>
              <a:rPr lang="en-US" sz="1600" dirty="0"/>
            </a:br>
            <a:r>
              <a:rPr lang="en-US" sz="1600" dirty="0"/>
              <a:t>    </a:t>
            </a:r>
            <a:r>
              <a:rPr lang="en-US" sz="1600" dirty="0" err="1"/>
              <a:t>plt.imshow</a:t>
            </a:r>
            <a:r>
              <a:rPr lang="en-US" sz="1600" dirty="0"/>
              <a:t>(</a:t>
            </a:r>
            <a:r>
              <a:rPr lang="en-US" sz="1600" dirty="0" err="1"/>
              <a:t>train_images</a:t>
            </a:r>
            <a:r>
              <a:rPr lang="en-US" sz="1600" dirty="0"/>
              <a:t>[</a:t>
            </a:r>
            <a:r>
              <a:rPr lang="en-US" sz="1600" dirty="0" err="1"/>
              <a:t>i</a:t>
            </a:r>
            <a:r>
              <a:rPr lang="en-US" sz="1600" dirty="0"/>
              <a:t>], </a:t>
            </a:r>
            <a:r>
              <a:rPr lang="en-US" sz="1600" dirty="0" err="1"/>
              <a:t>cmap</a:t>
            </a:r>
            <a:r>
              <a:rPr lang="en-US" sz="1600" dirty="0"/>
              <a:t>=</a:t>
            </a:r>
            <a:r>
              <a:rPr lang="en-US" sz="1600" dirty="0" err="1"/>
              <a:t>plt.cm.binary</a:t>
            </a:r>
            <a:r>
              <a:rPr lang="en-US" sz="1600" dirty="0"/>
              <a:t>)</a:t>
            </a:r>
            <a:br>
              <a:rPr lang="en-US" sz="1600" dirty="0"/>
            </a:br>
            <a:r>
              <a:rPr lang="en-US" sz="1600" dirty="0"/>
              <a:t>    # The CIFAR labels happen to be arrays, </a:t>
            </a:r>
            <a:br>
              <a:rPr lang="en-US" sz="1600" dirty="0"/>
            </a:br>
            <a:r>
              <a:rPr lang="en-US" sz="1600" dirty="0"/>
              <a:t>    # which is why you need the extra index</a:t>
            </a:r>
            <a:br>
              <a:rPr lang="en-US" sz="1600" dirty="0"/>
            </a:br>
            <a:r>
              <a:rPr lang="en-US" sz="1600" dirty="0"/>
              <a:t>    </a:t>
            </a:r>
            <a:r>
              <a:rPr lang="en-US" sz="1600" dirty="0" err="1"/>
              <a:t>plt.xlabel</a:t>
            </a:r>
            <a:r>
              <a:rPr lang="en-US" sz="1600" dirty="0"/>
              <a:t>(</a:t>
            </a:r>
            <a:r>
              <a:rPr lang="en-US" sz="1600" dirty="0" err="1"/>
              <a:t>class_names</a:t>
            </a:r>
            <a:r>
              <a:rPr lang="en-US" sz="1600" dirty="0"/>
              <a:t>[</a:t>
            </a:r>
            <a:r>
              <a:rPr lang="en-US" sz="1600" dirty="0" err="1"/>
              <a:t>train_labels</a:t>
            </a:r>
            <a:r>
              <a:rPr lang="en-US" sz="1600" dirty="0"/>
              <a:t>[</a:t>
            </a:r>
            <a:r>
              <a:rPr lang="en-US" sz="1600" dirty="0" err="1"/>
              <a:t>i</a:t>
            </a:r>
            <a:r>
              <a:rPr lang="en-US" sz="1600" dirty="0"/>
              <a:t>][0]])</a:t>
            </a:r>
            <a:br>
              <a:rPr lang="en-US" sz="1600" dirty="0"/>
            </a:br>
            <a:r>
              <a:rPr lang="en-US" sz="1600" dirty="0" err="1"/>
              <a:t>plt.show</a:t>
            </a:r>
            <a:r>
              <a:rPr lang="en-US" sz="1600" dirty="0"/>
              <a:t>()  </a:t>
            </a:r>
            <a:endParaRPr lang="en-US" sz="1600" dirty="0"/>
          </a:p>
          <a:p>
            <a:pPr marL="342900" indent="-342900" defTabSz="457200">
              <a:spcBef>
                <a:spcPts val="1000"/>
              </a:spcBef>
              <a:buClr>
                <a:schemeClr val="accent1"/>
              </a:buClr>
              <a:buSzPct val="80000"/>
              <a:buFont typeface="Wingdings 3" charset="2"/>
              <a:buChar char=""/>
            </a:pPr>
            <a:r>
              <a:rPr lang="en-US" sz="1600" b="1" dirty="0">
                <a:solidFill>
                  <a:srgbClr val="0070C0"/>
                </a:solidFill>
              </a:rPr>
              <a:t>Step 4: Create the </a:t>
            </a:r>
            <a:r>
              <a:rPr lang="en-US" sz="1600" b="1" dirty="0" err="1">
                <a:solidFill>
                  <a:srgbClr val="0070C0"/>
                </a:solidFill>
              </a:rPr>
              <a:t>convolutional</a:t>
            </a:r>
            <a:r>
              <a:rPr lang="en-US" sz="1600" b="1" dirty="0">
                <a:solidFill>
                  <a:srgbClr val="0070C0"/>
                </a:solidFill>
              </a:rPr>
              <a:t> base</a:t>
            </a:r>
            <a:endParaRPr lang="en-US" sz="1600" b="1" dirty="0">
              <a:solidFill>
                <a:srgbClr val="0070C0"/>
              </a:solidFill>
            </a:endParaRPr>
          </a:p>
          <a:p>
            <a:pPr marL="800100" lvl="1" indent="-342900" defTabSz="457200">
              <a:spcBef>
                <a:spcPts val="1000"/>
              </a:spcBef>
              <a:buClr>
                <a:schemeClr val="accent1"/>
              </a:buClr>
              <a:buSzPct val="80000"/>
              <a:buFont typeface="Wingdings" panose="05000000000000000000" pitchFamily="2" charset="2"/>
              <a:buChar char="§"/>
            </a:pPr>
            <a:r>
              <a:rPr lang="en-US" sz="1600" dirty="0"/>
              <a:t>model = </a:t>
            </a:r>
            <a:r>
              <a:rPr lang="en-US" sz="1600" dirty="0" err="1"/>
              <a:t>models.Sequential</a:t>
            </a:r>
            <a:r>
              <a:rPr lang="en-US" sz="1600" dirty="0"/>
              <a:t>()</a:t>
            </a:r>
            <a:br>
              <a:rPr lang="en-US" sz="1600" dirty="0"/>
            </a:br>
            <a:r>
              <a:rPr lang="en-US" sz="1600" dirty="0" err="1"/>
              <a:t>model.add</a:t>
            </a:r>
            <a:r>
              <a:rPr lang="en-US" sz="1600" dirty="0"/>
              <a:t>(layers.Conv2D(32, (3, 3), activation='</a:t>
            </a:r>
            <a:r>
              <a:rPr lang="en-US" sz="1600" dirty="0" err="1"/>
              <a:t>relu</a:t>
            </a:r>
            <a:r>
              <a:rPr lang="en-US" sz="1600" dirty="0"/>
              <a:t>', </a:t>
            </a:r>
            <a:r>
              <a:rPr lang="en-US" sz="1600" dirty="0" err="1"/>
              <a:t>input_shape</a:t>
            </a:r>
            <a:r>
              <a:rPr lang="en-US" sz="1600" dirty="0"/>
              <a:t>=(32, 32, 3)))</a:t>
            </a:r>
            <a:br>
              <a:rPr lang="en-US" sz="1600" dirty="0"/>
            </a:br>
            <a:r>
              <a:rPr lang="en-US" sz="1600" dirty="0" err="1"/>
              <a:t>model.add</a:t>
            </a:r>
            <a:r>
              <a:rPr lang="en-US" sz="1600" dirty="0"/>
              <a:t>(layers.MaxPooling2D((2, 2)))</a:t>
            </a:r>
            <a:br>
              <a:rPr lang="en-US" sz="1600" dirty="0"/>
            </a:br>
            <a:r>
              <a:rPr lang="en-US" sz="1600" dirty="0" err="1"/>
              <a:t>model.add</a:t>
            </a:r>
            <a:r>
              <a:rPr lang="en-US" sz="1600" dirty="0"/>
              <a:t>(layers.Conv2D(64, (3, 3), activation='</a:t>
            </a:r>
            <a:r>
              <a:rPr lang="en-US" sz="1600" dirty="0" err="1"/>
              <a:t>relu</a:t>
            </a:r>
            <a:r>
              <a:rPr lang="en-US" sz="1600" dirty="0"/>
              <a:t>'))</a:t>
            </a:r>
            <a:br>
              <a:rPr lang="en-US" sz="1600" dirty="0"/>
            </a:br>
            <a:r>
              <a:rPr lang="en-US" sz="1600" dirty="0" err="1"/>
              <a:t>model.add</a:t>
            </a:r>
            <a:r>
              <a:rPr lang="en-US" sz="1600" dirty="0"/>
              <a:t>(layers.MaxPooling2D((2, 2)))</a:t>
            </a:r>
            <a:br>
              <a:rPr lang="en-US" sz="1600" dirty="0"/>
            </a:br>
            <a:r>
              <a:rPr lang="en-US" sz="1600" dirty="0" err="1"/>
              <a:t>model.add</a:t>
            </a:r>
            <a:r>
              <a:rPr lang="en-US" sz="1600" dirty="0"/>
              <a:t>(layers.Conv2D(64, (3, 3), activation='</a:t>
            </a:r>
            <a:r>
              <a:rPr lang="en-US" sz="1600" dirty="0" err="1"/>
              <a:t>relu</a:t>
            </a:r>
            <a:r>
              <a:rPr lang="en-US" sz="1600" dirty="0"/>
              <a:t>')) </a:t>
            </a:r>
            <a:endParaRPr lang="en-US" sz="160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304800"/>
            <a:ext cx="10969943" cy="757238"/>
          </a:xfrm>
        </p:spPr>
        <p:txBody>
          <a:bodyPr/>
          <a:lstStyle/>
          <a:p>
            <a:r>
              <a:rPr lang="en-GB" sz="3600" dirty="0"/>
              <a:t>Implementation of CNN with </a:t>
            </a:r>
            <a:r>
              <a:rPr lang="en-GB" sz="3600" dirty="0" err="1"/>
              <a:t>TensorFlow</a:t>
            </a:r>
            <a:endParaRPr lang="en-GB" sz="36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9" name="Rectangle 3"/>
          <p:cNvSpPr txBox="1">
            <a:spLocks noChangeArrowheads="1"/>
          </p:cNvSpPr>
          <p:nvPr/>
        </p:nvSpPr>
        <p:spPr>
          <a:xfrm>
            <a:off x="303212" y="1143000"/>
            <a:ext cx="9218711" cy="5191126"/>
          </a:xfrm>
          <a:prstGeom prst="rect">
            <a:avLst/>
          </a:prstGeom>
        </p:spPr>
        <p:txBody>
          <a:bodyPr vert="horz" lIns="91440" tIns="45720" rIns="91440" bIns="45720" rtlCol="0">
            <a:normAutofit lnSpcReduction="10000"/>
          </a:bodyPr>
          <a:lstStyle/>
          <a:p>
            <a:pPr marL="342900" indent="-342900" defTabSz="457200">
              <a:spcBef>
                <a:spcPts val="1000"/>
              </a:spcBef>
              <a:buClr>
                <a:schemeClr val="accent1"/>
              </a:buClr>
              <a:buSzPct val="80000"/>
              <a:buFont typeface="Wingdings 3" charset="2"/>
              <a:buChar char=""/>
            </a:pPr>
            <a:r>
              <a:rPr lang="en-US" sz="2000" dirty="0">
                <a:solidFill>
                  <a:srgbClr val="0070C0"/>
                </a:solidFill>
              </a:rPr>
              <a:t>Step 5: Compile and train the model</a:t>
            </a:r>
            <a:endParaRPr lang="en-US" sz="2000" dirty="0">
              <a:solidFill>
                <a:srgbClr val="0070C0"/>
              </a:solidFill>
            </a:endParaRPr>
          </a:p>
          <a:p>
            <a:pPr marL="800100" lvl="1" indent="-342900" defTabSz="457200">
              <a:spcBef>
                <a:spcPts val="1000"/>
              </a:spcBef>
              <a:buClr>
                <a:schemeClr val="accent1"/>
              </a:buClr>
              <a:buSzPct val="80000"/>
              <a:buFont typeface="Wingdings" panose="05000000000000000000" pitchFamily="2" charset="2"/>
              <a:buChar char="§"/>
            </a:pPr>
            <a:r>
              <a:rPr lang="en-US" sz="2000" dirty="0" err="1"/>
              <a:t>model.compile</a:t>
            </a:r>
            <a:r>
              <a:rPr lang="en-US" sz="2000" dirty="0"/>
              <a:t>(optimizer='</a:t>
            </a:r>
            <a:r>
              <a:rPr lang="en-US" sz="2000" dirty="0" err="1"/>
              <a:t>adam</a:t>
            </a:r>
            <a:r>
              <a:rPr lang="en-US" sz="2000" dirty="0"/>
              <a:t>', loss=</a:t>
            </a:r>
            <a:r>
              <a:rPr lang="en-US" sz="2000" dirty="0" err="1"/>
              <a:t>tf.keras.losses.SparseCategoricalCrossentropy</a:t>
            </a:r>
            <a:r>
              <a:rPr lang="en-US" sz="2000" dirty="0"/>
              <a:t>(</a:t>
            </a:r>
            <a:r>
              <a:rPr lang="en-US" sz="2000" dirty="0" err="1"/>
              <a:t>from_logits</a:t>
            </a:r>
            <a:r>
              <a:rPr lang="en-US" sz="2000" dirty="0"/>
              <a:t>=True),metrics=['accuracy'])</a:t>
            </a:r>
            <a:br>
              <a:rPr lang="en-US" sz="2000" dirty="0"/>
            </a:br>
            <a:br>
              <a:rPr lang="en-US" sz="2000" dirty="0"/>
            </a:br>
            <a:r>
              <a:rPr lang="en-US" sz="2000" dirty="0"/>
              <a:t>history = model.fit(</a:t>
            </a:r>
            <a:r>
              <a:rPr lang="en-US" sz="2000" dirty="0" err="1"/>
              <a:t>train_images</a:t>
            </a:r>
            <a:r>
              <a:rPr lang="en-US" sz="2000" dirty="0"/>
              <a:t>, </a:t>
            </a:r>
            <a:r>
              <a:rPr lang="en-US" sz="2000" dirty="0" err="1"/>
              <a:t>train_labels</a:t>
            </a:r>
            <a:r>
              <a:rPr lang="en-US" sz="2000" dirty="0"/>
              <a:t>, epochs=10, </a:t>
            </a:r>
            <a:r>
              <a:rPr lang="en-US" sz="2000" dirty="0" err="1"/>
              <a:t>validation_data</a:t>
            </a:r>
            <a:r>
              <a:rPr lang="en-US" sz="2000" dirty="0"/>
              <a:t>=(</a:t>
            </a:r>
            <a:r>
              <a:rPr lang="en-US" sz="2000" dirty="0" err="1"/>
              <a:t>test_images</a:t>
            </a:r>
            <a:r>
              <a:rPr lang="en-US" sz="2000" dirty="0"/>
              <a:t>, </a:t>
            </a:r>
            <a:r>
              <a:rPr lang="en-US" sz="2000" dirty="0" err="1"/>
              <a:t>test_labels</a:t>
            </a:r>
            <a:r>
              <a:rPr lang="en-US" sz="2000" dirty="0"/>
              <a:t>))  </a:t>
            </a:r>
            <a:endParaRPr lang="en-US" sz="2000" dirty="0"/>
          </a:p>
          <a:p>
            <a:pPr marL="342900" indent="-342900" defTabSz="457200">
              <a:spcBef>
                <a:spcPts val="1000"/>
              </a:spcBef>
              <a:buClr>
                <a:schemeClr val="accent1"/>
              </a:buClr>
              <a:buSzPct val="80000"/>
              <a:buFont typeface="Wingdings 3" charset="2"/>
              <a:buChar char=""/>
            </a:pPr>
            <a:r>
              <a:rPr lang="en-US" sz="2000" dirty="0">
                <a:solidFill>
                  <a:srgbClr val="0070C0"/>
                </a:solidFill>
              </a:rPr>
              <a:t>Step 6: Evaluate the model</a:t>
            </a:r>
            <a:endParaRPr lang="en-US" sz="2000" dirty="0">
              <a:solidFill>
                <a:srgbClr val="0070C0"/>
              </a:solidFill>
            </a:endParaRPr>
          </a:p>
          <a:p>
            <a:pPr marL="800100" lvl="1" indent="-342900" defTabSz="457200">
              <a:spcBef>
                <a:spcPts val="1000"/>
              </a:spcBef>
              <a:buClr>
                <a:schemeClr val="accent1"/>
              </a:buClr>
              <a:buSzPct val="80000"/>
              <a:buFont typeface="Wingdings" panose="05000000000000000000" pitchFamily="2" charset="2"/>
              <a:buChar char="§"/>
            </a:pPr>
            <a:r>
              <a:rPr lang="en-US" sz="2000" dirty="0" err="1"/>
              <a:t>plt.plot</a:t>
            </a:r>
            <a:r>
              <a:rPr lang="en-US" sz="2000" dirty="0"/>
              <a:t>(</a:t>
            </a:r>
            <a:r>
              <a:rPr lang="en-US" sz="2000" dirty="0" err="1"/>
              <a:t>history.history</a:t>
            </a:r>
            <a:r>
              <a:rPr lang="en-US" sz="2000" dirty="0"/>
              <a:t>['accuracy'], label='accuracy')</a:t>
            </a:r>
            <a:br>
              <a:rPr lang="en-US" sz="2000" dirty="0"/>
            </a:br>
            <a:r>
              <a:rPr lang="en-US" sz="2000" dirty="0" err="1"/>
              <a:t>plt.plot</a:t>
            </a:r>
            <a:r>
              <a:rPr lang="en-US" sz="2000" dirty="0"/>
              <a:t>(</a:t>
            </a:r>
            <a:r>
              <a:rPr lang="en-US" sz="2000" dirty="0" err="1"/>
              <a:t>history.history</a:t>
            </a:r>
            <a:r>
              <a:rPr lang="en-US" sz="2000" dirty="0"/>
              <a:t>['</a:t>
            </a:r>
            <a:r>
              <a:rPr lang="en-US" sz="2000" dirty="0" err="1"/>
              <a:t>val_accuracy</a:t>
            </a:r>
            <a:r>
              <a:rPr lang="en-US" sz="2000" dirty="0"/>
              <a:t>'], label = '</a:t>
            </a:r>
            <a:r>
              <a:rPr lang="en-US" sz="2000" dirty="0" err="1"/>
              <a:t>val_accuracy</a:t>
            </a:r>
            <a:r>
              <a:rPr lang="en-US" sz="2000" dirty="0"/>
              <a:t>')</a:t>
            </a:r>
            <a:br>
              <a:rPr lang="en-US" sz="2000" dirty="0"/>
            </a:br>
            <a:r>
              <a:rPr lang="en-US" sz="2000" dirty="0" err="1"/>
              <a:t>plt.xlabel</a:t>
            </a:r>
            <a:r>
              <a:rPr lang="en-US" sz="2000" dirty="0"/>
              <a:t>('Epoch')</a:t>
            </a:r>
            <a:br>
              <a:rPr lang="en-US" sz="2000" dirty="0"/>
            </a:br>
            <a:r>
              <a:rPr lang="en-US" sz="2000" dirty="0" err="1"/>
              <a:t>plt.ylabel</a:t>
            </a:r>
            <a:r>
              <a:rPr lang="en-US" sz="2000" dirty="0"/>
              <a:t>('Accuracy')</a:t>
            </a:r>
            <a:br>
              <a:rPr lang="en-US" sz="2000" dirty="0"/>
            </a:br>
            <a:r>
              <a:rPr lang="en-US" sz="2000" dirty="0" err="1"/>
              <a:t>plt.ylim</a:t>
            </a:r>
            <a:r>
              <a:rPr lang="en-US" sz="2000" dirty="0"/>
              <a:t>([0.5, 1])</a:t>
            </a:r>
            <a:br>
              <a:rPr lang="en-US" sz="2000" dirty="0"/>
            </a:br>
            <a:r>
              <a:rPr lang="en-US" sz="2000" dirty="0" err="1"/>
              <a:t>plt.legend</a:t>
            </a:r>
            <a:r>
              <a:rPr lang="en-US" sz="2000" dirty="0"/>
              <a:t>(loc='lower right')</a:t>
            </a:r>
            <a:br>
              <a:rPr lang="en-US" sz="2000" dirty="0"/>
            </a:br>
            <a:br>
              <a:rPr lang="en-US" sz="2000" dirty="0"/>
            </a:br>
            <a:r>
              <a:rPr lang="en-US" sz="2000" dirty="0" err="1"/>
              <a:t>test_loss</a:t>
            </a:r>
            <a:r>
              <a:rPr lang="en-US" sz="2000" dirty="0"/>
              <a:t>, </a:t>
            </a:r>
            <a:r>
              <a:rPr lang="en-US" sz="2000" dirty="0" err="1"/>
              <a:t>test_acc</a:t>
            </a:r>
            <a:r>
              <a:rPr lang="en-US" sz="2000" dirty="0"/>
              <a:t> = </a:t>
            </a:r>
            <a:r>
              <a:rPr lang="en-US" sz="2000" dirty="0" err="1"/>
              <a:t>model.evaluate</a:t>
            </a:r>
            <a:r>
              <a:rPr lang="en-US" sz="2000" dirty="0"/>
              <a:t>(</a:t>
            </a:r>
            <a:r>
              <a:rPr lang="en-US" sz="2000" dirty="0" err="1"/>
              <a:t>test_images</a:t>
            </a:r>
            <a:r>
              <a:rPr lang="en-US" sz="2000" dirty="0"/>
              <a:t>,  </a:t>
            </a:r>
            <a:r>
              <a:rPr lang="en-US" sz="2000" dirty="0" err="1"/>
              <a:t>test_labels</a:t>
            </a:r>
            <a:r>
              <a:rPr lang="en-US" sz="2000" dirty="0"/>
              <a:t>, verbose=2)</a:t>
            </a:r>
            <a:endParaRPr lang="en-US" sz="20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304800"/>
            <a:ext cx="10969943" cy="757238"/>
          </a:xfrm>
        </p:spPr>
        <p:txBody>
          <a:bodyPr/>
          <a:lstStyle/>
          <a:p>
            <a:r>
              <a:rPr lang="en-GB" sz="3600" dirty="0"/>
              <a:t>Implementation of CNN with </a:t>
            </a:r>
            <a:r>
              <a:rPr lang="en-GB" sz="3600" dirty="0" err="1"/>
              <a:t>Keras</a:t>
            </a:r>
            <a:endParaRPr lang="en-GB" sz="36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9" name="Rectangle 3"/>
          <p:cNvSpPr txBox="1">
            <a:spLocks noChangeArrowheads="1"/>
          </p:cNvSpPr>
          <p:nvPr/>
        </p:nvSpPr>
        <p:spPr>
          <a:xfrm>
            <a:off x="303212" y="1143000"/>
            <a:ext cx="9218711" cy="5562600"/>
          </a:xfrm>
          <a:prstGeom prst="rect">
            <a:avLst/>
          </a:prstGeom>
        </p:spPr>
        <p:txBody>
          <a:bodyPr vert="horz" lIns="91440" tIns="45720" rIns="91440" bIns="45720" rtlCol="0">
            <a:noAutofit/>
          </a:bodyPr>
          <a:lstStyle/>
          <a:p>
            <a:pPr marL="342900" indent="-342900" defTabSz="457200">
              <a:spcBef>
                <a:spcPts val="1000"/>
              </a:spcBef>
              <a:buClr>
                <a:schemeClr val="accent1"/>
              </a:buClr>
              <a:buSzPct val="80000"/>
              <a:buFont typeface="Wingdings 3" charset="2"/>
              <a:buChar char=""/>
            </a:pPr>
            <a:r>
              <a:rPr lang="en-US" sz="1600" b="1" dirty="0">
                <a:solidFill>
                  <a:srgbClr val="0070C0"/>
                </a:solidFill>
              </a:rPr>
              <a:t>Step 1: Create a model</a:t>
            </a:r>
            <a:endParaRPr lang="en-US" sz="1600" b="1" dirty="0">
              <a:solidFill>
                <a:srgbClr val="0070C0"/>
              </a:solidFill>
            </a:endParaRPr>
          </a:p>
          <a:p>
            <a:pPr marL="342900" indent="-342900" defTabSz="457200">
              <a:spcBef>
                <a:spcPts val="1000"/>
              </a:spcBef>
              <a:buClr>
                <a:schemeClr val="accent1"/>
              </a:buClr>
              <a:buSzPct val="80000"/>
              <a:buFont typeface="Wingdings 3" charset="2"/>
              <a:buChar char=""/>
            </a:pPr>
            <a:r>
              <a:rPr lang="en-US" sz="1600" dirty="0" err="1"/>
              <a:t>Keras</a:t>
            </a:r>
            <a:r>
              <a:rPr lang="en-US" sz="1600" dirty="0"/>
              <a:t> first creates a new instance of a model object and then add layers to it one after another. It is called a sequential model API. </a:t>
            </a:r>
            <a:endParaRPr lang="en-US" sz="1600" dirty="0"/>
          </a:p>
          <a:p>
            <a:pPr marL="342900" indent="-342900" defTabSz="457200">
              <a:spcBef>
                <a:spcPts val="1000"/>
              </a:spcBef>
              <a:buClr>
                <a:schemeClr val="accent1"/>
              </a:buClr>
              <a:buSzPct val="80000"/>
              <a:buFont typeface="Wingdings 3" charset="2"/>
              <a:buChar char=""/>
            </a:pPr>
            <a:r>
              <a:rPr lang="en-US" sz="1600" dirty="0"/>
              <a:t># Importing the required </a:t>
            </a:r>
            <a:r>
              <a:rPr lang="en-US" sz="1600" dirty="0" err="1"/>
              <a:t>Keras</a:t>
            </a:r>
            <a:r>
              <a:rPr lang="en-US" sz="1600" dirty="0"/>
              <a:t> modules containing model and layers</a:t>
            </a:r>
            <a:endParaRPr lang="en-US" sz="1600" dirty="0"/>
          </a:p>
          <a:p>
            <a:pPr marL="342900" indent="-342900" defTabSz="457200">
              <a:spcBef>
                <a:spcPts val="1000"/>
              </a:spcBef>
              <a:buClr>
                <a:schemeClr val="accent1"/>
              </a:buClr>
              <a:buSzPct val="80000"/>
              <a:buFont typeface="Wingdings 3" charset="2"/>
              <a:buChar char=""/>
            </a:pPr>
            <a:r>
              <a:rPr lang="en-US" sz="1600" dirty="0"/>
              <a:t>from </a:t>
            </a:r>
            <a:r>
              <a:rPr lang="en-US" sz="1600" dirty="0" err="1"/>
              <a:t>keras.models</a:t>
            </a:r>
            <a:r>
              <a:rPr lang="en-US" sz="1600" dirty="0"/>
              <a:t> import Sequential</a:t>
            </a:r>
            <a:br>
              <a:rPr lang="en-US" sz="1600" dirty="0"/>
            </a:br>
            <a:r>
              <a:rPr lang="en-US" sz="1600" dirty="0"/>
              <a:t>from </a:t>
            </a:r>
            <a:r>
              <a:rPr lang="en-US" sz="1600" dirty="0" err="1"/>
              <a:t>keras.layers</a:t>
            </a:r>
            <a:r>
              <a:rPr lang="en-US" sz="1600" dirty="0"/>
              <a:t> import Dense, Conv2D, Dropout, Flatten, MaxPooling2D </a:t>
            </a:r>
            <a:endParaRPr lang="en-US" sz="1600" dirty="0"/>
          </a:p>
          <a:p>
            <a:pPr marL="342900" indent="-342900" defTabSz="457200">
              <a:spcBef>
                <a:spcPts val="1000"/>
              </a:spcBef>
              <a:buClr>
                <a:schemeClr val="accent1"/>
              </a:buClr>
              <a:buSzPct val="80000"/>
              <a:buFont typeface="Wingdings 3" charset="2"/>
              <a:buChar char=""/>
            </a:pPr>
            <a:r>
              <a:rPr lang="en-US" sz="1600" dirty="0"/>
              <a:t># Creating a Sequential Model and adding the layers</a:t>
            </a:r>
            <a:endParaRPr lang="en-US" sz="1600" dirty="0"/>
          </a:p>
          <a:p>
            <a:pPr marL="342900" indent="-342900" defTabSz="457200">
              <a:spcBef>
                <a:spcPts val="1000"/>
              </a:spcBef>
              <a:buClr>
                <a:schemeClr val="accent1"/>
              </a:buClr>
              <a:buSzPct val="80000"/>
              <a:buFont typeface="Wingdings 3" charset="2"/>
              <a:buChar char=""/>
            </a:pPr>
            <a:r>
              <a:rPr lang="en-US" sz="1600" dirty="0"/>
              <a:t>model = Sequential()</a:t>
            </a:r>
            <a:br>
              <a:rPr lang="en-US" sz="1600" dirty="0"/>
            </a:br>
            <a:r>
              <a:rPr lang="en-US" sz="1600" dirty="0" err="1"/>
              <a:t>model.add</a:t>
            </a:r>
            <a:r>
              <a:rPr lang="en-US" sz="1600" dirty="0"/>
              <a:t>(Conv2D(32, </a:t>
            </a:r>
            <a:r>
              <a:rPr lang="en-US" sz="1600" dirty="0" err="1"/>
              <a:t>kernel_size</a:t>
            </a:r>
            <a:r>
              <a:rPr lang="en-US" sz="1600" dirty="0"/>
              <a:t>=(5,5), </a:t>
            </a:r>
            <a:r>
              <a:rPr lang="en-US" sz="1600" dirty="0" err="1"/>
              <a:t>input_shape</a:t>
            </a:r>
            <a:r>
              <a:rPr lang="en-US" sz="1600" dirty="0"/>
              <a:t>=</a:t>
            </a:r>
            <a:r>
              <a:rPr lang="en-US" sz="1600" dirty="0" err="1"/>
              <a:t>input_shape</a:t>
            </a:r>
            <a:r>
              <a:rPr lang="en-US" sz="1600" dirty="0"/>
              <a:t>))</a:t>
            </a:r>
            <a:br>
              <a:rPr lang="en-US" sz="1600" dirty="0"/>
            </a:br>
            <a:r>
              <a:rPr lang="en-US" sz="1600" dirty="0" err="1"/>
              <a:t>model.add</a:t>
            </a:r>
            <a:r>
              <a:rPr lang="en-US" sz="1600" dirty="0"/>
              <a:t>(MaxPooling2D(</a:t>
            </a:r>
            <a:r>
              <a:rPr lang="en-US" sz="1600" dirty="0" err="1"/>
              <a:t>pool_size</a:t>
            </a:r>
            <a:r>
              <a:rPr lang="en-US" sz="1600" dirty="0"/>
              <a:t>=(2, 2)))</a:t>
            </a:r>
            <a:br>
              <a:rPr lang="en-US" sz="1600" dirty="0"/>
            </a:br>
            <a:r>
              <a:rPr lang="en-US" sz="1600" dirty="0" err="1"/>
              <a:t>model.add</a:t>
            </a:r>
            <a:r>
              <a:rPr lang="en-US" sz="1600" dirty="0"/>
              <a:t>(Conv2D(64, </a:t>
            </a:r>
            <a:r>
              <a:rPr lang="en-US" sz="1600" dirty="0" err="1"/>
              <a:t>kernel_size</a:t>
            </a:r>
            <a:r>
              <a:rPr lang="en-US" sz="1600" dirty="0"/>
              <a:t>=(5,5), </a:t>
            </a:r>
            <a:r>
              <a:rPr lang="en-US" sz="1600" dirty="0" err="1"/>
              <a:t>input_shape</a:t>
            </a:r>
            <a:r>
              <a:rPr lang="en-US" sz="1600" dirty="0"/>
              <a:t>=</a:t>
            </a:r>
            <a:r>
              <a:rPr lang="en-US" sz="1600" dirty="0" err="1"/>
              <a:t>input_shape</a:t>
            </a:r>
            <a:r>
              <a:rPr lang="en-US" sz="1600" dirty="0"/>
              <a:t>))</a:t>
            </a:r>
            <a:br>
              <a:rPr lang="en-US" sz="1600" dirty="0"/>
            </a:br>
            <a:r>
              <a:rPr lang="en-US" sz="1600" dirty="0" err="1"/>
              <a:t>model.add</a:t>
            </a:r>
            <a:r>
              <a:rPr lang="en-US" sz="1600" dirty="0"/>
              <a:t>(MaxPooling2D(</a:t>
            </a:r>
            <a:r>
              <a:rPr lang="en-US" sz="1600" dirty="0" err="1"/>
              <a:t>pool_size</a:t>
            </a:r>
            <a:r>
              <a:rPr lang="en-US" sz="1600" dirty="0"/>
              <a:t>=(2, 2)))</a:t>
            </a:r>
            <a:br>
              <a:rPr lang="en-US" sz="1600" dirty="0"/>
            </a:br>
            <a:r>
              <a:rPr lang="en-US" sz="1600" dirty="0" err="1"/>
              <a:t>model.add</a:t>
            </a:r>
            <a:r>
              <a:rPr lang="en-US" sz="1600" dirty="0"/>
              <a:t>(Flatten()) # Flattening the 2D arrays for fully connected layers</a:t>
            </a:r>
            <a:br>
              <a:rPr lang="en-US" sz="1600" dirty="0"/>
            </a:br>
            <a:r>
              <a:rPr lang="en-US" sz="1600" dirty="0" err="1"/>
              <a:t>model.add</a:t>
            </a:r>
            <a:r>
              <a:rPr lang="en-US" sz="1600" dirty="0"/>
              <a:t>(Dense(1024, activation=</a:t>
            </a:r>
            <a:r>
              <a:rPr lang="en-US" sz="1600" dirty="0" err="1"/>
              <a:t>tf.nn.relu</a:t>
            </a:r>
            <a:r>
              <a:rPr lang="en-US" sz="1600" dirty="0"/>
              <a:t>))</a:t>
            </a:r>
            <a:br>
              <a:rPr lang="en-US" sz="1600" dirty="0"/>
            </a:br>
            <a:r>
              <a:rPr lang="en-US" sz="1600" dirty="0" err="1"/>
              <a:t>model.add</a:t>
            </a:r>
            <a:r>
              <a:rPr lang="en-US" sz="1600" dirty="0"/>
              <a:t>(Dropout(0.2))</a:t>
            </a:r>
            <a:br>
              <a:rPr lang="en-US" sz="1600" dirty="0"/>
            </a:br>
            <a:r>
              <a:rPr lang="en-US" sz="1600" dirty="0" err="1"/>
              <a:t>model.add</a:t>
            </a:r>
            <a:r>
              <a:rPr lang="en-US" sz="1600" dirty="0"/>
              <a:t>(Dense(10,activation=</a:t>
            </a:r>
            <a:r>
              <a:rPr lang="en-US" sz="1600" dirty="0" err="1"/>
              <a:t>tf.nn.softmax</a:t>
            </a:r>
            <a:r>
              <a:rPr lang="en-US" sz="1600" dirty="0"/>
              <a:t>)) </a:t>
            </a:r>
            <a:endParaRPr lang="en-US" sz="1600" dirty="0"/>
          </a:p>
          <a:p>
            <a:pPr marL="342900" indent="-342900" defTabSz="457200">
              <a:spcBef>
                <a:spcPts val="1000"/>
              </a:spcBef>
              <a:buClr>
                <a:schemeClr val="accent1"/>
              </a:buClr>
              <a:buSzPct val="80000"/>
              <a:buFont typeface="Wingdings 3" charset="2"/>
              <a:buChar char=""/>
            </a:pPr>
            <a:r>
              <a:rPr lang="en-US" sz="1600" dirty="0"/>
              <a:t>#Compile the model</a:t>
            </a:r>
            <a:endParaRPr lang="en-US" sz="1600" dirty="0"/>
          </a:p>
          <a:p>
            <a:pPr marL="342900" indent="-342900" defTabSz="457200">
              <a:spcBef>
                <a:spcPts val="1000"/>
              </a:spcBef>
              <a:buClr>
                <a:schemeClr val="accent1"/>
              </a:buClr>
              <a:buSzPct val="80000"/>
              <a:buFont typeface="Wingdings 3" charset="2"/>
              <a:buChar char=""/>
            </a:pPr>
            <a:r>
              <a:rPr lang="en-US" sz="1600" dirty="0" err="1"/>
              <a:t>model.compile</a:t>
            </a:r>
            <a:r>
              <a:rPr lang="en-US" sz="1600" dirty="0"/>
              <a:t>(optimizer=’</a:t>
            </a:r>
            <a:r>
              <a:rPr lang="en-US" sz="1600" dirty="0" err="1"/>
              <a:t>adam</a:t>
            </a:r>
            <a:r>
              <a:rPr lang="en-US" sz="1600" dirty="0"/>
              <a:t>’, loss=’</a:t>
            </a:r>
            <a:r>
              <a:rPr lang="en-US" sz="1600" dirty="0" err="1"/>
              <a:t>sparse_categorical_crossentropy</a:t>
            </a:r>
            <a:r>
              <a:rPr lang="en-US" sz="1600" dirty="0"/>
              <a:t>’, metrics=[‘accuracy’]) </a:t>
            </a:r>
            <a:endParaRPr lang="en-US" sz="1600" dirty="0"/>
          </a:p>
          <a:p>
            <a:pPr marL="342900" indent="-342900" defTabSz="457200">
              <a:spcBef>
                <a:spcPts val="1000"/>
              </a:spcBef>
              <a:buClr>
                <a:schemeClr val="accent1"/>
              </a:buClr>
              <a:buSzPct val="80000"/>
              <a:buFont typeface="Wingdings 3" charset="2"/>
              <a:buChar char=""/>
            </a:pPr>
            <a:r>
              <a:rPr lang="en-US" sz="1600" dirty="0"/>
              <a:t> </a:t>
            </a:r>
            <a:endParaRPr lang="en-US" sz="1600" dirty="0"/>
          </a:p>
          <a:p>
            <a:pPr marL="342900" indent="-342900" defTabSz="457200">
              <a:spcBef>
                <a:spcPts val="1000"/>
              </a:spcBef>
              <a:buClr>
                <a:schemeClr val="accent1"/>
              </a:buClr>
              <a:buSzPct val="80000"/>
              <a:buFont typeface="Wingdings 3" charset="2"/>
              <a:buChar char=""/>
            </a:pPr>
            <a:r>
              <a:rPr lang="en-US" sz="1600" dirty="0"/>
              <a:t>Once we execute the above code, </a:t>
            </a:r>
            <a:r>
              <a:rPr lang="en-US" sz="1600" dirty="0" err="1"/>
              <a:t>Keras</a:t>
            </a:r>
            <a:r>
              <a:rPr lang="en-US" sz="1600" dirty="0"/>
              <a:t> will build a </a:t>
            </a:r>
            <a:r>
              <a:rPr lang="en-US" sz="1600" dirty="0" err="1"/>
              <a:t>TensorFlow</a:t>
            </a:r>
            <a:r>
              <a:rPr lang="en-US" sz="1600" dirty="0"/>
              <a:t> model behind the scenes.</a:t>
            </a:r>
            <a:endParaRPr lang="en-US" sz="160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79412" y="304800"/>
            <a:ext cx="10969943" cy="757238"/>
          </a:xfrm>
        </p:spPr>
        <p:txBody>
          <a:bodyPr/>
          <a:lstStyle/>
          <a:p>
            <a:r>
              <a:rPr lang="en-GB" sz="3600" dirty="0"/>
              <a:t>Implementation of CNN with </a:t>
            </a:r>
            <a:r>
              <a:rPr lang="en-GB" sz="3600" dirty="0" err="1"/>
              <a:t>Keras</a:t>
            </a:r>
            <a:endParaRPr lang="en-GB" sz="3600" dirty="0"/>
          </a:p>
        </p:txBody>
      </p:sp>
      <p:sp>
        <p:nvSpPr>
          <p:cNvPr id="5" name="Slide Number Placeholder 4"/>
          <p:cNvSpPr>
            <a:spLocks noGrp="1"/>
          </p:cNvSpPr>
          <p:nvPr>
            <p:ph type="sldNum" sz="quarter" idx="12"/>
          </p:nvPr>
        </p:nvSpPr>
        <p:spPr/>
        <p:txBody>
          <a:bodyPr/>
          <a:lstStyle/>
          <a:p>
            <a:fld id="{C014DD1E-5D91-48A3-AD6D-45FBA980D106}" type="slidenum">
              <a:rPr lang="en-US" smtClean="0"/>
            </a:fld>
            <a:endParaRPr lang="en-US"/>
          </a:p>
        </p:txBody>
      </p:sp>
      <p:sp>
        <p:nvSpPr>
          <p:cNvPr id="12291" name="Rectangle 3"/>
          <p:cNvSpPr>
            <a:spLocks noChangeArrowheads="1"/>
          </p:cNvSpPr>
          <p:nvPr/>
        </p:nvSpPr>
        <p:spPr bwMode="auto">
          <a:xfrm>
            <a:off x="0" y="0"/>
            <a:ext cx="12188825"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292" name="Rectangle 4"/>
          <p:cNvSpPr>
            <a:spLocks noChangeArrowheads="1"/>
          </p:cNvSpPr>
          <p:nvPr/>
        </p:nvSpPr>
        <p:spPr bwMode="auto">
          <a:xfrm>
            <a:off x="20638" y="952500"/>
            <a:ext cx="12188825"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4820" algn="l"/>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9" name="Rectangle 3"/>
          <p:cNvSpPr txBox="1">
            <a:spLocks noChangeArrowheads="1"/>
          </p:cNvSpPr>
          <p:nvPr/>
        </p:nvSpPr>
        <p:spPr>
          <a:xfrm>
            <a:off x="303212" y="1143000"/>
            <a:ext cx="9218711" cy="5562600"/>
          </a:xfrm>
          <a:prstGeom prst="rect">
            <a:avLst/>
          </a:prstGeom>
        </p:spPr>
        <p:txBody>
          <a:bodyPr vert="horz" lIns="91440" tIns="45720" rIns="91440" bIns="45720" rtlCol="0">
            <a:noAutofit/>
          </a:bodyPr>
          <a:lstStyle/>
          <a:p>
            <a:pPr marL="342900" indent="-342900" defTabSz="457200">
              <a:spcBef>
                <a:spcPts val="1000"/>
              </a:spcBef>
              <a:buClr>
                <a:schemeClr val="accent1"/>
              </a:buClr>
              <a:buSzPct val="80000"/>
              <a:buFont typeface="Wingdings 3" charset="2"/>
              <a:buChar char=""/>
            </a:pPr>
            <a:r>
              <a:rPr lang="en-US" sz="1600" b="1" dirty="0">
                <a:solidFill>
                  <a:srgbClr val="0070C0"/>
                </a:solidFill>
              </a:rPr>
              <a:t>Step 2: Train the model</a:t>
            </a:r>
            <a:endParaRPr lang="en-US" sz="1600" b="1" dirty="0">
              <a:solidFill>
                <a:srgbClr val="0070C0"/>
              </a:solidFill>
            </a:endParaRPr>
          </a:p>
          <a:p>
            <a:pPr marL="342900" indent="-342900" defTabSz="457200">
              <a:spcBef>
                <a:spcPts val="1000"/>
              </a:spcBef>
              <a:buClr>
                <a:schemeClr val="accent1"/>
              </a:buClr>
              <a:buSzPct val="80000"/>
              <a:buFont typeface="Wingdings 3" charset="2"/>
              <a:buChar char=""/>
            </a:pPr>
            <a:r>
              <a:rPr lang="en-US" sz="1600" b="1" dirty="0"/>
              <a:t>model.fit(x=</a:t>
            </a:r>
            <a:r>
              <a:rPr lang="en-US" sz="1600" b="1" dirty="0" err="1"/>
              <a:t>x_train,y</a:t>
            </a:r>
            <a:r>
              <a:rPr lang="en-US" sz="1600" b="1" dirty="0"/>
              <a:t>=</a:t>
            </a:r>
            <a:r>
              <a:rPr lang="en-US" sz="1600" b="1" dirty="0" err="1"/>
              <a:t>y_train</a:t>
            </a:r>
            <a:r>
              <a:rPr lang="en-US" sz="1600" b="1" dirty="0"/>
              <a:t>, epochs=10) </a:t>
            </a:r>
            <a:endParaRPr lang="en-US" sz="1600" b="1" dirty="0"/>
          </a:p>
          <a:p>
            <a:pPr marL="342900" indent="-342900" defTabSz="457200">
              <a:spcBef>
                <a:spcPts val="1000"/>
              </a:spcBef>
              <a:buClr>
                <a:schemeClr val="accent1"/>
              </a:buClr>
              <a:buSzPct val="80000"/>
              <a:buFont typeface="Wingdings 3" charset="2"/>
              <a:buChar char=""/>
            </a:pPr>
            <a:endParaRPr lang="en-US" sz="1600" b="1" dirty="0"/>
          </a:p>
          <a:p>
            <a:pPr marL="342900" indent="-342900" defTabSz="457200">
              <a:spcBef>
                <a:spcPts val="1000"/>
              </a:spcBef>
              <a:buClr>
                <a:schemeClr val="accent1"/>
              </a:buClr>
              <a:buSzPct val="80000"/>
              <a:buFont typeface="Wingdings 3" charset="2"/>
              <a:buChar char=""/>
            </a:pPr>
            <a:r>
              <a:rPr lang="en-US" sz="1600" b="1" dirty="0">
                <a:solidFill>
                  <a:srgbClr val="0070C0"/>
                </a:solidFill>
              </a:rPr>
              <a:t>Step 3: Test the model</a:t>
            </a:r>
            <a:endParaRPr lang="en-US" sz="1600" b="1" dirty="0">
              <a:solidFill>
                <a:srgbClr val="0070C0"/>
              </a:solidFill>
            </a:endParaRPr>
          </a:p>
          <a:p>
            <a:pPr marL="342900" indent="-342900" defTabSz="457200">
              <a:spcBef>
                <a:spcPts val="1000"/>
              </a:spcBef>
              <a:buClr>
                <a:schemeClr val="accent1"/>
              </a:buClr>
              <a:buSzPct val="80000"/>
              <a:buFont typeface="Wingdings 3" charset="2"/>
              <a:buChar char=""/>
            </a:pPr>
            <a:r>
              <a:rPr lang="en-US" sz="1600" b="1" dirty="0" err="1"/>
              <a:t>test_error_rate</a:t>
            </a:r>
            <a:r>
              <a:rPr lang="en-US" sz="1600" b="1" dirty="0"/>
              <a:t> = </a:t>
            </a:r>
            <a:r>
              <a:rPr lang="en-US" sz="1600" b="1" dirty="0" err="1"/>
              <a:t>model.evaluate</a:t>
            </a:r>
            <a:r>
              <a:rPr lang="en-US" sz="1600" b="1" dirty="0"/>
              <a:t>(</a:t>
            </a:r>
            <a:r>
              <a:rPr lang="en-US" sz="1600" b="1" dirty="0" err="1"/>
              <a:t>x_test</a:t>
            </a:r>
            <a:r>
              <a:rPr lang="en-US" sz="1600" b="1" dirty="0"/>
              <a:t>, </a:t>
            </a:r>
            <a:r>
              <a:rPr lang="en-US" sz="1600" b="1" dirty="0" err="1"/>
              <a:t>y_test</a:t>
            </a:r>
            <a:r>
              <a:rPr lang="en-US" sz="1600" b="1" dirty="0"/>
              <a:t>, verbose=0)</a:t>
            </a:r>
            <a:br>
              <a:rPr lang="en-US" sz="1600" b="1" dirty="0"/>
            </a:br>
            <a:r>
              <a:rPr lang="en-US" sz="1600" b="1" dirty="0"/>
              <a:t>print(“The mean squared error (MSE) for the test data set is: {}”.format(</a:t>
            </a:r>
            <a:r>
              <a:rPr lang="en-US" sz="1600" b="1" dirty="0" err="1"/>
              <a:t>test_error_rate</a:t>
            </a:r>
            <a:r>
              <a:rPr lang="en-US" sz="1600" b="1" dirty="0"/>
              <a:t>))</a:t>
            </a:r>
            <a:endParaRPr lang="en-US" sz="1600" b="1" dirty="0"/>
          </a:p>
          <a:p>
            <a:pPr marL="342900" indent="-342900" defTabSz="457200">
              <a:spcBef>
                <a:spcPts val="1000"/>
              </a:spcBef>
              <a:buClr>
                <a:schemeClr val="accent1"/>
              </a:buClr>
              <a:buSzPct val="80000"/>
              <a:buFont typeface="Wingdings 3" charset="2"/>
              <a:buChar char=""/>
            </a:pPr>
            <a:endParaRPr lang="en-US" sz="1600" b="1" dirty="0"/>
          </a:p>
          <a:p>
            <a:pPr marL="342900" indent="-342900" defTabSz="457200">
              <a:spcBef>
                <a:spcPts val="1000"/>
              </a:spcBef>
              <a:buClr>
                <a:schemeClr val="accent1"/>
              </a:buClr>
              <a:buSzPct val="80000"/>
              <a:buFont typeface="Wingdings 3" charset="2"/>
              <a:buChar char=""/>
            </a:pPr>
            <a:r>
              <a:rPr lang="en-US" sz="1600" b="1" dirty="0">
                <a:solidFill>
                  <a:srgbClr val="0070C0"/>
                </a:solidFill>
              </a:rPr>
              <a:t>Step 4: Save and Load the model</a:t>
            </a:r>
            <a:endParaRPr lang="en-US" sz="1600" b="1" dirty="0">
              <a:solidFill>
                <a:srgbClr val="0070C0"/>
              </a:solidFill>
            </a:endParaRPr>
          </a:p>
          <a:p>
            <a:pPr marL="342900" indent="-342900" defTabSz="457200">
              <a:spcBef>
                <a:spcPts val="1000"/>
              </a:spcBef>
              <a:buClr>
                <a:schemeClr val="accent1"/>
              </a:buClr>
              <a:buSzPct val="80000"/>
              <a:buFont typeface="Wingdings 3" charset="2"/>
              <a:buChar char=""/>
            </a:pPr>
            <a:r>
              <a:rPr lang="en-US" sz="1600" b="1" dirty="0" err="1"/>
              <a:t>model.save</a:t>
            </a:r>
            <a:r>
              <a:rPr lang="en-US" sz="1600" b="1" dirty="0"/>
              <a:t>(“trained_model.h5”) </a:t>
            </a:r>
            <a:endParaRPr lang="en-US" sz="1600" b="1" dirty="0"/>
          </a:p>
          <a:p>
            <a:pPr marL="342900" indent="-342900" defTabSz="457200">
              <a:spcBef>
                <a:spcPts val="1000"/>
              </a:spcBef>
              <a:buClr>
                <a:schemeClr val="accent1"/>
              </a:buClr>
              <a:buSzPct val="80000"/>
              <a:buFont typeface="Wingdings 3" charset="2"/>
              <a:buChar char=""/>
            </a:pPr>
            <a:r>
              <a:rPr lang="en-US" sz="1600" b="1" dirty="0"/>
              <a:t>Your model will be saved in the Hierarchical Data Format (HDF) with .h5 extension. It contains multidimensional arrays of scientific data. </a:t>
            </a:r>
            <a:endParaRPr lang="en-US" sz="1600" b="1" dirty="0"/>
          </a:p>
          <a:p>
            <a:pPr marL="342900" indent="-342900" defTabSz="457200">
              <a:spcBef>
                <a:spcPts val="1000"/>
              </a:spcBef>
              <a:buClr>
                <a:schemeClr val="accent1"/>
              </a:buClr>
              <a:buSzPct val="80000"/>
              <a:buFont typeface="Wingdings 3" charset="2"/>
              <a:buChar char=""/>
            </a:pPr>
            <a:r>
              <a:rPr lang="en-US" sz="1600" b="1" dirty="0"/>
              <a:t>We can load our previously trained model by calling the load model function and passing in a file name. Then we call the predict function and pass in the new data for predictions.</a:t>
            </a:r>
            <a:endParaRPr lang="en-US" sz="1600" b="1" dirty="0"/>
          </a:p>
          <a:p>
            <a:pPr marL="342900" indent="-342900" defTabSz="457200">
              <a:spcBef>
                <a:spcPts val="1000"/>
              </a:spcBef>
              <a:buClr>
                <a:schemeClr val="accent1"/>
              </a:buClr>
              <a:buSzPct val="80000"/>
              <a:buFont typeface="Wingdings 3" charset="2"/>
              <a:buChar char=""/>
            </a:pPr>
            <a:r>
              <a:rPr lang="en-US" sz="1600" b="1" dirty="0"/>
              <a:t>model = </a:t>
            </a:r>
            <a:r>
              <a:rPr lang="en-US" sz="1600" b="1" dirty="0" err="1"/>
              <a:t>keras.models.load_model</a:t>
            </a:r>
            <a:r>
              <a:rPr lang="en-US" sz="1600" b="1" dirty="0"/>
              <a:t>(“trained_model.h5”)</a:t>
            </a:r>
            <a:br>
              <a:rPr lang="en-US" sz="1600" b="1" dirty="0"/>
            </a:br>
            <a:r>
              <a:rPr lang="en-US" sz="1600" b="1" dirty="0"/>
              <a:t>predictions = </a:t>
            </a:r>
            <a:r>
              <a:rPr lang="en-US" sz="1600" b="1" dirty="0" err="1"/>
              <a:t>model.predict</a:t>
            </a:r>
            <a:r>
              <a:rPr lang="en-US" sz="1600" b="1" dirty="0"/>
              <a:t>(</a:t>
            </a:r>
            <a:r>
              <a:rPr lang="en-US" sz="1600" b="1" dirty="0" err="1"/>
              <a:t>new_data</a:t>
            </a:r>
            <a:r>
              <a:rPr lang="en-US" sz="1600" b="1" dirty="0"/>
              <a:t>)</a:t>
            </a:r>
            <a:endParaRPr lang="en-US" sz="1600" b="1"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014DD1E-5D91-48A3-AD6D-45FBA980D106}" type="slidenum">
              <a:rPr lang="en-US" smtClean="0"/>
            </a:fld>
            <a:endParaRPr lang="en-US"/>
          </a:p>
        </p:txBody>
      </p:sp>
      <p:pic>
        <p:nvPicPr>
          <p:cNvPr id="4" name="Picture 3" descr="185002046-56b0974c3df78cf772cfe3c5.jpg"/>
          <p:cNvPicPr>
            <a:picLocks noChangeAspect="1"/>
          </p:cNvPicPr>
          <p:nvPr/>
        </p:nvPicPr>
        <p:blipFill>
          <a:blip r:embed="rId1"/>
          <a:stretch>
            <a:fillRect/>
          </a:stretch>
        </p:blipFill>
        <p:spPr>
          <a:xfrm>
            <a:off x="1827212" y="990600"/>
            <a:ext cx="6553200" cy="4914032"/>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3836F65B-1B07-41EE-A0E8-BC6EF3855225}">
  <ds:schemaRefs/>
</ds:datastoreItem>
</file>

<file path=docProps/app.xml><?xml version="1.0" encoding="utf-8"?>
<Properties xmlns="http://schemas.openxmlformats.org/officeDocument/2006/extended-properties" xmlns:vt="http://schemas.openxmlformats.org/officeDocument/2006/docPropsVTypes">
  <Template>{D81B7F56-5ABE-EB41-BAC0-98AF55F9C6FE}tf10001060</Template>
  <TotalTime>0</TotalTime>
  <Words>15232</Words>
  <Application>WPS Presentation</Application>
  <PresentationFormat>Custom</PresentationFormat>
  <Paragraphs>290</Paragraphs>
  <Slides>34</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34</vt:i4>
      </vt:variant>
    </vt:vector>
  </HeadingPairs>
  <TitlesOfParts>
    <vt:vector size="46" baseType="lpstr">
      <vt:lpstr>Arial</vt:lpstr>
      <vt:lpstr>SimSun</vt:lpstr>
      <vt:lpstr>Wingdings</vt:lpstr>
      <vt:lpstr>Wingdings 3</vt:lpstr>
      <vt:lpstr>Symbol</vt:lpstr>
      <vt:lpstr>Arial</vt:lpstr>
      <vt:lpstr>Trebuchet MS</vt:lpstr>
      <vt:lpstr>Microsoft YaHei</vt:lpstr>
      <vt:lpstr>Arial Unicode MS</vt:lpstr>
      <vt:lpstr>Calibri</vt:lpstr>
      <vt:lpstr>Georgia</vt:lpstr>
      <vt:lpstr>Facet</vt:lpstr>
      <vt:lpstr>Introduction to CNN</vt:lpstr>
      <vt:lpstr>Topics to be covered…</vt:lpstr>
      <vt:lpstr>Introduction to Convolution Neural Network</vt:lpstr>
      <vt:lpstr>Introduction to Convolution Neural Network</vt:lpstr>
      <vt:lpstr>Introduction to Convolution Neural Network</vt:lpstr>
      <vt:lpstr>Introduction to Convolution Neural Network</vt:lpstr>
      <vt:lpstr>Limitations of CNN</vt:lpstr>
      <vt:lpstr>Limitations of CNN</vt:lpstr>
      <vt:lpstr>Limitations of CNN</vt:lpstr>
      <vt:lpstr>Limitations of CNN</vt:lpstr>
      <vt:lpstr>Limitations of CNN</vt:lpstr>
      <vt:lpstr>Convolution Layer</vt:lpstr>
      <vt:lpstr>Convolution Layer</vt:lpstr>
      <vt:lpstr>Convolution Layer</vt:lpstr>
      <vt:lpstr>Convolution Layer</vt:lpstr>
      <vt:lpstr>Stride</vt:lpstr>
      <vt:lpstr>Padding</vt:lpstr>
      <vt:lpstr>Pooling</vt:lpstr>
      <vt:lpstr>Pooling</vt:lpstr>
      <vt:lpstr>Example</vt:lpstr>
      <vt:lpstr>Classification</vt:lpstr>
      <vt:lpstr>Classification</vt:lpstr>
      <vt:lpstr>Hyperparameters in CNN</vt:lpstr>
      <vt:lpstr>Loss Layer</vt:lpstr>
      <vt:lpstr>Loss Layer</vt:lpstr>
      <vt:lpstr>Dense Layer</vt:lpstr>
      <vt:lpstr>1x1 Convolution</vt:lpstr>
      <vt:lpstr>1x1 Convolution</vt:lpstr>
      <vt:lpstr>Implementation of CNN with TensorFlow</vt:lpstr>
      <vt:lpstr>Implementation of CNN with TensorFlow</vt:lpstr>
      <vt:lpstr>Implementation of CNN with TensorFlow</vt:lpstr>
      <vt:lpstr>Implementation of CNN with Keras</vt:lpstr>
      <vt:lpstr>Implementation of CNN with Keras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Subhankar Mandal</cp:lastModifiedBy>
  <cp:revision>3</cp:revision>
  <dcterms:created xsi:type="dcterms:W3CDTF">2016-08-29T14:00:00Z</dcterms:created>
  <dcterms:modified xsi:type="dcterms:W3CDTF">2026-08-28T05:58:54Z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TC027879909991</vt:lpwstr>
  </property>
  <property fmtid="{D5CDD505-2E9C-101B-9397-08002B2CF9AE}" pid="3" name="ICV">
    <vt:lpwstr>7391D71D570540D4B2A9F7718DACF2FB_12</vt:lpwstr>
  </property>
  <property fmtid="{D5CDD505-2E9C-101B-9397-08002B2CF9AE}" pid="4" name="KSOProductBuildVer">
    <vt:lpwstr>2057-12.2.0.23206</vt:lpwstr>
  </property>
</Properties>
</file>