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Evaluation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· Boosting · Random Forest · XGBoost · LightGBM · CatBoost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· Cross-Validation · Hyperparameter Tuning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&amp; Model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Ensemble Learning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Ensemble Learning?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Models for Superior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is a machine learning paradigm where </a:t>
            </a:r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(learners) are trained and combined 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the same problem, producing better predictive performance than any single model alone.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65176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677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Key Idea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642616"/>
            <a:ext cx="246888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"wisdom of the crowd" — combining diverse opinions leads to better collective decisions than any single expert.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240280"/>
            <a:ext cx="265176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2240280"/>
            <a:ext cx="26517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2677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Base Learners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18688" y="2642616"/>
            <a:ext cx="246888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model in an ensemble is called a base learner or weak learner. These are often simple models like decision trees.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240280"/>
            <a:ext cx="288036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240280"/>
            <a:ext cx="288036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26771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53328" y="2642616"/>
            <a:ext cx="269748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bias, reduce variance, or improve predictions by aggregating outputs of diverse models trained on same or varied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Ensemble Learning? — Bias-Variance Trade-off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overly simplistic assumptions. High bias → underfitting. Model misses relevant relations in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Boosting helps reduce bias by iteratively correcting errors.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325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sensitivity to fluctuations in training data. High variance → overfitting. Model learns noise.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Bagging helps reduce variance by averaging over many models.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3258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inherent in any dataset. Cannot be reduced by any model. Ensemble methods focus on the reducible portion.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Total Error = Bias² + Variance + Irreducible 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Ensembles strike a better balance — Bagging ↓ Variance  |  Boosting ↓ Bias  |  Stacking combines both strategies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914400"/>
            <a:ext cx="0" cy="2560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914400"/>
            <a:ext cx="0" cy="2560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Ensemble Methods —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6060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509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 Bagging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— Train models independently on random data subsets. Aggregate by averaging or voting.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Random Forest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9144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14400"/>
            <a:ext cx="26060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509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Boosting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3533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sequentially — each corrects the errors of the previous. Weight-based focus on hard samples.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AdaBoost, GBM, XGBoost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914400"/>
            <a:ext cx="260604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9509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Stacking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3533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meta-learner on predictions of base learners. Combines different model types. Also called blending.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Stack SVM + Trees + LR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60604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97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Voting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1821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Voting: majority class wins.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Voting: average probabilities.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effective combination strategy.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0" y="27432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2743200"/>
            <a:ext cx="26060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7797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Blending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1821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stacking — hold-out set used for meta-learner training instead of cross-validation. Less data leakage risk.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26060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2743200"/>
            <a:ext cx="260604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7797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Averaging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318211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regression: average predictions of base models. Weighted averaging assigns higher weight to better models.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Learners vs Strong Learners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only slightly better than random guessing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just above 50% for binary classification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Decision Stump (1-level tree), shallow decision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 — fast to train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bias, low variance individually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 use weak learners and combine them into strong learners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0" cy="3749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Learner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high accuracy on the task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better than random guessing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Ensemble models, deep neural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— slower to train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bias-variance balance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ensemble methods — combining many weak learners creates one strong learner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Strategies in Ensemble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base learner outputs are combined: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926080"/>
                <a:gridCol w="18288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class with most votes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class probabilities; highest prob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(calibrated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(Regression)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all model outputs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weight to better-performing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model learns from base model predictions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636008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Aggregation is the core mechanism — the quality of combination strategy matters as much as individual model quality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Boosting Ensembles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Bootstrap Aggregating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(Bagging) — Parallel Ensemble Technique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trains multiple base learners INDEPENDENTLY on different random subsets of the training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subset is created by Bootstrap Sampling — sampling WITH replacement (same size as original dataset)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63.2% unique samples per bootstrap bag; remaining ~36.8% form the Out-of-Bag (OOB) set for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prediction: majority vote (classification) or average (regression) across all base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training — all models trained simultaneously → faster than boosting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60120"/>
            <a:ext cx="30175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99669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Original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1709928"/>
            <a:ext cx="30175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Bootstrap Sample ×N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212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2459736"/>
            <a:ext cx="30175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4963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N Models Independently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2962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0720" y="3209544"/>
            <a:ext cx="30175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32461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Aggregate Predictions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7124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3959352"/>
            <a:ext cx="30175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9959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Final Output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Sequential Error Correction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trains models SEQUENTIALLY — each new model focuses on the errors of the previous 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73736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591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Weights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samples get equal weight initially.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274320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25968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Weak Learner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trained on weighted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6616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37490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3602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Errors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misclassified samples.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155448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55448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73736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03520" y="1591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samples get higher weight — next model focuses more on them.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6032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74320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03520" y="25968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 times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 weak learners. Each corrects previous residuals.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3566160"/>
            <a:ext cx="41605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566160"/>
            <a:ext cx="50292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37490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03520" y="3602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Learners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all models → strong learner.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vs Boosting — Side-by-Side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(independent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(dependent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bootstrap samples (with replacement)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Reweighted samples (focus on hard cases)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 to all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weight to accurate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robust to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can overfit noisy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(parallelizable)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(sequential dependency)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Extra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AdaBoost, XGBoost, 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variance / overfitting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bias / underfitting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Classifier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Classifier — Definition &amp;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ensemble strategy where the final class is determined by a vote across multiple classifiers.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6052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Hard Voting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casts a vote for a class.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with the MOST votes wins.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 models vote: Cat, Dog, Cat → Final: Cat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works even without probability outputs.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6052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08760"/>
            <a:ext cx="416052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Soft Voting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911096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outputs class PROBABILITIES.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AVERAGED across models.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with highest average probability wins.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models are well-calibrated.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Majority Voting?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3+ diverse models trained on the same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individual models have similar but complementary strengths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Voting: when you don't have probability outputs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Voting: preferred when models output well-calibrated probabilities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Classifier — Worked Example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 Customer Churn (Yes / No)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Voting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(Majority)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 vs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(Avg Probabilities)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8308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P(Yes)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023360"/>
            <a:ext cx="8595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Soft Voting is generally preferred because it uses richer information (probabilities) rather than just the final predicted class label.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4663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sklearn.ensemble.VotingClassifier(estimators=[...], voting='hard'/'soft')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set of classifiers — can mix Logistic Regression, SVM, Tree models etc.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Classifier — Key Parameters &amp; Tips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voting='hard' → each estimator gives one vote; majority class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voting='soft' → average predicted probabilities; all estimators must support predict_proba()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weights=[w1, w2, ...] → assign higher weight to more accurate models in the ensemble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n_jobs=-1 → train all base classifiers in parallel (bagging-style speed)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flatten_transform=True → for transform() method in pipelines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diverse models — avoid using same algorithm multiple times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should have similar overall accuracy but make different types of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soft voting whenever possible — it captures more 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voting helps when models have very different accuracy levels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model probabilities (CalibratedClassifierCV) before soft voting for best results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a bagging ensemble of Decision Trees with an additional randomness in feature selection at each split.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Decision Trees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learners in Random Forest. Each tree is a full decision tree trained on a different bootstrap sample of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60020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Feature Randomness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 split, only a random subset of features is considered (√p for classification, p/3 for regression). This decorrelates trees.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60020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Bootstrap Sampling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sees ~63.2% of training data. Out-of-Bag (OOB) samples (~36.8%) are used for validation without a separate test set.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9136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for both classification &amp; regression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high-dimensional data well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via impurity decrease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missing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required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9136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 than single decision tree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 for very large datasets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Memory-intensive (many trees stored)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very sparse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toward categorical features with many levels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Feature Importance &amp; OOB Score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(Mean Decrease in Impurity)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feature's importance = total decrease in node impurity (Gini/MSE) weighted by samples it applies to, averaged across all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so all feature importances sum to 1.0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available: Permutation Importance — measure drop in accuracy when feature values are shuffled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is more robust but slower to compute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3282696"/>
            <a:ext cx="1559052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9372" y="3246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3602736"/>
            <a:ext cx="1257300" cy="21945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7620" y="3566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922776"/>
            <a:ext cx="905256" cy="21945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3886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4242816"/>
            <a:ext cx="704088" cy="21945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4206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Years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4562856"/>
            <a:ext cx="603504" cy="21945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4526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999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(example)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(Out-of-Bag) Score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13258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~36.8% samples not seen by each tree → used as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error ≈ cross-validation error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with: oob_score=True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computation — no need for separate CV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Score is an unbiased estimate of model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Key Hyperparameters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474720"/>
                <a:gridCol w="11887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= better performance but slower. Typically 100–500.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depth of each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= grow full tree. Limiting reduces overfitting.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10-20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at each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'sqrt' for classification, 'log2' or 0.3 for regression.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samples to split a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= simpler trees, reduces overfitting.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samples per 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= smoother predictions.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to bootstrap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(default) = bagging. False = uses full dataset each time.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oob_score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OOB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enables free validation from out-of-bag samples.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balancing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for imbalanced datasets.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Adaptive 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(Adaptive Boosting) — First practical boosting algorithm by Freund &amp; Schapire (1997)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WEAK learners (usually Decision Stumps) into a STRONG learner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models SEQUENTIALLY — each model focuses on samples misclassified by previous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samples get HIGHER WEIGHTS — next model pays more attention to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classified samples get LOWER WEIGHTS — next model focuses less on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 learner gets a weight (alpha) based on its accuracy — more accurate models have higher alpha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WEIGHTED VOTE of all weak learners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Core: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480560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αₜ = 0.5 × ln((1 − errₜ) / errₜ)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4480560"/>
            <a:ext cx="4297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480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← Wᵢ × exp(−αₜ × yᵢ × hₜ(xᵢ))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Algorithm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1498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014984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sample weights: wᵢ = 1/N for all N samples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859536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44752"/>
            <a:ext cx="411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9961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499616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 = 1 to T (number of estimators):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929384"/>
            <a:ext cx="8595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84248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Train weak learner hₜ on weighted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68880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Calculate weighted error: errₜ = Σ wᵢ × 𝟙[yᵢ ≠ hₜ(xᵢ)]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8595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53512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Compute learner weight: αₜ = 0.5 × ln((1 − errₜ) / errₜ)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38144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Update sample weights: increase for misclassified, decrease for correct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8595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22776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e. Normalize weights so they sum to 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4352544"/>
            <a:ext cx="859536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352544"/>
            <a:ext cx="411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40740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407408"/>
            <a:ext cx="8001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H(x) = sign(Σ αₜ × hₜ(x))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Hyperparameters &amp; Use Cases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weak learners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50–500; more = stronger but 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each tree's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0.01–1.0; lower = more trees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base_estimator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learner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DecisionTreeClassifier(max_depth=1)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SAMME or SAMME.R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SAMME.R uses probabilities (preferred)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Properties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79476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binary classification, but supports multiclass (SAMME algorithm)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 to outliers and noisy data (outliers get very high weights)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NOT overfit when enough estimators are used (unlike boosting myth)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outperforms Random Forest on simple to medium-complexity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&amp; n_estimators have a strong trade-off — tune together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— Core Concept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generalizes boosting to any differentiable loss function using gradient descent in function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6052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reweighting samples (like AdaBoost), GBM fits each new tree to the RESIDUALS (negative gradients) of the current ensemble. It performs gradient descent to minimize the loss.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6052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08760"/>
            <a:ext cx="416052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Function Space Gradient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911096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treats the ensemble as an additive model F(x) and performs gradient descent in function space — each tree is the gradient step reducing the loss function.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Algorithm: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Initialize F₀(x) = constant (e.g., mean for regression)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For m=1 to M: Compute pseudo-residuals rᵢₘ = −∂L(yᵢ, F(xᵢ))/∂F(xᵢ)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Fit a weak tree hₘ(x) to the pseudo-residuals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Update model: Fₘ(x) = Fₘ₋₁(x) + η × hₘ(x) where η is learning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Repeat until M trees are built → final ensemble is Fₘ(x)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— Loss Functions &amp; Regularization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in GBM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4023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/ Gradient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 (MSE)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yᵢ − F(xᵢ)  (simple residuals)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Absolute Error (MAE)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sign(yᵢ − F(xᵢ))  (robust to outliers)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 (Deviance)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yᵢ − pᵢ  (probability residuals)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of MSE &amp; MAE — robust + 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Techniques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840480"/>
            <a:ext cx="411480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895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Learning Rate (η):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37360" y="389534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each tree's contribution. Smaller η = more trees needed but better generalization.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4320" y="4343400"/>
            <a:ext cx="411480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39826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Subsampling: 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37360" y="439826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GBM — use random fraction of data per tree. Adds randomness, reduces overfitting.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3840480"/>
            <a:ext cx="411480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3895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Tree Depth: 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389534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(max_depth=3-5) prevent complex individual fits.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17720" y="4343400"/>
            <a:ext cx="411480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439826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Min Samples Leaf: 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439826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samples per leaf node — smooths the model.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— Hyperparameters &amp; Comparison with AdaBoost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boosting stages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 per tree (η)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(key tuning param)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samples per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0.5–0.9 (stochastic GBM)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'deviance', 'exponential', 'ls'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leaf 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= more regularization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703320"/>
            <a:ext cx="40690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703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vs AdaBoost: GBM is more flexible (any loss function), more regularizable, and typically outperforms AdaBoost on complex tasks.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3703320"/>
            <a:ext cx="429768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Limitation: Slow training — sequential tree building. XGBoost/LightGBM solve this with algorithmic optimizations.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2976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is the foundation for XGBoost, LightGBM, and CatBoost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GradientBoostingClassifier is the standard implementation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HistGradientBoostingClassifier is the faster sklearn version (for large datasets)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Extreme Gradient 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(Chen &amp; Guestrin, 2016) — engineered for speed, performance, and scalability in gradient boosting.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Regularization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+ L2 (Ridge) regularization built in to the objective. Prevents overfitting better than vanilla GBM.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50876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Exact &amp; Approximate Split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sorted histogram-based approach for fast split finding. Approximate algorithm for huge datasets.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50876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Missing Values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handling of missing values — learns the optimal default direction for missing data at each split.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260604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Column Subsampling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sample features per tree AND per level — more regularization than GBM's row subsampling alone.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429000"/>
            <a:ext cx="260604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Hardware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868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Cache-aware tree building, parallel CPU/GPU training, out-of-core computation for datasets larger than RAM.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3429000"/>
            <a:ext cx="260604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Custom Objectives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5332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any custom loss function with gradient and hessian. Highly extensible for research tasks.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Objective Function &amp; Tree Building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Objective (Regularized)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= Σ L(yᵢ, ŷᵢ) + Σ Ω(fₖ)   where   Ω(f) = γT + ½λ||w||²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L(yᵢ, ŷᵢ) = training loss (MSE, log loss, etc.)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Ω(f) = regularization term — γ penalizes number of leaves T, λ penalizes leaf weights 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expansion of loss → closed-form optimal weights for leaf nodes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½ [Gₗ²/(Hₗ+λ) + Gᵣ²/(Hᵣ+λ) − (Gₗ+Gᵣ)²/(Hₗ+Hᵣ+λ)] − 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split is made only if Gain &gt; 0 (pruning condition)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Outperforms Classic GBM: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second-order (Hessian) gradients for better optimization than first-order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regularization (γ, λ) controls model complexity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split finding and cache-aware access patterns → 10x faster than sklearn GBM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Key Hyperparameters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834640"/>
              </a:tblGrid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 (eta)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tree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min_child_weight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sum of Hessians in 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1–10; higher = conservative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sampling per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sampling per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sampling per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(min_split_loss)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gain to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0–5; higher = more pruning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reg_alpha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reg_lambda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datasets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sum(neg)/sum(pos)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construction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'hist' (fast), 'gpu_hist' (GPU)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Light Gradient Boosting Machine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(Microsoft, 2017) — Designed for speed and efficiency on large datasets with high-dimensional features.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Histogram-Based Splitting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continuous features into discrete bins. Faster split finding vs exact method. Reduces memory usage significantly.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50876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Leaf-wise 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the leaf with maximum loss reduction (vs level-wise in XGBoost). More accurate but can overfit on small datasets.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50876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GOSS Sampling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One-Side Sampling: keeps samples with large gradients, randomly samples small-gradient instances. Faster training.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260604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EFB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Feature Bundling: bundles mutually exclusive features (rarely non-zero together) into one → fewer features to process.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429000"/>
            <a:ext cx="260604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Categorical Support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868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categorical features without one-hot encoding. Uses optimal splits for categorical variables.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3429000"/>
            <a:ext cx="260604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Speed vs XGBoost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5332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10x faster training than XGBoost on large datasets. Lower memory usage. Especially beneficial with &gt;100K samples.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Leaf-wise vs Level-wise Tree Growth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(LightGBM)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splits the leaf with the MAXIMUM loss reduction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more complex, asymmetric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lower loss in fewer iterations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on small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num_leaves (not max_depth)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datasets with many samples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0" cy="33832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 Growth (XGBoost/GBM)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tree level-by-level (breadth-first)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balanced, symmetric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predictable depth control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prone to overfitting on small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max_depth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 datasets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LightGBM with num_leaves=31 → up to 5-level balanced tree; limit num_leaves to control overfitting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Key Hyperparameters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1148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24688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/ num_iterations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boosting rounds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 factor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leaves per tree (key!)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default; lower for smaller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tree depth (-1 = no limit)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num_leaves instead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min_child_samples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data in a 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default; higher reduces overfit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feature_fraction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sampling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bagging_fraction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sampling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 (with bagging_freq)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lambda_l1 / lambda_l2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/ L2 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min_split_gain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gain to split a leaf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cat_smooth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feature smoothing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overfitting on rare cats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is_unbalance / scale_pos_weight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class 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imbalanced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— Categorical 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(Yandex, 2017) — Gradient boosting optimized for categorical features with minimal preprocessing.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Ordered Target Encoding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categories using the order of training samples. Prevents target leakage unlike naive target encoding. Key innovation.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50876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Symmetric (Oblivious) Trees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feature and threshold at each level across all branches. Faster prediction, less overfitting, GPU-friendly.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50876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Ordered Boosting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Permutation-based boosting to avoid prediction shift — each sample's gradient computed without using that sample for training.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260604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 Preprocessing Needed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raw categorical features directly. No need for label encoding, one-hot encoding, or target encoding manually.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429000"/>
            <a:ext cx="260604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Prediction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868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tree structure allows vectorized prediction using efficient evaluation algorithms. Best among GBMs for prediction speed.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3429000"/>
            <a:ext cx="260604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Robust to Overfitting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5332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 + symmetric trees make CatBoost naturally more resistant to overfitting, even with fewer tuned hyperparameters.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— Ordered Target Encoding (Key Concept)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Naive Target Encoding: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target encoding uses the mean target value for each category. This causes TARGET LEAKAGE — the model sees information about yᵢ when encoding xᵢ, leading to overfitting.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CatBoost's Solution — Ordered Encoding: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permutes the training dataset into a sequence σ = (σ₁, σ₂, ..., σₙ)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sample σᵢ, the encoding uses ONLY the samples that appear BEFORE it in the sequence (σ₁ to σᵢ₋₁)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encoding(σᵢ) = (Σⱼ&lt;ᵢ [catⱼ==catᵢ] × yⱼ + prior) / (count(catⱼ==catᵢ for j&lt;i) + 1)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value (mean target) added to handle categories with few 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permutations used during boosting — each tree uses a different ordering → reduces variance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sample's category is encoded using information ONLY from previous samples → no target leakage → better generalization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— Hyperparameters &amp; Comparison Table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834640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0.01–0.3 (auto if unset)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4–10 (symmetric trees)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l2_leaf_reg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regularization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cat feature 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parameter — pass column 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border_count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Bins for numeric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score randomness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bagging_temperature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randomness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0=deterministic, 1=standard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251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Comparison: XGBoost vs LightGBM vs CatBoost</a:t>
            </a:r>
            <a:endParaRPr lang="en-US" sz="130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645152"/>
          <a:ext cx="8595360" cy="73152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03120"/>
                <a:gridCol w="219456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(Training)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encoding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(limited)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(ordered)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Growth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Level-wise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Leaf-wise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robust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Regression Models</a:t>
            </a:r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Regression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work equally well for regression tasks — predicting continuous numeric values.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Regressor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of many decision trees. Excellent for non-linear relationships. OOB score for free validation.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50876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GBM Regressor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minimizing MSE/MAE. Flexible loss functions. sklearn.ensemble.GradientBoostingRegressor.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50876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53619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XGBoost/LGB/Cat Regressor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191109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gradient boosting for regression. XGBRegressor, LGBMRegressor, CatBoostRegressor classes.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2606040" cy="3474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Stacked Regressor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regressors via a meta-learner. E.g.: Stack RF + GBM + Linear Regression with Ridge meta-learner.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429000"/>
            <a:ext cx="260604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Voting Regressor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868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of multiple regressors. Weighted averaging gives more weight to better models. sklearn.ensemble.VotingRegressor.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429000"/>
            <a:ext cx="260604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3429000"/>
            <a:ext cx="260604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34564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Bagging Regressor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53328" y="3831336"/>
            <a:ext cx="2423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sklearn.ensemble.BaggingRegressor — bagging wrapper for any base regressor. Reduces variance in unstable models.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Regression — Metrics &amp;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Evaluation Metrics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560320"/>
                <a:gridCol w="23774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Σ|yᵢ − ŷᵢ| /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outliers, interpretable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penalize large errors heavily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Σ(yᵢ − ŷᵢ)² /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Penalizes large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units as target²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units as target, common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SS_res/SS_tot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 variance explained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negative (bad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Σ|yᵢ−ŷᵢ|/|yᵢ| / N ×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error — scale-free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when yᵢ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0050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for Regression — Example Architecture: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4407408"/>
            <a:ext cx="8595360" cy="2011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4074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RF Regressor + XGBoost Regressor + SVR + LinearRegression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4636008"/>
            <a:ext cx="859536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6360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(Meta): Ridge Regression on Level 0 predictions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Weighted blend of Level 1 predictions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4709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cross_val_predict to generate out-of-fold meta-features for Level 0 predictions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data leakage by never using in-fold predictions as meta-features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3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— What &amp; Why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chains multiple processing steps into a single, reproducible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7315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53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Prevents Data Leakage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(scaling, encoding, imputation) is fit ONLY on training data within each fold of cross-validation. Eliminates the #1 source of overly optimistic scores.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8595360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58568"/>
            <a:ext cx="7315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95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Reproducibility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workflow (preprocessing + model) packaged together. One call to fit() → transform/train all steps. One call to predict() → full pipeline used.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99816"/>
            <a:ext cx="8595360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99816"/>
            <a:ext cx="7315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Clean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repetitive preprocessing code. Single object encapsulates the entire ML workflow — easier to deploy and maintain.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41064"/>
            <a:ext cx="8595360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41064"/>
            <a:ext cx="7315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Grid Search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parameters can be searched with GridSearch using __ notation: param_grid={'model__n_estimators': [100, 200]}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— Structure &amp; Components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sklearn Pipeline structure: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53312"/>
            <a:ext cx="21031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35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Imputer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4356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/ KNNImputer — handles missing values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47672"/>
            <a:ext cx="21031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Feature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0299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PolynomialFeatures, FunctionTransformer — create new features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24231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42032"/>
            <a:ext cx="210312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24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Feature Selection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2624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SelectKBest, VarianceThreshold — remove irrelevant features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97680" y="3017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13639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36392"/>
            <a:ext cx="210312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Scaler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32186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/ MinMaxScaler / RobustScaler — normalize features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97680" y="3611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73075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30752"/>
            <a:ext cx="21031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13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Encoder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14600" y="38130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/ OrdinalEncoder — encode categorical features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4206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325112"/>
            <a:ext cx="859536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25112"/>
            <a:ext cx="21031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Model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14600" y="4407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/ XGBClassifier — the estimator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— ColumnTransformer &amp; FeatureUnion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— Different transformations for different feature types: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StandardScaler to numerical columns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OneHotEncoder to categorical columns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outputs horizontally — result is feature matrix for the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remainder='passthrough' keeps untransformed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337560" cy="2148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914400"/>
            <a:ext cx="33375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94183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96128" y="1316736"/>
            <a:ext cx="31546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= ColumnTransformer([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('num', StandardScaler(), num_cols),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('cat', OneHotEncoder(), cat_cols)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= Pipeline([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('pre', ct),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('model', RFC())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FeatureUnion — Concatenate features from multiple transformers: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pipelines whose outputs are concatenated — useful for combining different feature extraction methods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PCA features + SelectKBest features → concatenated → fed to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ColumnTransformer (different cols) → FeatureUnion runs transformers on same data and stacks outputs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434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place the final estimator LAST in the Pipeline. Intermediate steps must implement fit_transform(); final step only needs fit()/predict().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Strategies</a:t>
            </a:r>
            <a:endParaRPr lang="en-US" sz="3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— Why &amp; What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is a technique to evaluate a model's generalization performance using ALL available data without a fixed train/test split.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260604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with Train/Test Split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split is high variance — results depend heavily on WHICH samples ended up in test set. Not reliable for small datasets.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60020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Cross-Validation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which fold is test set. Average performance across K folds → stable estimate of true generalization performance.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60020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60020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6276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The K-Fold 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200253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K equal folds. Train on K-1 folds, test on remaining 1 fold. Repeat K times. Average scores.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or K=10 are standard choices — balance bias vs variance in the estimate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K=N (Leave-One-Out CV) is most computationally expensive but lowest bias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Pipeline with CV to prevent data leakage in preprocessing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 = mean ± std across folds — report BOTH for proper uncertainty quantification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Strategies — Types &amp; When to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into K folds, rotate test 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choice, balanced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K-Fold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class distribution in each 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classification — ALWAYS use this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Leave-One-Out (LOO)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sample is its own test set (K=N)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datasets (&lt;100 samples)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Leave-P-Out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samples form test set each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— rarely used, very slow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K-Fold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repeated R times with different splits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 — more stable estimates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data trains, future data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 — NEVER shuffle temporal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K-Fold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groups (subjects/patients) together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same group can appear in train and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Group K-Fold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stratification + group preservation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data (patient groups + disease balance)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CV for evaluation + Inner CV for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Unbiased model evaluation WITH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 — Avoiding Optimistic Bias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solves the problem of evaluating a model whose hyperparameters were tuned using the same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228600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(K_outer folds)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6184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fold: (K_outer-1) folds = training+validation, 1 fold = final test. Gives unbiased generalization estimate.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22860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414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(K_inner folds)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441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outer training set, K_inner-fold CV is used for hyperparameter search (GridSearch/RandomSearch). Best params selected here.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8595360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54680"/>
            <a:ext cx="2286000" cy="7315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64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Test Fold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2644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with BEST inner-CV params is retrained on all outer training data and evaluated on this held-out fold.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050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Without nested CV: reported CV score includes tuning bias → model appears better than it is. Nested CV gives a true unbiased estimate.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994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Outer CV = 5-10 folds. Inner CV = 3-5 folds. Total fits = K_outer × K_inner × n_params_combinations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3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— Exhaustive Hyperparameter Tuning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exhaustively searches ALL combinations of specified hyperparameter values.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81965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combination of hyperparameter values in the grid, GridSearch runs K-fold cross-validation and computes the average score. Returns the combination with highest CV score.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6052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416052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44475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Computational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81965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fits = n_CV_folds × n_param_combinations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5-fold × (3 × 4 × 2 params) = 5 × 24 = 120 model fits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 for large grids!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Example:</a:t>
            </a:r>
            <a:endParaRPr lang="en-US" sz="1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0712"/>
          <a:ext cx="8595360" cy="16002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to 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[100, 200, 300]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5, 7, None]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[0.01, 0.1]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4 × 2 = 24 combos → 120 fits (5-fold)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— Parameters &amp; Best Practices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(or pipeline) to tune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param_grid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of {param: [values]} or list of dicts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to optimize: 'accuracy', 'roc_auc', 'f1', 'neg_mse'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 strategy (int or CV object)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n_jobs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to use all CPU cores for parallel fitting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refit best model on full training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1-3: print progress during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return_train_score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include training scores in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 if fit fails: 'raise' or numeric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709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coarse grid → narrow down to fine grid (two-stage search)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logarithmic spacing for learning rate: [0.001, 0.01, 0.1, 1.0]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in a Pipeline to prevent data leakage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best_params_, best_score_, cv_results_ attributes after fitting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3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— Efficient Hyperparameter Exploration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samples n_iter random combinations from hyperparameter distributions — more efficient than Grid Search.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6052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 (Bergstra &amp; Bengio, 2012)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finds equally good or better hyperparameters than grid search using far fewer iterations, because unimportant parameters don't waste evaluations.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6052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08760"/>
            <a:ext cx="41605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3619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Distributions, not Lists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91109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Grid Search, Random Search accepts scipy.stats distributions: randint(10,200), uniform(0.01, 0.3), loguniform(1e-4, 1). Samples more densely from continuous ranges.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vs Random Search — Efficiency:</a:t>
            </a:r>
            <a:endParaRPr lang="en-US" sz="1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20440"/>
          <a:ext cx="859536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(5-fold)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24 combos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fits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known search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(20 iter)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random combos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fits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unknown search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(10 iter)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random combos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fits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exploration / budget-limited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— Parameters, Distributions &amp; Tips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566928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param_distributions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Dict: {param: distribution or list}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parameter combinations to 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metric (same as GridSearch)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for reproducibility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jobs (-1 = all cores)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 best model on full data (default True)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Choices: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279392"/>
            <a:ext cx="84124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scipy.stats.randint(low, high) — integers (n_estimators, max_depth)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scipy.stats.uniform(loc, scale) — continuous uniform [loc, loc+scale] (subsample, colsample)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scipy.stats.loguniform(a, b) — log-uniform (learning_rate — better than linear for log-scale params)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values — same as Grid Search for categorical parameters like 'gini'/'entropy'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n_iter=50–200 usually sufficient to outperform Grid Search on same budget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3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— Intelligent Hyperparameter Search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builds a probabilistic model of the objective function and uses it to select the MOST PROMISING hyperparameters to evaluate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45920"/>
            <a:ext cx="26060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73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Surrogate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cheap-to-evaluate probabilistic model (e.g. Gaussian Process) that approximates the expensive objective (CV score).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64592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645920"/>
            <a:ext cx="2606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673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Acquisition Function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204825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to sample next by balancing Exploration (uncertain regions) vs Exploitation (promising regions).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645920"/>
            <a:ext cx="2606040" cy="178308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645920"/>
            <a:ext cx="26060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67335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Sequential Updates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2048256"/>
            <a:ext cx="2423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evaluation, the surrogate model is updated with new data. Search gets smarter as it progresses.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 vs Grid/Random Search: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950208"/>
            <a:ext cx="8412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previous evaluations — avoids re-exploring bad regions (Grid/Random don't)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better results with fewer iterations — ideal when each CV evaluation is expensive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for 5–20 hyperparameters; complex search spaces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libraries: Optuna, Hyperopt, scikit-optimize (skopt), Ax, Ray Tune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— Gaussian Process Surrogate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(GP) Surrogate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models the objective as a distribution over functions — gives mean prediction AND uncertainty estimate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expected CV score at any hyperparameter 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uncertainty about the score — high where few evaluations have been made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points are evaluated, uncertainty decreases → search becomes more confident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44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Functions</a:t>
            </a:r>
            <a:endParaRPr lang="en-US" sz="15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55848"/>
          <a:ext cx="8595360" cy="17830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84048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Improvement (EI)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 + Explore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E[max(f(x) − f*, 0)] — most common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Confidence Bound (UCB)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Exploration-heavy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μ(x) + κσ(x) — κ controls exploration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Improvement (PI)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Exploitation-heavy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P(f(x) &gt; f* + ξ) — tends to over-exploit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Thompson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Sample-based exploration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function from posterior, maximize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— Optuna Framework (Modern Approach)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(2019) uses Tree-structured Parzen Estimator (TPE) instead of Gaussian Process for scalability: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TPE: models P(x|y &gt; y*) and P(x|y ≤ y*) separately, maximizes ratio → smarter than GP for high-dim spaces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Optuna can stop unpromising trials EARLY via integration with training callbacks (MedianPruner)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Parallelism: multiple trials can run in parallel across GPUs/CPUs with no code changes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study.trials_dataframe(), optuna.visualization.plot_optimization_history()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Search Strategy:</a:t>
            </a:r>
            <a:endParaRPr lang="en-US" sz="14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94760"/>
          <a:ext cx="8595360" cy="13716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search space (&lt;20 combos)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 — exhaustive is fine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search space, moderate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— simple and surprisingly effective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objective (deep learning, large data)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Optimization (Optuna/Hyperopt)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ML with time constraints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with n_iter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/ best possible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Optimization with nested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9509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4358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independent models → reduce variance (Random Forest)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379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04825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 → reduce bias (AdaBoost, GBM)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4261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85292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feature randomness → robust, interpretable ensemble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3364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65760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GBM + 2nd order gradients → speed + accuracy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519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8992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46227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+ histogram splits → fastest on large datasets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914400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0332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68112" y="9509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124358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encoding → best native categorical support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719072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719072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8379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68112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204825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preprocessing + model → prevents data leakage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523744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523744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4261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68112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68112" y="285292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/ Stratified / Nested → unbiased evaluation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328416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328416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4472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68112" y="3364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Grid/Random Search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68112" y="365760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vs sampled hyperparameter search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4133088"/>
            <a:ext cx="416052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133088"/>
            <a:ext cx="6400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2519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468112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68112" y="446227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sequential search → best results, fewer iterations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097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&amp; Model Evaluation — Complete Reference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 &amp; Model Evaluation</dc:title>
  <dc:subject>PptxGenJS Presentation</dc:subject>
  <dc:creator>PptxGenJS</dc:creator>
  <cp:lastModifiedBy>PptxGenJS</cp:lastModifiedBy>
  <cp:revision>1</cp:revision>
  <dcterms:created xsi:type="dcterms:W3CDTF">2026-04-07T10:47:13Z</dcterms:created>
  <dcterms:modified xsi:type="dcterms:W3CDTF">2026-04-07T10:47:13Z</dcterms:modified>
</cp:coreProperties>
</file>